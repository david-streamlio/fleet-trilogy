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Lobby slide. Leave up while attendees join; the countdown and Pulsar facts run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Untimed title slide. Introduce yourself, then go straight into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connected fleet solutions have two problems. First, cost: the industry's answer to edge intelligence is dedicated, expensive compute in the vehicle. Second, the cloud observability bottleneck: without intelligence at the edge, every reading goes to the cloud, and every decision waits for a round trip. The thesis of this talk is that smaller LLMs deployed at the edge can solve both. To democratize edge safety, software must leverage the pre-existing, low-cost commodity processors already on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fleet observability works today without edge intelligence. Every truck is a dumb edge: it streams raw, unfiltered telemetry, RPM, GPS, brake wear, continuously, over a high-latency cellular pipeline into one cloud core. That core has to ingest, queue, process and store all of it, and most of it is normal, repetitive readings. Three costs follow. Decision latency: a critical safety event has to make a full cloud round-trip, tens of seconds to minutes, before anyone acts. Bandwidth bleed: you pay cellular costs to ship noise. And network dependency: when a truck drives into a dead zone, you lose it entirely. Next, the same fleet with the intelligence moved onto the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fleet with edge intelligence, and the point of this talk: it doesn't take a mobile supercomputer. Each truck gets a commodity edge node, Raspberry Pi 4 class hardware with 4 to 8 GB of RAM, running a small LLM as a lightweight diagnostics layer. The node acts as a gatekeeper: it runs inference on the truck's telematics locally, with no cloud connection required, and only filtered anomalies go over cellular. Massive compute is not what buys the bandwidth savings; putting judgment at the edge does. Whether it really performs on a Pi is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from fleets to consumer vehicles. Right now, if a car company wants to give a vehicle true local intelligence, it treats the car like a moving data center: dedicated automotive silicon like NVIDIA DRIVE Thor or Tesla's HW4 computer, thousands of dollars per vehicle, liquid cooling, and a large power budget. That keeps advanced local diagnostics and safety features locked in premium tiers. HW4 specs are from teardown analysis; Tesla does not publish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dream of democratization happens when we stop trying to change the car's hardware and instead change the software's footprint. Optimize the model down far enough and the compute requirement shrinks to something already in every driver's pocket, their phone, or to a small plug-in dongle in the Pi class. That's how edge intelligence moves from a luxury option toward a universal safety standard. [NEEDS: source for the 97%+ figure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question after that promise: does any of this actually run on a Pi-class device? That answer, with real accuracy, latency and resource numbers from the Pi 4, is the subject of Talk 2, The Greenest Token. This talk stays on the problem and on how Pulsar Functions fit into the edge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solution flips the usual approach. Instead of adding hardware until a model fits, shrink the model until it fits the hardware that's already there. Small LLMs compress what a traditional model does that needs GPU or NPU acceleration into something small and dense enough to run in a pure CPU execution loop. Removing the accelerator dependency is deliberate: it's what lets the software target ubiquitous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compute architecture from left to right. Cloud cores have effectively unlimited GPU clusters. Luxury edge AV platforms bring 500-plus TOPS of dedicated NPU. Smartphones sit around 35 to 80 TOPS of NPU. At the far right is the commodity test-bed: a Raspberry Pi 4, a quad-core ARM CPU with zero AI TOPS. Traditionally, running an LLM was only feasible from the cloud to the luxury edge. The bet of this talk is that small LLM architectures extend feasibility all the way to the Pi, which stands in here for a consumer electronic device. And if a small LLM reasons successfully on an unassisted Pi CPU, it can run effortlessly on consumer smartphones. Sources: Apple A18 Pro 35 TOPS (Apple); Pi 4 2GB $55 (PiShop.us).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From the idea to the architecture: how Apache Pulsar Functions and small LLMs fit together on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point of reference for anyone who hasn't used them. Pulsar Functions are lambda-style serverless compute that runs inside the messaging layer, so there's no separate compute infrastructure to stand up. They consume a topic, evaluate local state, and route results to another topic, which covers stream processing without an external streaming engine. And they're lightweight: an isolated execution thread small enough for resource-constrained embedded nodes. That last property is what makes them a fit for the truck. [NEEDS: source for the sub-millisecond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blueprint on the vehicle. CAN bus sensor readings land on a local Pulsar ingestion topic, on a broker running on the edge device itself. Anomalous-event filtering logic runs first, so only filtered events reach the model; that keeps the LLM from building up a backlog. A Pulsar Function, running inside the local broker, hosts the small LLM on a CPU runtime and evaluates each filtered event. Its output goes out through the filtered egress pipeline to the cloud control center. The processing boundary, function plus model, stays entirely inside local CPU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From the architecture to the use case: what the connected fleet actually sends, and how the pipeline turns it into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the highest level: this talk is about observing an entire fleet of class 8 trucks, semi-trucks, not a single vehicle. A control center watches every truck at once, much like flight control or air traffic control. The point of watching is to catch a vehicle that is slowing down and use it as a signal to the rest of the fleet: reroute before they reach the same stretch of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 to one truck. Each rig carries a small onboard computer that collects readings from sensors across the tractor and sends them back to the control center over cellular. That onboard computer is where this talk's code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one of those readings looks like on the wire: a single TelemetryEvent, published to the truck-telemetry topic. Speed, GPS, heading, route segment and corridor, planned versus current ETA, cheap-math signals, and raw braking readings. Values shown are illustrative of a truck mid-slowdown. Each truck carries more than 2,500 sensor readings in total. Every schema and pipeline stage that follows exists to turn this stream into a reroute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payload, watch a sequence of readings from a single truck, truck-47, flow into the co-processor, 45 seconds of driving on I-95N. First, severity here is about delivery impact: how badly a slowdown threatens the ETA, not a crash. At zero seconds the truck is cruising; no signals fire and nothing is sent. At ten seconds average speed drops under 40, but low speed alone is noise. At twenty seconds stop-and-go kicks in and all three signals fire, but the ETA has only slipped 2.4 minutes, under the 3-minute gate, so it isn't worth LLM time. At thirty seconds the ETA slip crosses the gate: a real slowdown, and moderate braking with a stop-go index of 0.74 gives a medium baseline. At forty-five seconds ABS engages, which always forces high. That's the event the next slide shows as a triage payload. Values are illustrative; thresholds are the real ones from detection.py, coprocessor.py and severity_classifier.py.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comes out of the co-processor. The raw reading has passed the cheap-math slowdown check and the ETA-slip magnitude gate, so it's worth the LLM's time. The payload names which signals fired, restates the metrics, turns the stop-go index into a plain-language traffic pattern, and adds context a threshold can't capture: weather, cargo, dispatch status. It also carries a baseline severity, computed deterministically before the LLM runs. The LLM's only job is to raise, hold, or lower that baseline. Payload shape per coprocessor.build_triage_payload; values follow the telemetry example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comes out of the LLM for the payload on the previous slide. The model only writes two things: a risk_synthesis explaining its reasoning, and an escalation of raise, hold, or lower. Here it reads heavy rain, a liquid chemical tanker, and a driver running behind, and raises. Everything else on the card is deterministic: the final severity is the baseline moved one step, medium to high; the recommended action is a lookup on the escalation; eta_impact is the measured slip in minutes. Because the final severity is high, this card is what goes over the cellular link. Card shape per LlmTriageFunction.process; the risk_synthesis text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watch several gated payloads reach the LLM on the edge device, across the fleet. The co-processor decided what the LLM sees; the LLM decides what leaves the truck. The rule: a card goes over the cellular link to the control center only if its final severity is high. Truck-47 at 30 seconds: medium baseline, but rain, a chemical tanker and schedule pressure, so the LLM raises it to high and it's sent. Truck-12: medium, but clear, dry, general freight and on schedule, so it's lowered and stays on the truck. Truck-31: low and nothing to move it, so it holds and stays. Truck-08: a physics-high, but the dispatch status says the driver completed an evasive maneuver, so the LLM lowers it and it stays local. Truck-47 again at 45 seconds with ABS: high, raised, clamped at high, sent. Two of five triaged events cross the cellular link, and every raw reading before them never did. That is the cloud observability bottleneck relieved at the source. [NOTE: the high-only uplink rule is the proposed design; the current triage_function emits a card for every payload.] Other trucks' contexts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up to now has been a number on a slide — this is the actual Pi, running the actual function, against actual telemetry, producing actual enrichment cards. [NEEDS: the recording itself. The broker runs on the Pi for this take.] From here, the last slide zooms out past this one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Wrap up: what this showed,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this project validated, with one caveat up front: the 1-bit LLMs in the original talk abstract did not work, because of software compatibility issues on the Pi, so we substituted small quantized models that run on mainline llama.cpp. The architecture works: small LLMs run their logic loops natively on general-purpose CPUs, inside Pulsar Functions on the edge. Bandwidth drops sharply because normal, steady-state telemetry never leaves the vehicle; only high-severity cards cross the cellular link. And that makes a democratic blueprint: the same approach points to real-time vehicle diagnostics on consumer smartphones and handheld plug-and-play modules. The bandwidth reduction is inferred from the double filtering, co-processor then LLM, not measured; say so if asked for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works. But that raises the obvious question: how well did it actually perform? Three things I haven't shown you. Token latency, and what happens when a commodity CPU handles massive sensor spikes. Quantization loss, and whether extreme compression hurt diagnostic accuracy. And the ARM compile hurdles, the engineering it took to get the stack running on a Cortex-A72. And energy efficiency: what each decision costs in watts on a CPU-only node compared to a GPU. All of that is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image" Target="../media/image-4-17.png"/><Relationship Id="rId18" Type="http://schemas.openxmlformats.org/officeDocument/2006/relationships/image" Target="../media/image-4-18.svg"/><Relationship Id="rId19" Type="http://schemas.openxmlformats.org/officeDocument/2006/relationships/image" Target="../media/image-4-19.png"/><Relationship Id="rId20" Type="http://schemas.openxmlformats.org/officeDocument/2006/relationships/image" Target="../media/image-4-20.svg"/><Relationship Id="rId21" Type="http://schemas.openxmlformats.org/officeDocument/2006/relationships/image" Target="../media/image-4-21.png"/><Relationship Id="rId22" Type="http://schemas.openxmlformats.org/officeDocument/2006/relationships/image" Target="../media/image-4-22.svg"/><Relationship Id="rId23" Type="http://schemas.openxmlformats.org/officeDocument/2006/relationships/image" Target="../media/image-4-23.png"/><Relationship Id="rId24" Type="http://schemas.openxmlformats.org/officeDocument/2006/relationships/image" Target="../media/image-4-24.svg"/><Relationship Id="rId25" Type="http://schemas.openxmlformats.org/officeDocument/2006/relationships/image" Target="../media/image-4-25.png"/><Relationship Id="rId26" Type="http://schemas.openxmlformats.org/officeDocument/2006/relationships/image" Target="../media/image-4-26.svg"/><Relationship Id="rId27" Type="http://schemas.openxmlformats.org/officeDocument/2006/relationships/image" Target="../media/image-4-27.png"/><Relationship Id="rId28" Type="http://schemas.openxmlformats.org/officeDocument/2006/relationships/image" Target="../media/image-4-28.svg"/><Relationship Id="rId29" Type="http://schemas.openxmlformats.org/officeDocument/2006/relationships/image" Target="../media/image-4-29.png"/><Relationship Id="rId30" Type="http://schemas.openxmlformats.org/officeDocument/2006/relationships/image" Target="../media/image-4-30.svg"/><Relationship Id="rId31" Type="http://schemas.openxmlformats.org/officeDocument/2006/relationships/slideLayout" Target="../slideLayouts/slideLayout1.xml"/><Relationship Id="rId3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6.svg"/><Relationship Id="rId17" Type="http://schemas.openxmlformats.org/officeDocument/2006/relationships/image" Target="../media/image-5-17.png"/><Relationship Id="rId18" Type="http://schemas.openxmlformats.org/officeDocument/2006/relationships/image" Target="../media/image-5-18.svg"/><Relationship Id="rId19" Type="http://schemas.openxmlformats.org/officeDocument/2006/relationships/image" Target="../media/image-5-19.png"/><Relationship Id="rId20" Type="http://schemas.openxmlformats.org/officeDocument/2006/relationships/image" Target="../media/image-5-20.svg"/><Relationship Id="rId21" Type="http://schemas.openxmlformats.org/officeDocument/2006/relationships/image" Target="../media/image-5-21.png"/><Relationship Id="rId22" Type="http://schemas.openxmlformats.org/officeDocument/2006/relationships/image" Target="../media/image-5-22.svg"/><Relationship Id="rId23" Type="http://schemas.openxmlformats.org/officeDocument/2006/relationships/image" Target="../media/image-5-23.png"/><Relationship Id="rId24" Type="http://schemas.openxmlformats.org/officeDocument/2006/relationships/image" Target="../media/image-5-24.svg"/><Relationship Id="rId25" Type="http://schemas.openxmlformats.org/officeDocument/2006/relationships/image" Target="../media/image-5-25.png"/><Relationship Id="rId26" Type="http://schemas.openxmlformats.org/officeDocument/2006/relationships/image" Target="../media/image-5-26.svg"/><Relationship Id="rId27" Type="http://schemas.openxmlformats.org/officeDocument/2006/relationships/image" Target="../media/image-5-27.png"/><Relationship Id="rId28" Type="http://schemas.openxmlformats.org/officeDocument/2006/relationships/image" Target="../media/image-5-28.svg"/><Relationship Id="rId29" Type="http://schemas.openxmlformats.org/officeDocument/2006/relationships/image" Target="../media/image-5-29.png"/><Relationship Id="rId30" Type="http://schemas.openxmlformats.org/officeDocument/2006/relationships/image" Target="../media/image-5-30.svg"/><Relationship Id="rId31" Type="http://schemas.openxmlformats.org/officeDocument/2006/relationships/image" Target="../media/image-5-31.png"/><Relationship Id="rId32" Type="http://schemas.openxmlformats.org/officeDocument/2006/relationships/image" Target="../media/image-5-32.svg"/><Relationship Id="rId33" Type="http://schemas.openxmlformats.org/officeDocument/2006/relationships/image" Target="../media/image-5-33.png"/><Relationship Id="rId34" Type="http://schemas.openxmlformats.org/officeDocument/2006/relationships/image" Target="../media/image-5-34.svg"/><Relationship Id="rId35" Type="http://schemas.openxmlformats.org/officeDocument/2006/relationships/image" Target="../media/image-5-35.png"/><Relationship Id="rId36" Type="http://schemas.openxmlformats.org/officeDocument/2006/relationships/image" Target="../media/image-5-36.svg"/><Relationship Id="rId37" Type="http://schemas.openxmlformats.org/officeDocument/2006/relationships/image" Target="../media/image-5-37.png"/><Relationship Id="rId38" Type="http://schemas.openxmlformats.org/officeDocument/2006/relationships/image" Target="../media/image-5-38.svg"/><Relationship Id="rId39" Type="http://schemas.openxmlformats.org/officeDocument/2006/relationships/image" Target="../media/image-5-39.png"/><Relationship Id="rId40" Type="http://schemas.openxmlformats.org/officeDocument/2006/relationships/image" Target="../media/image-5-40.svg"/><Relationship Id="rId41" Type="http://schemas.openxmlformats.org/officeDocument/2006/relationships/image" Target="../media/image-5-41.png"/><Relationship Id="rId42" Type="http://schemas.openxmlformats.org/officeDocument/2006/relationships/image" Target="../media/image-5-42.svg"/><Relationship Id="rId43" Type="http://schemas.openxmlformats.org/officeDocument/2006/relationships/image" Target="../media/image-5-43.png"/><Relationship Id="rId44" Type="http://schemas.openxmlformats.org/officeDocument/2006/relationships/image" Target="../media/image-5-44.svg"/><Relationship Id="rId45" Type="http://schemas.openxmlformats.org/officeDocument/2006/relationships/image" Target="../media/image-5-45.png"/><Relationship Id="rId46" Type="http://schemas.openxmlformats.org/officeDocument/2006/relationships/image" Target="../media/image-5-46.svg"/><Relationship Id="rId47" Type="http://schemas.openxmlformats.org/officeDocument/2006/relationships/image" Target="../media/image-5-47.png"/><Relationship Id="rId48" Type="http://schemas.openxmlformats.org/officeDocument/2006/relationships/image" Target="../media/image-5-48.svg"/><Relationship Id="rId49" Type="http://schemas.openxmlformats.org/officeDocument/2006/relationships/slideLayout" Target="../slideLayouts/slideLayout1.xml"/><Relationship Id="rId5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image" Target="../media/image-9-15.png"/><Relationship Id="rId16" Type="http://schemas.openxmlformats.org/officeDocument/2006/relationships/image" Target="../media/image-9-16.svg"/><Relationship Id="rId17" Type="http://schemas.openxmlformats.org/officeDocument/2006/relationships/image" Target="../media/image-9-17.png"/><Relationship Id="rId18" Type="http://schemas.openxmlformats.org/officeDocument/2006/relationships/image" Target="../media/image-9-18.svg"/><Relationship Id="rId19" Type="http://schemas.openxmlformats.org/officeDocument/2006/relationships/image" Target="../media/image-9-19.png"/><Relationship Id="rId20" Type="http://schemas.openxmlformats.org/officeDocument/2006/relationships/image" Target="../media/image-9-20.sv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image" Target="../media/image-13-11.png"/><Relationship Id="rId12" Type="http://schemas.openxmlformats.org/officeDocument/2006/relationships/image" Target="../media/image-13-12.svg"/><Relationship Id="rId13" Type="http://schemas.openxmlformats.org/officeDocument/2006/relationships/image" Target="../media/image-13-13.png"/><Relationship Id="rId14" Type="http://schemas.openxmlformats.org/officeDocument/2006/relationships/image" Target="../media/image-13-14.svg"/><Relationship Id="rId15" Type="http://schemas.openxmlformats.org/officeDocument/2006/relationships/image" Target="../media/image-13-15.png"/><Relationship Id="rId16" Type="http://schemas.openxmlformats.org/officeDocument/2006/relationships/image" Target="../media/image-13-16.svg"/><Relationship Id="rId17" Type="http://schemas.openxmlformats.org/officeDocument/2006/relationships/image" Target="../media/image-13-17.png"/><Relationship Id="rId18" Type="http://schemas.openxmlformats.org/officeDocument/2006/relationships/image" Target="../media/image-13-18.svg"/><Relationship Id="rId19" Type="http://schemas.openxmlformats.org/officeDocument/2006/relationships/image" Target="../media/image-13-19.png"/><Relationship Id="rId20" Type="http://schemas.openxmlformats.org/officeDocument/2006/relationships/image" Target="../media/image-13-20.svg"/><Relationship Id="rId21" Type="http://schemas.openxmlformats.org/officeDocument/2006/relationships/image" Target="../media/image-13-21.png"/><Relationship Id="rId22" Type="http://schemas.openxmlformats.org/officeDocument/2006/relationships/image" Target="../media/image-13-22.svg"/><Relationship Id="rId23" Type="http://schemas.openxmlformats.org/officeDocument/2006/relationships/slideLayout" Target="../slideLayouts/slideLayout1.xml"/><Relationship Id="rId2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webp"/><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image" Target="../media/image-24-5.png"/><Relationship Id="rId6" Type="http://schemas.openxmlformats.org/officeDocument/2006/relationships/image" Target="../media/image-24-6.svg"/><Relationship Id="rId7" Type="http://schemas.openxmlformats.org/officeDocument/2006/relationships/image" Target="../media/image-24-7.png"/><Relationship Id="rId8" Type="http://schemas.openxmlformats.org/officeDocument/2006/relationships/image" Target="../media/image-24-8.svg"/><Relationship Id="rId9" Type="http://schemas.openxmlformats.org/officeDocument/2006/relationships/image" Target="../media/image-24-9.png"/><Relationship Id="rId10" Type="http://schemas.openxmlformats.org/officeDocument/2006/relationships/image" Target="../media/image-24-10.svg"/><Relationship Id="rId11" Type="http://schemas.openxmlformats.org/officeDocument/2006/relationships/image" Target="../media/image-24-11.png"/><Relationship Id="rId12" Type="http://schemas.openxmlformats.org/officeDocument/2006/relationships/image" Target="../media/image-24-12.svg"/><Relationship Id="rId13" Type="http://schemas.openxmlformats.org/officeDocument/2006/relationships/image" Target="../media/image-24-13.png"/><Relationship Id="rId14" Type="http://schemas.openxmlformats.org/officeDocument/2006/relationships/image" Target="../media/image-24-14.svg"/><Relationship Id="rId15" Type="http://schemas.openxmlformats.org/officeDocument/2006/relationships/slideLayout" Target="../slideLayouts/slideLayout1.xml"/><Relationship Id="rId1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svg"/><Relationship Id="rId5" Type="http://schemas.openxmlformats.org/officeDocument/2006/relationships/image" Target="../media/image-25-5.png"/><Relationship Id="rId6" Type="http://schemas.openxmlformats.org/officeDocument/2006/relationships/image" Target="../media/image-25-6.svg"/><Relationship Id="rId7" Type="http://schemas.openxmlformats.org/officeDocument/2006/relationships/image" Target="../media/image-25-7.png"/><Relationship Id="rId8" Type="http://schemas.openxmlformats.org/officeDocument/2006/relationships/image" Target="../media/image-25-8.sv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Shape 5"/>
          <p:cNvSpPr/>
          <p:nvPr/>
        </p:nvSpPr>
        <p:spPr>
          <a:xfrm>
            <a:off x="1143000" y="1438275"/>
            <a:ext cx="128290" cy="133350"/>
          </a:xfrm>
          <a:prstGeom prst="ellipse">
            <a:avLst/>
          </a:prstGeom>
          <a:solidFill>
            <a:srgbClr val="41EBA4"/>
          </a:solidFill>
          <a:ln/>
        </p:spPr>
      </p:sp>
      <p:sp>
        <p:nvSpPr>
          <p:cNvPr id="8" name="Text 6"/>
          <p:cNvSpPr/>
          <p:nvPr/>
        </p:nvSpPr>
        <p:spPr>
          <a:xfrm>
            <a:off x="1423690" y="1143000"/>
            <a:ext cx="5909137" cy="762000"/>
          </a:xfrm>
          <a:prstGeom prst="rect">
            <a:avLst/>
          </a:prstGeom>
          <a:noFill/>
          <a:ln/>
        </p:spPr>
        <p:txBody>
          <a:bodyPr wrap="square" lIns="0" tIns="0" rIns="0" bIns="0" rtlCol="0" anchor="t">
            <a:normAutofit/>
          </a:bodyPr>
          <a:lstStyle/>
          <a:p>
            <a:pPr algn="l" indent="0" marL="0">
              <a:buNone/>
            </a:pPr>
            <a:r>
              <a:rPr lang="en-US" sz="2100" b="1" spc="210" kern="0" dirty="0">
                <a:solidFill>
                  <a:srgbClr val="FFFFFF"/>
                </a:solidFill>
                <a:latin typeface="NotoSans" pitchFamily="34" charset="0"/>
                <a:ea typeface="NotoSans" pitchFamily="34" charset="-122"/>
                <a:cs typeface="NotoSans" pitchFamily="34" charset="-120"/>
              </a:rPr>
              <a:t>EDGE INTELLIGENCE FOR CONNECTED FLEETS</a:t>
            </a:r>
            <a:endParaRPr lang="en-US" sz="2100" dirty="0"/>
          </a:p>
        </p:txBody>
      </p:sp>
      <p:sp>
        <p:nvSpPr>
          <p:cNvPr id="9" name="Text 7"/>
          <p:cNvSpPr/>
          <p:nvPr/>
        </p:nvSpPr>
        <p:spPr>
          <a:xfrm>
            <a:off x="1143000" y="2286000"/>
            <a:ext cx="7102983" cy="4001988"/>
          </a:xfrm>
          <a:prstGeom prst="rect">
            <a:avLst/>
          </a:prstGeom>
          <a:noFill/>
          <a:ln/>
        </p:spPr>
        <p:txBody>
          <a:bodyPr wrap="square" lIns="25400" tIns="25400" rIns="25400" bIns="25400" rtlCol="0" anchor="t">
            <a:normAutofit/>
          </a:bodyPr>
          <a:lstStyle/>
          <a:p>
            <a:pPr algn="l" indent="0" marL="0">
              <a:lnSpc>
                <a:spcPct val="74984"/>
              </a:lnSpc>
              <a:buNone/>
            </a:pPr>
            <a:r>
              <a:rPr lang="en-US" sz="10200" b="1" spc="-204" kern="0" dirty="0">
                <a:solidFill>
                  <a:srgbClr val="FFFFFF"/>
                </a:solidFill>
                <a:latin typeface="NotoSans" pitchFamily="34" charset="0"/>
                <a:ea typeface="NotoSans" pitchFamily="34" charset="-122"/>
                <a:cs typeface="NotoSans" pitchFamily="34" charset="-120"/>
              </a:rPr>
              <a:t>Welcome! We'll begin shortly.</a:t>
            </a:r>
            <a:endParaRPr lang="en-US" sz="10200" dirty="0"/>
          </a:p>
        </p:txBody>
      </p:sp>
      <p:sp>
        <p:nvSpPr>
          <p:cNvPr id="10" name="Text 8"/>
          <p:cNvSpPr/>
          <p:nvPr/>
        </p:nvSpPr>
        <p:spPr>
          <a:xfrm>
            <a:off x="1143000" y="6668988"/>
            <a:ext cx="7102983" cy="1612404"/>
          </a:xfrm>
          <a:prstGeom prst="rect">
            <a:avLst/>
          </a:prstGeom>
          <a:noFill/>
          <a:ln/>
        </p:spPr>
        <p:txBody>
          <a:bodyPr wrap="square" lIns="25400" tIns="25400" rIns="25400" bIns="25400" rtlCol="0" anchor="t">
            <a:normAutofit/>
          </a:bodyPr>
          <a:lstStyle/>
          <a:p>
            <a:pPr algn="l" indent="0" marL="0">
              <a:lnSpc>
                <a:spcPct val="105962"/>
              </a:lnSpc>
              <a:buNone/>
            </a:pPr>
            <a:r>
              <a:rPr lang="en-US" sz="2850" dirty="0">
                <a:solidFill>
                  <a:srgbClr val="ECECF4"/>
                </a:solidFill>
                <a:latin typeface="NotoSans" pitchFamily="34" charset="0"/>
                <a:ea typeface="NotoSans" pitchFamily="34" charset="-122"/>
                <a:cs typeface="NotoSans" pitchFamily="34" charset="-120"/>
              </a:rPr>
              <a:t>Grab a coffee and settle in. While you wait, here are some interesting facts about Apache Pulsar</a:t>
            </a:r>
            <a:endParaRPr lang="en-US" sz="2850" dirty="0"/>
          </a:p>
        </p:txBody>
      </p:sp>
      <p:sp>
        <p:nvSpPr>
          <p:cNvPr id="11" name="Shape 9"/>
          <p:cNvSpPr/>
          <p:nvPr/>
        </p:nvSpPr>
        <p:spPr>
          <a:xfrm>
            <a:off x="1143000" y="8662392"/>
            <a:ext cx="4766221" cy="1104900"/>
          </a:xfrm>
          <a:prstGeom prst="roundRect">
            <a:avLst>
              <a:gd name="adj" fmla="val 6897"/>
            </a:avLst>
          </a:prstGeom>
          <a:solidFill>
            <a:srgbClr val="FFFFFF">
              <a:alpha val="14000"/>
            </a:srgbClr>
          </a:solidFill>
          <a:ln w="19050">
            <a:solidFill>
              <a:srgbClr val="FFFFFF">
                <a:alpha val="28000"/>
              </a:srgbClr>
            </a:solidFill>
            <a:prstDash val="solid"/>
          </a:ln>
        </p:spPr>
      </p:sp>
      <p:sp>
        <p:nvSpPr>
          <p:cNvPr id="12" name="Text 10"/>
          <p:cNvSpPr/>
          <p:nvPr/>
        </p:nvSpPr>
        <p:spPr>
          <a:xfrm>
            <a:off x="1504950" y="9019580"/>
            <a:ext cx="2845296" cy="428625"/>
          </a:xfrm>
          <a:prstGeom prst="rect">
            <a:avLst/>
          </a:prstGeom>
          <a:noFill/>
          <a:ln/>
        </p:spPr>
        <p:txBody>
          <a:bodyPr wrap="square" lIns="25400" tIns="25400" rIns="25400" bIns="25400" rtlCol="0" anchor="t">
            <a:normAutofit/>
          </a:bodyPr>
          <a:lstStyle/>
          <a:p>
            <a:pPr algn="l" indent="0" marL="0">
              <a:buNone/>
            </a:pPr>
            <a:r>
              <a:rPr lang="en-US" sz="2250" b="1" spc="270" kern="0" dirty="0">
                <a:solidFill>
                  <a:srgbClr val="FFFFFF"/>
                </a:solidFill>
                <a:latin typeface="NotoSans" pitchFamily="34" charset="0"/>
                <a:ea typeface="NotoSans" pitchFamily="34" charset="-122"/>
                <a:cs typeface="NotoSans" pitchFamily="34" charset="-120"/>
              </a:rPr>
              <a:t>STARTING NOW</a:t>
            </a:r>
            <a:endParaRPr lang="en-US" sz="2250" dirty="0"/>
          </a:p>
        </p:txBody>
      </p:sp>
      <p:sp>
        <p:nvSpPr>
          <p:cNvPr id="13" name="Text 11"/>
          <p:cNvSpPr/>
          <p:nvPr/>
        </p:nvSpPr>
        <p:spPr>
          <a:xfrm>
            <a:off x="4358283" y="8890992"/>
            <a:ext cx="1265188" cy="685800"/>
          </a:xfrm>
          <a:prstGeom prst="rect">
            <a:avLst/>
          </a:prstGeom>
          <a:noFill/>
          <a:ln/>
        </p:spPr>
        <p:txBody>
          <a:bodyPr wrap="square" lIns="25400" tIns="25400" rIns="25400" bIns="25400" rtlCol="0" anchor="t">
            <a:normAutofit/>
          </a:bodyPr>
          <a:lstStyle/>
          <a:p>
            <a:pPr algn="l" indent="0" marL="0">
              <a:buNone/>
            </a:pPr>
            <a:r>
              <a:rPr lang="en-US" sz="3900" b="1" dirty="0">
                <a:solidFill>
                  <a:srgbClr val="FFFFFF"/>
                </a:solidFill>
                <a:latin typeface="Roboto Mono" pitchFamily="34" charset="0"/>
                <a:ea typeface="Roboto Mono" pitchFamily="34" charset="-122"/>
                <a:cs typeface="Roboto Mono" pitchFamily="34" charset="-120"/>
              </a:rPr>
              <a:t>0:00</a:t>
            </a:r>
            <a:endParaRPr lang="en-US" sz="3900" dirty="0"/>
          </a:p>
        </p:txBody>
      </p:sp>
      <p:sp>
        <p:nvSpPr>
          <p:cNvPr id="14" name="Shape 12"/>
          <p:cNvSpPr/>
          <p:nvPr/>
        </p:nvSpPr>
        <p:spPr>
          <a:xfrm>
            <a:off x="8953500" y="2730996"/>
            <a:ext cx="8191500" cy="5448300"/>
          </a:xfrm>
          <a:prstGeom prst="roundRect">
            <a:avLst>
              <a:gd name="adj" fmla="val 2797"/>
            </a:avLst>
          </a:prstGeom>
          <a:solidFill>
            <a:srgbClr val="FFFFFF">
              <a:alpha val="12000"/>
            </a:srgbClr>
          </a:solidFill>
          <a:ln w="19050">
            <a:solidFill>
              <a:srgbClr val="FFFFFF">
                <a:alpha val="28000"/>
              </a:srgbClr>
            </a:solidFill>
            <a:prstDash val="solid"/>
          </a:ln>
        </p:spPr>
      </p:sp>
      <p:sp>
        <p:nvSpPr>
          <p:cNvPr id="15" name="Text 13"/>
          <p:cNvSpPr/>
          <p:nvPr/>
        </p:nvSpPr>
        <p:spPr>
          <a:xfrm>
            <a:off x="9505950" y="3245346"/>
            <a:ext cx="7795260"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NotoSans" pitchFamily="34" charset="0"/>
                <a:ea typeface="NotoSans" pitchFamily="34" charset="-122"/>
                <a:cs typeface="NotoSans" pitchFamily="34" charset="-120"/>
              </a:rPr>
              <a:t>Apache Pulsar facts</a:t>
            </a:r>
            <a:endParaRPr lang="en-US" sz="2550" dirty="0"/>
          </a:p>
        </p:txBody>
      </p:sp>
      <p:sp>
        <p:nvSpPr>
          <p:cNvPr id="16" name="Shape 14"/>
          <p:cNvSpPr/>
          <p:nvPr/>
        </p:nvSpPr>
        <p:spPr>
          <a:xfrm>
            <a:off x="9505950" y="3854946"/>
            <a:ext cx="3266033" cy="609600"/>
          </a:xfrm>
          <a:prstGeom prst="roundRect">
            <a:avLst>
              <a:gd name="adj" fmla="val 12500"/>
            </a:avLst>
          </a:prstGeom>
          <a:solidFill>
            <a:srgbClr val="632CA6"/>
          </a:solidFill>
          <a:ln/>
        </p:spPr>
      </p:sp>
      <p:sp>
        <p:nvSpPr>
          <p:cNvPr id="17" name="Text 15"/>
          <p:cNvSpPr/>
          <p:nvPr/>
        </p:nvSpPr>
        <p:spPr>
          <a:xfrm>
            <a:off x="9810750" y="3964484"/>
            <a:ext cx="2922077" cy="428625"/>
          </a:xfrm>
          <a:prstGeom prst="rect">
            <a:avLst/>
          </a:prstGeom>
          <a:noFill/>
          <a:ln/>
        </p:spPr>
        <p:txBody>
          <a:bodyPr wrap="square" lIns="25400" tIns="25400" rIns="25400" bIns="25400" rtlCol="0" anchor="t">
            <a:normAutofit/>
          </a:bodyPr>
          <a:lstStyle/>
          <a:p>
            <a:pPr algn="l" indent="0" marL="0">
              <a:buNone/>
            </a:pPr>
            <a:r>
              <a:rPr lang="en-US" sz="2250" b="1" spc="180" kern="0" dirty="0">
                <a:solidFill>
                  <a:srgbClr val="FFFFFF"/>
                </a:solidFill>
                <a:latin typeface="NotoSans" pitchFamily="34" charset="0"/>
                <a:ea typeface="NotoSans" pitchFamily="34" charset="-122"/>
                <a:cs typeface="NotoSans" pitchFamily="34" charset="-120"/>
              </a:rPr>
              <a:t>IN PRODUCTION</a:t>
            </a:r>
            <a:endParaRPr lang="en-US" sz="2250" dirty="0"/>
          </a:p>
        </p:txBody>
      </p:sp>
      <p:sp>
        <p:nvSpPr>
          <p:cNvPr id="18" name="Text 16"/>
          <p:cNvSpPr/>
          <p:nvPr/>
        </p:nvSpPr>
        <p:spPr>
          <a:xfrm>
            <a:off x="9505950" y="4845546"/>
            <a:ext cx="7299198" cy="1695450"/>
          </a:xfrm>
          <a:prstGeom prst="rect">
            <a:avLst/>
          </a:prstGeom>
          <a:noFill/>
          <a:ln/>
        </p:spPr>
        <p:txBody>
          <a:bodyPr wrap="square" lIns="25400" tIns="25400" rIns="25400" bIns="25400" rtlCol="0" anchor="t">
            <a:normAutofit/>
          </a:bodyPr>
          <a:lstStyle/>
          <a:p>
            <a:pPr algn="l" indent="0" marL="0">
              <a:lnSpc>
                <a:spcPct val="105455"/>
              </a:lnSpc>
              <a:buNone/>
            </a:pPr>
            <a:r>
              <a:rPr lang="en-US" sz="3000" dirty="0">
                <a:solidFill>
                  <a:srgbClr val="FFFFFF"/>
                </a:solidFill>
                <a:latin typeface="NotoSans" pitchFamily="34" charset="0"/>
                <a:ea typeface="NotoSans" pitchFamily="34" charset="-122"/>
                <a:cs typeface="NotoSans" pitchFamily="34" charset="-120"/>
              </a:rPr>
              <a:t>Apache Pulsar is used by three automotive manufacturers in production today.</a:t>
            </a:r>
            <a:endParaRPr lang="en-US" sz="3000" dirty="0"/>
          </a:p>
        </p:txBody>
      </p:sp>
      <p:sp>
        <p:nvSpPr>
          <p:cNvPr id="19" name="Shape 17"/>
          <p:cNvSpPr/>
          <p:nvPr/>
        </p:nvSpPr>
        <p:spPr>
          <a:xfrm>
            <a:off x="9505950" y="6883896"/>
            <a:ext cx="533400" cy="533400"/>
          </a:xfrm>
          <a:prstGeom prst="ellipse">
            <a:avLst/>
          </a:prstGeom>
          <a:ln w="19050">
            <a:solidFill>
              <a:srgbClr val="FFFFFF">
                <a:alpha val="50000"/>
              </a:srgbClr>
            </a:solidFill>
            <a:prstDash val="solid"/>
          </a:ln>
        </p:spPr>
      </p:sp>
      <p:sp>
        <p:nvSpPr>
          <p:cNvPr id="20" name="Text 18"/>
          <p:cNvSpPr/>
          <p:nvPr/>
        </p:nvSpPr>
        <p:spPr>
          <a:xfrm>
            <a:off x="9486900" y="6902946"/>
            <a:ext cx="571500" cy="533400"/>
          </a:xfrm>
          <a:prstGeom prst="rect">
            <a:avLst/>
          </a:prstGeom>
          <a:noFill/>
          <a:ln/>
        </p:spPr>
        <p:txBody>
          <a:bodyPr wrap="square" lIns="25400" tIns="25400" rIns="25400" bIns="25400" rtlCol="0" anchor="ctr">
            <a:normAutofit/>
          </a:bodyPr>
          <a:lstStyle/>
          <a:p>
            <a:pPr algn="ctr" indent="0" marL="0">
              <a:buNone/>
            </a:pPr>
            <a:r>
              <a:rPr lang="en-US" sz="2100" dirty="0">
                <a:solidFill>
                  <a:srgbClr val="FFFFFF"/>
                </a:solidFill>
                <a:latin typeface="Arial" pitchFamily="34" charset="0"/>
                <a:ea typeface="Arial" pitchFamily="34" charset="-122"/>
                <a:cs typeface="Arial" pitchFamily="34" charset="-120"/>
              </a:rPr>
              <a:t>←</a:t>
            </a:r>
            <a:endParaRPr lang="en-US" sz="2100" dirty="0"/>
          </a:p>
        </p:txBody>
      </p:sp>
      <p:sp>
        <p:nvSpPr>
          <p:cNvPr id="21" name="Shape 19"/>
          <p:cNvSpPr/>
          <p:nvPr/>
        </p:nvSpPr>
        <p:spPr>
          <a:xfrm>
            <a:off x="10229850" y="6883896"/>
            <a:ext cx="533400" cy="533400"/>
          </a:xfrm>
          <a:prstGeom prst="ellipse">
            <a:avLst/>
          </a:prstGeom>
          <a:ln w="19050">
            <a:solidFill>
              <a:srgbClr val="FFFFFF">
                <a:alpha val="50000"/>
              </a:srgbClr>
            </a:solidFill>
            <a:prstDash val="solid"/>
          </a:ln>
        </p:spPr>
      </p:sp>
      <p:sp>
        <p:nvSpPr>
          <p:cNvPr id="22" name="Text 20"/>
          <p:cNvSpPr/>
          <p:nvPr/>
        </p:nvSpPr>
        <p:spPr>
          <a:xfrm>
            <a:off x="10210800" y="6902946"/>
            <a:ext cx="571500" cy="533400"/>
          </a:xfrm>
          <a:prstGeom prst="rect">
            <a:avLst/>
          </a:prstGeom>
          <a:noFill/>
          <a:ln/>
        </p:spPr>
        <p:txBody>
          <a:bodyPr wrap="square" lIns="25400" tIns="25400" rIns="25400" bIns="25400" rtlCol="0" anchor="ctr">
            <a:normAutofit/>
          </a:bodyPr>
          <a:lstStyle/>
          <a:p>
            <a:pPr algn="ctr" indent="0" marL="0">
              <a:buNone/>
            </a:pPr>
            <a:r>
              <a:rPr lang="en-US" sz="2100" dirty="0">
                <a:solidFill>
                  <a:srgbClr val="FFFFFF"/>
                </a:solidFill>
                <a:latin typeface="Arial" pitchFamily="34" charset="0"/>
                <a:ea typeface="Arial" pitchFamily="34" charset="-122"/>
                <a:cs typeface="Arial" pitchFamily="34" charset="-120"/>
              </a:rPr>
              <a:t>→</a:t>
            </a:r>
            <a:endParaRPr lang="en-US" sz="2100" dirty="0"/>
          </a:p>
        </p:txBody>
      </p:sp>
      <p:sp>
        <p:nvSpPr>
          <p:cNvPr id="23" name="Shape 21"/>
          <p:cNvSpPr/>
          <p:nvPr/>
        </p:nvSpPr>
        <p:spPr>
          <a:xfrm>
            <a:off x="11068050" y="7102971"/>
            <a:ext cx="95250" cy="95250"/>
          </a:xfrm>
          <a:prstGeom prst="ellipse">
            <a:avLst/>
          </a:prstGeom>
          <a:solidFill>
            <a:srgbClr val="FFFFFF">
              <a:alpha val="40000"/>
            </a:srgbClr>
          </a:solidFill>
          <a:ln/>
        </p:spPr>
      </p:sp>
      <p:sp>
        <p:nvSpPr>
          <p:cNvPr id="24" name="Shape 22"/>
          <p:cNvSpPr/>
          <p:nvPr/>
        </p:nvSpPr>
        <p:spPr>
          <a:xfrm>
            <a:off x="11277600" y="7102971"/>
            <a:ext cx="95250" cy="95250"/>
          </a:xfrm>
          <a:prstGeom prst="ellipse">
            <a:avLst/>
          </a:prstGeom>
          <a:solidFill>
            <a:srgbClr val="FFFFFF">
              <a:alpha val="40000"/>
            </a:srgbClr>
          </a:solidFill>
          <a:ln/>
        </p:spPr>
      </p:sp>
      <p:sp>
        <p:nvSpPr>
          <p:cNvPr id="25" name="Shape 23"/>
          <p:cNvSpPr/>
          <p:nvPr/>
        </p:nvSpPr>
        <p:spPr>
          <a:xfrm>
            <a:off x="11487150" y="7102971"/>
            <a:ext cx="95250" cy="95250"/>
          </a:xfrm>
          <a:prstGeom prst="ellipse">
            <a:avLst/>
          </a:prstGeom>
          <a:solidFill>
            <a:srgbClr val="FFFFFF">
              <a:alpha val="40000"/>
            </a:srgbClr>
          </a:solidFill>
          <a:ln/>
        </p:spPr>
      </p:sp>
      <p:sp>
        <p:nvSpPr>
          <p:cNvPr id="26" name="Shape 24"/>
          <p:cNvSpPr/>
          <p:nvPr/>
        </p:nvSpPr>
        <p:spPr>
          <a:xfrm>
            <a:off x="11696700" y="7083921"/>
            <a:ext cx="133350" cy="133350"/>
          </a:xfrm>
          <a:prstGeom prst="ellipse">
            <a:avLst/>
          </a:prstGeom>
          <a:solidFill>
            <a:srgbClr val="FFFFFF"/>
          </a:solidFill>
          <a:ln/>
        </p:spPr>
      </p:sp>
      <p:sp>
        <p:nvSpPr>
          <p:cNvPr id="27" name="Text 25"/>
          <p:cNvSpPr/>
          <p:nvPr/>
        </p:nvSpPr>
        <p:spPr>
          <a:xfrm>
            <a:off x="15312182" y="6945809"/>
            <a:ext cx="1408405" cy="447675"/>
          </a:xfrm>
          <a:prstGeom prst="rect">
            <a:avLst/>
          </a:prstGeom>
          <a:noFill/>
          <a:ln/>
        </p:spPr>
        <p:txBody>
          <a:bodyPr wrap="square" lIns="25400" tIns="25400" rIns="25400" bIns="25400" rtlCol="0" anchor="t">
            <a:normAutofit/>
          </a:bodyPr>
          <a:lstStyle/>
          <a:p>
            <a:pPr algn="l" indent="0" marL="0">
              <a:buNone/>
            </a:pPr>
            <a:r>
              <a:rPr lang="en-US" sz="2400" dirty="0">
                <a:solidFill>
                  <a:srgbClr val="ECECF4"/>
                </a:solidFill>
                <a:latin typeface="Roboto Mono" pitchFamily="34" charset="0"/>
                <a:ea typeface="Roboto Mono" pitchFamily="34" charset="-122"/>
                <a:cs typeface="Roboto Mono" pitchFamily="34" charset="-120"/>
              </a:rPr>
              <a:t>04 / 04</a:t>
            </a:r>
            <a:endParaRPr lang="en-US" sz="2400" dirty="0"/>
          </a:p>
        </p:txBody>
      </p:sp>
      <p:sp>
        <p:nvSpPr>
          <p:cNvPr id="28" name="Shape 26"/>
          <p:cNvSpPr/>
          <p:nvPr/>
        </p:nvSpPr>
        <p:spPr>
          <a:xfrm>
            <a:off x="9505950" y="7607796"/>
            <a:ext cx="7086600" cy="57150"/>
          </a:xfrm>
          <a:prstGeom prst="roundRect">
            <a:avLst>
              <a:gd name="adj" fmla="val 50000"/>
            </a:avLst>
          </a:prstGeom>
          <a:solidFill>
            <a:srgbClr val="FFFFFF">
              <a:alpha val="20000"/>
            </a:srgbClr>
          </a:solidFill>
          <a:ln/>
        </p:spPr>
      </p:sp>
      <p:sp>
        <p:nvSpPr>
          <p:cNvPr id="29" name="Shape 27"/>
          <p:cNvSpPr/>
          <p:nvPr/>
        </p:nvSpPr>
        <p:spPr>
          <a:xfrm>
            <a:off x="9505950" y="7607796"/>
            <a:ext cx="4547146" cy="57150"/>
          </a:xfrm>
          <a:prstGeom prst="rect">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3171379"/>
            <a:ext cx="14716125" cy="2753618"/>
          </a:xfrm>
          <a:prstGeom prst="rect">
            <a:avLst/>
          </a:prstGeom>
          <a:noFill/>
          <a:ln/>
        </p:spPr>
        <p:txBody>
          <a:bodyPr wrap="square" lIns="25400" tIns="25400" rIns="25400" bIns="25400" rtlCol="0" anchor="t">
            <a:normAutofit/>
          </a:bodyPr>
          <a:lstStyle/>
          <a:p>
            <a:pPr algn="l" indent="0" marL="0">
              <a:lnSpc>
                <a:spcPct val="79200"/>
              </a:lnSpc>
              <a:buNone/>
            </a:pPr>
            <a:r>
              <a:rPr lang="en-US" sz="6600" b="1" spc="-99" kern="0" dirty="0">
                <a:solidFill>
                  <a:srgbClr val="FFFFFF"/>
                </a:solidFill>
                <a:latin typeface="NotoSans" pitchFamily="34" charset="0"/>
                <a:ea typeface="NotoSans" pitchFamily="34" charset="-122"/>
                <a:cs typeface="NotoSans" pitchFamily="34" charset="-120"/>
              </a:rPr>
              <a:t>Edge Intelligence for Connected Fleets: 1-Bit LLMs Inside Apache Pulsar Functions</a:t>
            </a:r>
            <a:endParaRPr lang="en-US" sz="6600" dirty="0"/>
          </a:p>
        </p:txBody>
      </p:sp>
      <p:sp>
        <p:nvSpPr>
          <p:cNvPr id="8" name="Shape 6"/>
          <p:cNvSpPr/>
          <p:nvPr/>
        </p:nvSpPr>
        <p:spPr>
          <a:xfrm>
            <a:off x="1143000" y="7915275"/>
            <a:ext cx="16002000" cy="19050"/>
          </a:xfrm>
          <a:prstGeom prst="rect">
            <a:avLst/>
          </a:prstGeom>
          <a:solidFill>
            <a:srgbClr val="9364CD"/>
          </a:solidFill>
          <a:ln/>
        </p:spPr>
      </p:sp>
      <p:sp>
        <p:nvSpPr>
          <p:cNvPr id="9" name="Text 7"/>
          <p:cNvSpPr/>
          <p:nvPr/>
        </p:nvSpPr>
        <p:spPr>
          <a:xfrm>
            <a:off x="1143000" y="8239125"/>
            <a:ext cx="17602200" cy="504825"/>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NotoSans" pitchFamily="34" charset="0"/>
                <a:ea typeface="NotoSans" pitchFamily="34" charset="-122"/>
                <a:cs typeface="NotoSans" pitchFamily="34" charset="-120"/>
              </a:rPr>
              <a:t>David Kjerrumgaard</a:t>
            </a:r>
            <a:endParaRPr lang="en-US" sz="2700" dirty="0"/>
          </a:p>
        </p:txBody>
      </p:sp>
      <p:sp>
        <p:nvSpPr>
          <p:cNvPr id="10" name="Text 8"/>
          <p:cNvSpPr/>
          <p:nvPr/>
        </p:nvSpPr>
        <p:spPr>
          <a:xfrm>
            <a:off x="1143000" y="8782050"/>
            <a:ext cx="17602200" cy="400050"/>
          </a:xfrm>
          <a:prstGeom prst="rect">
            <a:avLst/>
          </a:prstGeom>
          <a:noFill/>
          <a:ln/>
        </p:spPr>
        <p:txBody>
          <a:bodyPr wrap="square" lIns="25400" tIns="25400" rIns="25400" bIns="25400" rtlCol="0" anchor="t">
            <a:normAutofit/>
          </a:bodyPr>
          <a:lstStyle/>
          <a:p>
            <a:pPr algn="l" indent="0" marL="0">
              <a:buNone/>
            </a:pPr>
            <a:r>
              <a:rPr lang="en-US" sz="2100" dirty="0">
                <a:solidFill>
                  <a:srgbClr val="E6D6F9"/>
                </a:solidFill>
                <a:latin typeface="NotoSans" pitchFamily="34" charset="0"/>
                <a:ea typeface="NotoSans" pitchFamily="34" charset="-122"/>
                <a:cs typeface="NotoSans" pitchFamily="34" charset="-120"/>
              </a:rPr>
              <a:t>Apache Pulsar Committer</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061"/>
          </a:xfrm>
          <a:prstGeom prst="rect">
            <a:avLst/>
          </a:prstGeom>
          <a:noFill/>
          <a:ln/>
        </p:spPr>
        <p:txBody>
          <a:bodyPr wrap="square" lIns="25400" tIns="25400" rIns="25400" bIns="25400" rtlCol="0" anchor="t">
            <a:normAutofit/>
          </a:bodyPr>
          <a:lstStyle/>
          <a:p>
            <a:pPr algn="l" indent="0" marL="0">
              <a:lnSpc>
                <a:spcPct val="81951"/>
              </a:lnSpc>
              <a:buNone/>
            </a:pPr>
            <a:r>
              <a:rPr lang="en-US" sz="4500" b="1" spc="-45" kern="0" dirty="0">
                <a:solidFill>
                  <a:srgbClr val="1C2B34">
                    <a:alpha val="98000"/>
                  </a:srgbClr>
                </a:solidFill>
                <a:latin typeface="NotoSans" pitchFamily="34" charset="0"/>
                <a:ea typeface="NotoSans" pitchFamily="34" charset="-122"/>
                <a:cs typeface="NotoSans" pitchFamily="34" charset="-120"/>
              </a:rPr>
              <a:t>Two Problems with Today's Connected Solutions</a:t>
            </a:r>
            <a:endParaRPr lang="en-US" sz="4500" dirty="0"/>
          </a:p>
        </p:txBody>
      </p:sp>
      <p:sp>
        <p:nvSpPr>
          <p:cNvPr id="3" name="Shape 1"/>
          <p:cNvSpPr/>
          <p:nvPr/>
        </p:nvSpPr>
        <p:spPr>
          <a:xfrm>
            <a:off x="1143000" y="2180332"/>
            <a:ext cx="7810500" cy="3842147"/>
          </a:xfrm>
          <a:prstGeom prst="roundRect">
            <a:avLst>
              <a:gd name="adj" fmla="val 1983"/>
            </a:avLst>
          </a:prstGeom>
          <a:ln w="28575">
            <a:solidFill>
              <a:srgbClr val="EB364B"/>
            </a:solidFill>
            <a:prstDash val="solid"/>
          </a:ln>
        </p:spPr>
      </p:sp>
      <p:sp>
        <p:nvSpPr>
          <p:cNvPr id="4" name="Shape 2"/>
          <p:cNvSpPr/>
          <p:nvPr/>
        </p:nvSpPr>
        <p:spPr>
          <a:xfrm>
            <a:off x="1590675" y="2589907"/>
            <a:ext cx="685800" cy="685800"/>
          </a:xfrm>
          <a:prstGeom prst="roundRect">
            <a:avLst>
              <a:gd name="adj" fmla="val 11111"/>
            </a:avLst>
          </a:prstGeom>
          <a:solidFill>
            <a:srgbClr val="FDEBED"/>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43075" y="2742307"/>
            <a:ext cx="381000" cy="381000"/>
          </a:xfrm>
          <a:prstGeom prst="rect">
            <a:avLst/>
          </a:prstGeom>
        </p:spPr>
      </p:pic>
      <p:sp>
        <p:nvSpPr>
          <p:cNvPr id="6" name="Text 3"/>
          <p:cNvSpPr/>
          <p:nvPr/>
        </p:nvSpPr>
        <p:spPr>
          <a:xfrm>
            <a:off x="2466975" y="2680395"/>
            <a:ext cx="533549" cy="542925"/>
          </a:xfrm>
          <a:prstGeom prst="rect">
            <a:avLst/>
          </a:prstGeom>
          <a:noFill/>
          <a:ln/>
        </p:spPr>
        <p:txBody>
          <a:bodyPr wrap="square" lIns="25400" tIns="25400" rIns="25400" bIns="25400" rtlCol="0" anchor="t">
            <a:normAutofit/>
          </a:bodyPr>
          <a:lstStyle/>
          <a:p>
            <a:pPr algn="l" indent="0" marL="0">
              <a:buNone/>
            </a:pPr>
            <a:r>
              <a:rPr lang="en-US" sz="3000" b="1" dirty="0">
                <a:solidFill>
                  <a:srgbClr val="BC2B3C"/>
                </a:solidFill>
                <a:latin typeface="Roboto Mono" pitchFamily="34" charset="0"/>
                <a:ea typeface="Roboto Mono" pitchFamily="34" charset="-122"/>
                <a:cs typeface="Roboto Mono" pitchFamily="34" charset="-120"/>
              </a:rPr>
              <a:t>01</a:t>
            </a:r>
            <a:endParaRPr lang="en-US" sz="3000" dirty="0"/>
          </a:p>
        </p:txBody>
      </p:sp>
      <p:sp>
        <p:nvSpPr>
          <p:cNvPr id="7" name="Text 4"/>
          <p:cNvSpPr/>
          <p:nvPr/>
        </p:nvSpPr>
        <p:spPr>
          <a:xfrm>
            <a:off x="1590675" y="3485257"/>
            <a:ext cx="7606665" cy="582811"/>
          </a:xfrm>
          <a:prstGeom prst="rect">
            <a:avLst/>
          </a:prstGeom>
          <a:noFill/>
          <a:ln/>
        </p:spPr>
        <p:txBody>
          <a:bodyPr wrap="square" lIns="25400" tIns="25400" rIns="25400" bIns="25400" rtlCol="0" anchor="t">
            <a:normAutofit/>
          </a:bodyPr>
          <a:lstStyle/>
          <a:p>
            <a:pPr algn="l" indent="0" marL="0">
              <a:lnSpc>
                <a:spcPct val="80563"/>
              </a:lnSpc>
              <a:buNone/>
            </a:pPr>
            <a:r>
              <a:rPr lang="en-US" sz="3900" b="1" dirty="0">
                <a:solidFill>
                  <a:srgbClr val="1C2B34">
                    <a:alpha val="98000"/>
                  </a:srgbClr>
                </a:solidFill>
                <a:latin typeface="NotoSans" pitchFamily="34" charset="0"/>
                <a:ea typeface="NotoSans" pitchFamily="34" charset="-122"/>
                <a:cs typeface="NotoSans" pitchFamily="34" charset="-120"/>
              </a:rPr>
              <a:t>The Cost Barrier</a:t>
            </a:r>
            <a:endParaRPr lang="en-US" sz="3900" dirty="0"/>
          </a:p>
        </p:txBody>
      </p:sp>
      <p:sp>
        <p:nvSpPr>
          <p:cNvPr id="8" name="Text 5"/>
          <p:cNvSpPr/>
          <p:nvPr/>
        </p:nvSpPr>
        <p:spPr>
          <a:xfrm>
            <a:off x="1590675" y="4239518"/>
            <a:ext cx="7122605" cy="866775"/>
          </a:xfrm>
          <a:prstGeom prst="rect">
            <a:avLst/>
          </a:prstGeom>
          <a:noFill/>
          <a:ln/>
        </p:spPr>
        <p:txBody>
          <a:bodyPr wrap="square" lIns="25400" tIns="25400" rIns="25400" bIns="25400" rtlCol="0" anchor="t">
            <a:normAutofit/>
          </a:bodyPr>
          <a:lstStyle/>
          <a:p>
            <a:pPr algn="l" indent="0" marL="0">
              <a:lnSpc>
                <a:spcPct val="106098"/>
              </a:lnSpc>
              <a:buNone/>
            </a:pPr>
            <a:r>
              <a:rPr lang="en-US" sz="2250" dirty="0">
                <a:solidFill>
                  <a:srgbClr val="1C2B34">
                    <a:alpha val="68000"/>
                  </a:srgbClr>
                </a:solidFill>
                <a:latin typeface="NotoSans" pitchFamily="34" charset="0"/>
                <a:ea typeface="NotoSans" pitchFamily="34" charset="-122"/>
                <a:cs typeface="NotoSans" pitchFamily="34" charset="-120"/>
              </a:rPr>
              <a:t>Edge intelligence today means dedicated, expensive in-vehicle compute.</a:t>
            </a:r>
            <a:endParaRPr lang="en-US" sz="2250" dirty="0"/>
          </a:p>
        </p:txBody>
      </p:sp>
      <p:sp>
        <p:nvSpPr>
          <p:cNvPr id="9" name="Shape 6"/>
          <p:cNvSpPr/>
          <p:nvPr/>
        </p:nvSpPr>
        <p:spPr>
          <a:xfrm>
            <a:off x="9334500" y="2180332"/>
            <a:ext cx="7810500" cy="3842147"/>
          </a:xfrm>
          <a:prstGeom prst="roundRect">
            <a:avLst>
              <a:gd name="adj" fmla="val 1983"/>
            </a:avLst>
          </a:prstGeom>
          <a:ln w="28575">
            <a:solidFill>
              <a:srgbClr val="C15800"/>
            </a:solidFill>
            <a:prstDash val="solid"/>
          </a:ln>
        </p:spPr>
      </p:sp>
      <p:sp>
        <p:nvSpPr>
          <p:cNvPr id="10" name="Shape 7"/>
          <p:cNvSpPr/>
          <p:nvPr/>
        </p:nvSpPr>
        <p:spPr>
          <a:xfrm>
            <a:off x="9782175" y="2589907"/>
            <a:ext cx="685800" cy="685800"/>
          </a:xfrm>
          <a:prstGeom prst="roundRect">
            <a:avLst>
              <a:gd name="adj" fmla="val 11111"/>
            </a:avLst>
          </a:prstGeom>
          <a:solidFill>
            <a:srgbClr val="FFF6E3"/>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34575" y="2742307"/>
            <a:ext cx="381000" cy="381000"/>
          </a:xfrm>
          <a:prstGeom prst="rect">
            <a:avLst/>
          </a:prstGeom>
        </p:spPr>
      </p:pic>
      <p:sp>
        <p:nvSpPr>
          <p:cNvPr id="12" name="Text 8"/>
          <p:cNvSpPr/>
          <p:nvPr/>
        </p:nvSpPr>
        <p:spPr>
          <a:xfrm>
            <a:off x="10658475" y="2680395"/>
            <a:ext cx="533549" cy="542925"/>
          </a:xfrm>
          <a:prstGeom prst="rect">
            <a:avLst/>
          </a:prstGeom>
          <a:noFill/>
          <a:ln/>
        </p:spPr>
        <p:txBody>
          <a:bodyPr wrap="square" lIns="25400" tIns="25400" rIns="25400" bIns="25400" rtlCol="0" anchor="t">
            <a:normAutofit/>
          </a:bodyPr>
          <a:lstStyle/>
          <a:p>
            <a:pPr algn="l" indent="0" marL="0">
              <a:buNone/>
            </a:pPr>
            <a:r>
              <a:rPr lang="en-US" sz="3000" b="1" dirty="0">
                <a:solidFill>
                  <a:srgbClr val="C15800"/>
                </a:solidFill>
                <a:latin typeface="Roboto Mono" pitchFamily="34" charset="0"/>
                <a:ea typeface="Roboto Mono" pitchFamily="34" charset="-122"/>
                <a:cs typeface="Roboto Mono" pitchFamily="34" charset="-120"/>
              </a:rPr>
              <a:t>02</a:t>
            </a:r>
            <a:endParaRPr lang="en-US" sz="3000" dirty="0"/>
          </a:p>
        </p:txBody>
      </p:sp>
      <p:sp>
        <p:nvSpPr>
          <p:cNvPr id="13" name="Text 9"/>
          <p:cNvSpPr/>
          <p:nvPr/>
        </p:nvSpPr>
        <p:spPr>
          <a:xfrm>
            <a:off x="9782175" y="3485257"/>
            <a:ext cx="7122605" cy="1127522"/>
          </a:xfrm>
          <a:prstGeom prst="rect">
            <a:avLst/>
          </a:prstGeom>
          <a:noFill/>
          <a:ln/>
        </p:spPr>
        <p:txBody>
          <a:bodyPr wrap="square" lIns="25400" tIns="25400" rIns="25400" bIns="25400" rtlCol="0" anchor="t">
            <a:normAutofit/>
          </a:bodyPr>
          <a:lstStyle/>
          <a:p>
            <a:pPr algn="l" indent="0" marL="0">
              <a:lnSpc>
                <a:spcPct val="80563"/>
              </a:lnSpc>
              <a:buNone/>
            </a:pPr>
            <a:r>
              <a:rPr lang="en-US" sz="3900" b="1" dirty="0">
                <a:solidFill>
                  <a:srgbClr val="1C2B34">
                    <a:alpha val="98000"/>
                  </a:srgbClr>
                </a:solidFill>
                <a:latin typeface="NotoSans" pitchFamily="34" charset="0"/>
                <a:ea typeface="NotoSans" pitchFamily="34" charset="-122"/>
                <a:cs typeface="NotoSans" pitchFamily="34" charset="-120"/>
              </a:rPr>
              <a:t>Cloud Observability Bottlenecks</a:t>
            </a:r>
            <a:endParaRPr lang="en-US" sz="3900" dirty="0"/>
          </a:p>
        </p:txBody>
      </p:sp>
      <p:sp>
        <p:nvSpPr>
          <p:cNvPr id="14" name="Text 10"/>
          <p:cNvSpPr/>
          <p:nvPr/>
        </p:nvSpPr>
        <p:spPr>
          <a:xfrm>
            <a:off x="9782175" y="4784229"/>
            <a:ext cx="7122605" cy="866775"/>
          </a:xfrm>
          <a:prstGeom prst="rect">
            <a:avLst/>
          </a:prstGeom>
          <a:noFill/>
          <a:ln/>
        </p:spPr>
        <p:txBody>
          <a:bodyPr wrap="square" lIns="25400" tIns="25400" rIns="25400" bIns="25400" rtlCol="0" anchor="t">
            <a:normAutofit/>
          </a:bodyPr>
          <a:lstStyle/>
          <a:p>
            <a:pPr algn="l" indent="0" marL="0">
              <a:lnSpc>
                <a:spcPct val="106098"/>
              </a:lnSpc>
              <a:buNone/>
            </a:pPr>
            <a:r>
              <a:rPr lang="en-US" sz="2250" dirty="0">
                <a:solidFill>
                  <a:srgbClr val="1C2B34">
                    <a:alpha val="68000"/>
                  </a:srgbClr>
                </a:solidFill>
                <a:latin typeface="NotoSans" pitchFamily="34" charset="0"/>
                <a:ea typeface="NotoSans" pitchFamily="34" charset="-122"/>
                <a:cs typeface="NotoSans" pitchFamily="34" charset="-120"/>
              </a:rPr>
              <a:t>Every reading goes to the cloud, and every decision waits for the round trip.</a:t>
            </a:r>
            <a:endParaRPr lang="en-US" sz="2250" dirty="0"/>
          </a:p>
        </p:txBody>
      </p:sp>
      <p:sp>
        <p:nvSpPr>
          <p:cNvPr id="15" name="Shape 11"/>
          <p:cNvSpPr/>
          <p:nvPr/>
        </p:nvSpPr>
        <p:spPr>
          <a:xfrm>
            <a:off x="1143000" y="6403479"/>
            <a:ext cx="16002000" cy="2238375"/>
          </a:xfrm>
          <a:prstGeom prst="roundRect">
            <a:avLst>
              <a:gd name="adj" fmla="val 3404"/>
            </a:avLst>
          </a:prstGeom>
          <a:solidFill>
            <a:srgbClr val="242931"/>
          </a:solidFill>
          <a:ln/>
        </p:spPr>
      </p:sp>
      <p:sp>
        <p:nvSpPr>
          <p:cNvPr id="16" name="Shape 12"/>
          <p:cNvSpPr/>
          <p:nvPr/>
        </p:nvSpPr>
        <p:spPr>
          <a:xfrm>
            <a:off x="1600200" y="6784479"/>
            <a:ext cx="1340644" cy="495300"/>
          </a:xfrm>
          <a:prstGeom prst="roundRect">
            <a:avLst>
              <a:gd name="adj" fmla="val 7692"/>
            </a:avLst>
          </a:prstGeom>
          <a:solidFill>
            <a:srgbClr val="632CA6"/>
          </a:solidFill>
          <a:ln/>
        </p:spPr>
      </p:sp>
      <p:sp>
        <p:nvSpPr>
          <p:cNvPr id="17" name="Text 13"/>
          <p:cNvSpPr/>
          <p:nvPr/>
        </p:nvSpPr>
        <p:spPr>
          <a:xfrm>
            <a:off x="1790700" y="6784479"/>
            <a:ext cx="1035844" cy="533400"/>
          </a:xfrm>
          <a:prstGeom prst="rect">
            <a:avLst/>
          </a:prstGeom>
          <a:noFill/>
          <a:ln/>
        </p:spPr>
        <p:txBody>
          <a:bodyPr wrap="square" lIns="25400" tIns="25400" rIns="25400" bIns="25400" rtlCol="0" anchor="ctr">
            <a:normAutofit/>
          </a:bodyPr>
          <a:lstStyle/>
          <a:p>
            <a:pPr algn="l" indent="0" marL="0">
              <a:buNone/>
            </a:pPr>
            <a:r>
              <a:rPr lang="en-US" sz="1950" b="1" spc="156" kern="0" dirty="0">
                <a:solidFill>
                  <a:srgbClr val="FFFFFF"/>
                </a:solidFill>
                <a:latin typeface="NotoSans" pitchFamily="34" charset="0"/>
                <a:ea typeface="NotoSans" pitchFamily="34" charset="-122"/>
                <a:cs typeface="NotoSans" pitchFamily="34" charset="-120"/>
              </a:rPr>
              <a:t>THESIS</a:t>
            </a:r>
            <a:endParaRPr lang="en-US" sz="1950" dirty="0"/>
          </a:p>
        </p:txBody>
      </p:sp>
      <p:sp>
        <p:nvSpPr>
          <p:cNvPr id="18" name="Text 14"/>
          <p:cNvSpPr/>
          <p:nvPr/>
        </p:nvSpPr>
        <p:spPr>
          <a:xfrm>
            <a:off x="3321844" y="6784479"/>
            <a:ext cx="14702552" cy="533400"/>
          </a:xfrm>
          <a:prstGeom prst="rect">
            <a:avLst/>
          </a:prstGeom>
          <a:noFill/>
          <a:ln/>
        </p:spPr>
        <p:txBody>
          <a:bodyPr wrap="square" lIns="25400" tIns="25400" rIns="25400" bIns="25400" rtlCol="0" anchor="t">
            <a:normAutofit/>
          </a:bodyPr>
          <a:lstStyle/>
          <a:p>
            <a:pPr algn="l" indent="0" marL="0">
              <a:lnSpc>
                <a:spcPct val="94545"/>
              </a:lnSpc>
              <a:buNone/>
            </a:pPr>
            <a:r>
              <a:rPr lang="en-US" sz="3000" b="1" dirty="0">
                <a:solidFill>
                  <a:srgbClr val="FFFFFF"/>
                </a:solidFill>
                <a:latin typeface="NotoSans" pitchFamily="34" charset="0"/>
                <a:ea typeface="NotoSans" pitchFamily="34" charset="-122"/>
                <a:cs typeface="NotoSans" pitchFamily="34" charset="-120"/>
              </a:rPr>
              <a:t>Smaller LLMs deployed on the edge can solve both problems.</a:t>
            </a:r>
            <a:endParaRPr lang="en-US" sz="3000" dirty="0"/>
          </a:p>
        </p:txBody>
      </p:sp>
      <p:sp>
        <p:nvSpPr>
          <p:cNvPr id="19" name="Text 15"/>
          <p:cNvSpPr/>
          <p:nvPr/>
        </p:nvSpPr>
        <p:spPr>
          <a:xfrm>
            <a:off x="3321844" y="7432179"/>
            <a:ext cx="13766935" cy="866775"/>
          </a:xfrm>
          <a:prstGeom prst="rect">
            <a:avLst/>
          </a:prstGeom>
          <a:noFill/>
          <a:ln/>
        </p:spPr>
        <p:txBody>
          <a:bodyPr wrap="square" lIns="25400" tIns="25400" rIns="25400" bIns="25400" rtlCol="0" anchor="t">
            <a:normAutofit/>
          </a:bodyPr>
          <a:lstStyle/>
          <a:p>
            <a:pPr algn="l" indent="0" marL="0">
              <a:lnSpc>
                <a:spcPct val="106098"/>
              </a:lnSpc>
              <a:buNone/>
            </a:pPr>
            <a:r>
              <a:rPr lang="en-US" sz="2250" dirty="0">
                <a:solidFill>
                  <a:srgbClr val="E0E0E6"/>
                </a:solidFill>
                <a:latin typeface="NotoSans" pitchFamily="34" charset="0"/>
                <a:ea typeface="NotoSans" pitchFamily="34" charset="-122"/>
                <a:cs typeface="NotoSans" pitchFamily="34" charset="-120"/>
              </a:rPr>
              <a:t>To democratize edge safety, software must leverage pre-existing, low-cost commodity processors already on the road.</a:t>
            </a:r>
            <a:endParaRPr lang="en-US" sz="2250" dirty="0"/>
          </a:p>
        </p:txBody>
      </p:sp>
      <p:sp>
        <p:nvSpPr>
          <p:cNvPr id="20" name="Shape 16"/>
          <p:cNvSpPr/>
          <p:nvPr/>
        </p:nvSpPr>
        <p:spPr>
          <a:xfrm>
            <a:off x="1143000" y="9344025"/>
            <a:ext cx="16002000" cy="19050"/>
          </a:xfrm>
          <a:prstGeom prst="rect">
            <a:avLst/>
          </a:prstGeom>
          <a:solidFill>
            <a:srgbClr val="E2E5ED"/>
          </a:solidFill>
          <a:ln/>
        </p:spPr>
      </p:sp>
      <p:sp>
        <p:nvSpPr>
          <p:cNvPr id="21" name="Text 17"/>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22" name="Text 18"/>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609600"/>
            <a:ext cx="3093393" cy="609600"/>
          </a:xfrm>
          <a:prstGeom prst="roundRect">
            <a:avLst>
              <a:gd name="adj" fmla="val 12500"/>
            </a:avLst>
          </a:prstGeom>
          <a:solidFill>
            <a:srgbClr val="EFF1F5"/>
          </a:solidFill>
          <a:ln w="19050">
            <a:solidFill>
              <a:srgbClr val="D1D6E6"/>
            </a:solidFill>
            <a:prstDash val="solid"/>
          </a:ln>
        </p:spPr>
      </p:sp>
      <p:sp>
        <p:nvSpPr>
          <p:cNvPr id="3" name="Shape 1"/>
          <p:cNvSpPr/>
          <p:nvPr/>
        </p:nvSpPr>
        <p:spPr>
          <a:xfrm>
            <a:off x="1219200" y="685800"/>
            <a:ext cx="1519535" cy="457200"/>
          </a:xfrm>
          <a:prstGeom prst="roundRect">
            <a:avLst>
              <a:gd name="adj" fmla="val 8333"/>
            </a:avLst>
          </a:prstGeom>
          <a:solidFill>
            <a:srgbClr val="EB364B"/>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47800" y="800100"/>
            <a:ext cx="228600" cy="228600"/>
          </a:xfrm>
          <a:prstGeom prst="rect">
            <a:avLst/>
          </a:prstGeom>
        </p:spPr>
      </p:pic>
      <p:sp>
        <p:nvSpPr>
          <p:cNvPr id="5" name="Text 2"/>
          <p:cNvSpPr/>
          <p:nvPr/>
        </p:nvSpPr>
        <p:spPr>
          <a:xfrm>
            <a:off x="1771650" y="757238"/>
            <a:ext cx="814685" cy="352425"/>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NotoSans" pitchFamily="34" charset="0"/>
                <a:ea typeface="NotoSans" pitchFamily="34" charset="-122"/>
                <a:cs typeface="NotoSans" pitchFamily="34" charset="-120"/>
              </a:rPr>
              <a:t>Before</a:t>
            </a:r>
            <a:endParaRPr lang="en-US" sz="1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43535" y="800100"/>
            <a:ext cx="228600" cy="228600"/>
          </a:xfrm>
          <a:prstGeom prst="rect">
            <a:avLst/>
          </a:prstGeom>
        </p:spPr>
      </p:pic>
      <p:sp>
        <p:nvSpPr>
          <p:cNvPr id="7" name="Text 3"/>
          <p:cNvSpPr/>
          <p:nvPr/>
        </p:nvSpPr>
        <p:spPr>
          <a:xfrm>
            <a:off x="3367385" y="757238"/>
            <a:ext cx="640407" cy="352425"/>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NotoSans" pitchFamily="34" charset="0"/>
                <a:ea typeface="NotoSans" pitchFamily="34" charset="-122"/>
                <a:cs typeface="NotoSans" pitchFamily="34" charset="-120"/>
              </a:rPr>
              <a:t>After</a:t>
            </a:r>
            <a:endParaRPr lang="en-US" sz="1800" dirty="0"/>
          </a:p>
        </p:txBody>
      </p:sp>
      <p:sp>
        <p:nvSpPr>
          <p:cNvPr id="8" name="Text 4"/>
          <p:cNvSpPr/>
          <p:nvPr/>
        </p:nvSpPr>
        <p:spPr>
          <a:xfrm>
            <a:off x="1143000" y="1371600"/>
            <a:ext cx="17602200" cy="541883"/>
          </a:xfrm>
          <a:prstGeom prst="rect">
            <a:avLst/>
          </a:prstGeom>
          <a:noFill/>
          <a:ln/>
        </p:spPr>
        <p:txBody>
          <a:bodyPr wrap="square" lIns="25400" tIns="25400" rIns="25400" bIns="25400" rtlCol="0" anchor="t">
            <a:normAutofit/>
          </a:bodyPr>
          <a:lstStyle/>
          <a:p>
            <a:pPr algn="l" indent="0" marL="0">
              <a:lnSpc>
                <a:spcPct val="85323"/>
              </a:lnSpc>
              <a:buNone/>
            </a:pPr>
            <a:r>
              <a:rPr lang="en-US" sz="3450" b="1" spc="-34" kern="0" dirty="0">
                <a:solidFill>
                  <a:srgbClr val="1C2B34">
                    <a:alpha val="98000"/>
                  </a:srgbClr>
                </a:solidFill>
                <a:latin typeface="NotoSans" pitchFamily="34" charset="0"/>
                <a:ea typeface="NotoSans" pitchFamily="34" charset="-122"/>
                <a:cs typeface="NotoSans" pitchFamily="34" charset="-120"/>
              </a:rPr>
              <a:t>Current Architecture: Cloud-Centric Observability Bottlenecks</a:t>
            </a:r>
            <a:endParaRPr lang="en-US" sz="3450" dirty="0"/>
          </a:p>
        </p:txBody>
      </p:sp>
      <p:sp>
        <p:nvSpPr>
          <p:cNvPr id="9" name="Shape 5"/>
          <p:cNvSpPr/>
          <p:nvPr/>
        </p:nvSpPr>
        <p:spPr>
          <a:xfrm>
            <a:off x="1143000" y="2885777"/>
            <a:ext cx="495300" cy="495300"/>
          </a:xfrm>
          <a:prstGeom prst="roundRect">
            <a:avLst>
              <a:gd name="adj" fmla="val 15385"/>
            </a:avLst>
          </a:prstGeom>
          <a:solidFill>
            <a:srgbClr val="FDEBED"/>
          </a:solidFill>
          <a:ln/>
        </p:spPr>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7775" y="2990552"/>
            <a:ext cx="285750" cy="285750"/>
          </a:xfrm>
          <a:prstGeom prst="rect">
            <a:avLst/>
          </a:prstGeom>
        </p:spPr>
      </p:pic>
      <p:sp>
        <p:nvSpPr>
          <p:cNvPr id="11" name="Text 6"/>
          <p:cNvSpPr/>
          <p:nvPr/>
        </p:nvSpPr>
        <p:spPr>
          <a:xfrm>
            <a:off x="1828800" y="2885777"/>
            <a:ext cx="5376291" cy="1133326"/>
          </a:xfrm>
          <a:prstGeom prst="rect">
            <a:avLst/>
          </a:prstGeom>
          <a:noFill/>
          <a:ln/>
        </p:spPr>
        <p:txBody>
          <a:bodyPr wrap="square" lIns="25400" tIns="25400" rIns="25400" bIns="25400" rtlCol="0" anchor="t">
            <a:normAutofit/>
          </a:bodyPr>
          <a:lstStyle/>
          <a:p>
            <a:pPr algn="l" indent="0" marL="0">
              <a:lnSpc>
                <a:spcPct val="103622"/>
              </a:lnSpc>
              <a:buNone/>
            </a:pPr>
            <a:r>
              <a:rPr lang="en-US" sz="2025" b="1" dirty="0">
                <a:solidFill>
                  <a:srgbClr val="1C2B34">
                    <a:alpha val="98000"/>
                  </a:srgbClr>
                </a:solidFill>
                <a:latin typeface="NotoSans" pitchFamily="34" charset="0"/>
                <a:ea typeface="NotoSans" pitchFamily="34" charset="-122"/>
                <a:cs typeface="NotoSans" pitchFamily="34" charset="-120"/>
              </a:rPr>
              <a:t>High Decision Latency (10s – Minutes): </a:t>
            </a:r>
            <a:pPr algn="l" indent="0" marL="0">
              <a:lnSpc>
                <a:spcPct val="103622"/>
              </a:lnSpc>
              <a:buNone/>
            </a:pPr>
            <a:r>
              <a:rPr lang="en-US" sz="2025" dirty="0">
                <a:solidFill>
                  <a:srgbClr val="1C2B34">
                    <a:alpha val="98000"/>
                  </a:srgbClr>
                </a:solidFill>
                <a:latin typeface="NotoSans" pitchFamily="34" charset="0"/>
                <a:ea typeface="NotoSans" pitchFamily="34" charset="-122"/>
                <a:cs typeface="NotoSans" pitchFamily="34" charset="-120"/>
              </a:rPr>
              <a:t>Critical safety events must make a full cloud round-trip before any action is taken.</a:t>
            </a:r>
            <a:endParaRPr lang="en-US" sz="2025" dirty="0"/>
          </a:p>
        </p:txBody>
      </p:sp>
      <p:sp>
        <p:nvSpPr>
          <p:cNvPr id="12" name="Shape 7"/>
          <p:cNvSpPr/>
          <p:nvPr/>
        </p:nvSpPr>
        <p:spPr>
          <a:xfrm>
            <a:off x="1143000" y="4285804"/>
            <a:ext cx="495300" cy="495300"/>
          </a:xfrm>
          <a:prstGeom prst="roundRect">
            <a:avLst>
              <a:gd name="adj" fmla="val 15385"/>
            </a:avLst>
          </a:prstGeom>
          <a:solidFill>
            <a:srgbClr val="FDEBED"/>
          </a:solidFill>
          <a:ln/>
        </p:spPr>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47775" y="4390579"/>
            <a:ext cx="285750" cy="285750"/>
          </a:xfrm>
          <a:prstGeom prst="rect">
            <a:avLst/>
          </a:prstGeom>
        </p:spPr>
      </p:pic>
      <p:sp>
        <p:nvSpPr>
          <p:cNvPr id="14" name="Text 8"/>
          <p:cNvSpPr/>
          <p:nvPr/>
        </p:nvSpPr>
        <p:spPr>
          <a:xfrm>
            <a:off x="1828800" y="4285804"/>
            <a:ext cx="5376291" cy="1133326"/>
          </a:xfrm>
          <a:prstGeom prst="rect">
            <a:avLst/>
          </a:prstGeom>
          <a:noFill/>
          <a:ln/>
        </p:spPr>
        <p:txBody>
          <a:bodyPr wrap="square" lIns="25400" tIns="25400" rIns="25400" bIns="25400" rtlCol="0" anchor="t">
            <a:normAutofit/>
          </a:bodyPr>
          <a:lstStyle/>
          <a:p>
            <a:pPr algn="l" indent="0" marL="0">
              <a:lnSpc>
                <a:spcPct val="103622"/>
              </a:lnSpc>
              <a:buNone/>
            </a:pPr>
            <a:r>
              <a:rPr lang="en-US" sz="2025" b="1" dirty="0">
                <a:solidFill>
                  <a:srgbClr val="1C2B34">
                    <a:alpha val="98000"/>
                  </a:srgbClr>
                </a:solidFill>
                <a:latin typeface="NotoSans" pitchFamily="34" charset="0"/>
                <a:ea typeface="NotoSans" pitchFamily="34" charset="-122"/>
                <a:cs typeface="NotoSans" pitchFamily="34" charset="-120"/>
              </a:rPr>
              <a:t>Bandwidth Bleed: </a:t>
            </a:r>
            <a:pPr algn="l" indent="0" marL="0">
              <a:lnSpc>
                <a:spcPct val="103622"/>
              </a:lnSpc>
              <a:buNone/>
            </a:pPr>
            <a:r>
              <a:rPr lang="en-US" sz="2025" dirty="0">
                <a:solidFill>
                  <a:srgbClr val="1C2B34">
                    <a:alpha val="98000"/>
                  </a:srgbClr>
                </a:solidFill>
                <a:latin typeface="NotoSans" pitchFamily="34" charset="0"/>
                <a:ea typeface="NotoSans" pitchFamily="34" charset="-122"/>
                <a:cs typeface="NotoSans" pitchFamily="34" charset="-120"/>
              </a:rPr>
              <a:t>Massive cellular costs incurred by continuously transmitting normal, repetitive readings.</a:t>
            </a:r>
            <a:endParaRPr lang="en-US" sz="2025" dirty="0"/>
          </a:p>
        </p:txBody>
      </p:sp>
      <p:sp>
        <p:nvSpPr>
          <p:cNvPr id="15" name="Shape 9"/>
          <p:cNvSpPr/>
          <p:nvPr/>
        </p:nvSpPr>
        <p:spPr>
          <a:xfrm>
            <a:off x="1143000" y="5685830"/>
            <a:ext cx="495300" cy="495300"/>
          </a:xfrm>
          <a:prstGeom prst="roundRect">
            <a:avLst>
              <a:gd name="adj" fmla="val 15385"/>
            </a:avLst>
          </a:prstGeom>
          <a:solidFill>
            <a:srgbClr val="FDEBED"/>
          </a:solidFill>
          <a:ln/>
        </p:spPr>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7775" y="5790605"/>
            <a:ext cx="285750" cy="285750"/>
          </a:xfrm>
          <a:prstGeom prst="rect">
            <a:avLst/>
          </a:prstGeom>
        </p:spPr>
      </p:pic>
      <p:sp>
        <p:nvSpPr>
          <p:cNvPr id="17" name="Text 10"/>
          <p:cNvSpPr/>
          <p:nvPr/>
        </p:nvSpPr>
        <p:spPr>
          <a:xfrm>
            <a:off x="1828800" y="5685830"/>
            <a:ext cx="5376291" cy="1133326"/>
          </a:xfrm>
          <a:prstGeom prst="rect">
            <a:avLst/>
          </a:prstGeom>
          <a:noFill/>
          <a:ln/>
        </p:spPr>
        <p:txBody>
          <a:bodyPr wrap="square" lIns="25400" tIns="25400" rIns="25400" bIns="25400" rtlCol="0" anchor="t">
            <a:normAutofit/>
          </a:bodyPr>
          <a:lstStyle/>
          <a:p>
            <a:pPr algn="l" indent="0" marL="0">
              <a:lnSpc>
                <a:spcPct val="103622"/>
              </a:lnSpc>
              <a:buNone/>
            </a:pPr>
            <a:r>
              <a:rPr lang="en-US" sz="2025" b="1" dirty="0">
                <a:solidFill>
                  <a:srgbClr val="1C2B34">
                    <a:alpha val="98000"/>
                  </a:srgbClr>
                </a:solidFill>
                <a:latin typeface="NotoSans" pitchFamily="34" charset="0"/>
                <a:ea typeface="NotoSans" pitchFamily="34" charset="-122"/>
                <a:cs typeface="NotoSans" pitchFamily="34" charset="-120"/>
              </a:rPr>
              <a:t>Network Dependencies: </a:t>
            </a:r>
            <a:pPr algn="l" indent="0" marL="0">
              <a:lnSpc>
                <a:spcPct val="103622"/>
              </a:lnSpc>
              <a:buNone/>
            </a:pPr>
            <a:r>
              <a:rPr lang="en-US" sz="2025" dirty="0">
                <a:solidFill>
                  <a:srgbClr val="1C2B34">
                    <a:alpha val="98000"/>
                  </a:srgbClr>
                </a:solidFill>
                <a:latin typeface="NotoSans" pitchFamily="34" charset="0"/>
                <a:ea typeface="NotoSans" pitchFamily="34" charset="-122"/>
                <a:cs typeface="NotoSans" pitchFamily="34" charset="-120"/>
              </a:rPr>
              <a:t>Total loss of visibility and real-time tracking when a vehicle enters a cellular dead zone.</a:t>
            </a:r>
            <a:endParaRPr lang="en-US" sz="2025" dirty="0"/>
          </a:p>
        </p:txBody>
      </p:sp>
      <p:sp>
        <p:nvSpPr>
          <p:cNvPr id="18" name="Shape 11"/>
          <p:cNvSpPr/>
          <p:nvPr/>
        </p:nvSpPr>
        <p:spPr>
          <a:xfrm>
            <a:off x="7741146" y="2356842"/>
            <a:ext cx="1567309" cy="381000"/>
          </a:xfrm>
          <a:prstGeom prst="roundRect">
            <a:avLst>
              <a:gd name="adj" fmla="val 10000"/>
            </a:avLst>
          </a:prstGeom>
          <a:solidFill>
            <a:srgbClr val="D1D6E6"/>
          </a:solidFill>
          <a:ln/>
        </p:spPr>
      </p:sp>
      <p:sp>
        <p:nvSpPr>
          <p:cNvPr id="19" name="Text 12"/>
          <p:cNvSpPr/>
          <p:nvPr/>
        </p:nvSpPr>
        <p:spPr>
          <a:xfrm>
            <a:off x="7874496" y="2356842"/>
            <a:ext cx="1376809" cy="419100"/>
          </a:xfrm>
          <a:prstGeom prst="rect">
            <a:avLst/>
          </a:prstGeom>
          <a:noFill/>
          <a:ln/>
        </p:spPr>
        <p:txBody>
          <a:bodyPr wrap="none" lIns="25400" tIns="25400" rIns="25400" bIns="25400" rtlCol="0" anchor="ctr">
            <a:normAutofit/>
          </a:bodyPr>
          <a:lstStyle/>
          <a:p>
            <a:pPr algn="l" indent="0" marL="0">
              <a:buNone/>
            </a:pPr>
            <a:r>
              <a:rPr lang="en-US" sz="1800" b="1" dirty="0">
                <a:solidFill>
                  <a:srgbClr val="1C2B34">
                    <a:alpha val="68000"/>
                  </a:srgbClr>
                </a:solidFill>
                <a:latin typeface="NotoSans" pitchFamily="34" charset="0"/>
                <a:ea typeface="NotoSans" pitchFamily="34" charset="-122"/>
                <a:cs typeface="NotoSans" pitchFamily="34" charset="-120"/>
              </a:rPr>
              <a:t>Dumb Edge</a:t>
            </a:r>
            <a:endParaRPr lang="en-US" sz="1800" dirty="0"/>
          </a:p>
        </p:txBody>
      </p:sp>
      <p:sp>
        <p:nvSpPr>
          <p:cNvPr id="20" name="Shape 13"/>
          <p:cNvSpPr/>
          <p:nvPr/>
        </p:nvSpPr>
        <p:spPr>
          <a:xfrm>
            <a:off x="7620000" y="2890242"/>
            <a:ext cx="1809750" cy="1143000"/>
          </a:xfrm>
          <a:prstGeom prst="roundRect">
            <a:avLst>
              <a:gd name="adj" fmla="val 6667"/>
            </a:avLst>
          </a:prstGeom>
          <a:solidFill>
            <a:srgbClr val="F9FAFB"/>
          </a:solidFill>
          <a:ln w="19050">
            <a:solidFill>
              <a:srgbClr val="B4BCD4"/>
            </a:solidFill>
            <a:prstDash val="solid"/>
          </a:ln>
        </p:spPr>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39125" y="3175992"/>
            <a:ext cx="571500" cy="571500"/>
          </a:xfrm>
          <a:prstGeom prst="rect">
            <a:avLst/>
          </a:prstGeom>
        </p:spPr>
      </p:pic>
      <p:sp>
        <p:nvSpPr>
          <p:cNvPr id="22" name="Shape 14"/>
          <p:cNvSpPr/>
          <p:nvPr/>
        </p:nvSpPr>
        <p:spPr>
          <a:xfrm>
            <a:off x="7620000" y="4318992"/>
            <a:ext cx="1809750" cy="1143000"/>
          </a:xfrm>
          <a:prstGeom prst="roundRect">
            <a:avLst>
              <a:gd name="adj" fmla="val 6667"/>
            </a:avLst>
          </a:prstGeom>
          <a:solidFill>
            <a:srgbClr val="F9FAFB"/>
          </a:solidFill>
          <a:ln w="19050">
            <a:solidFill>
              <a:srgbClr val="B4BCD4"/>
            </a:solidFill>
            <a:prstDash val="solid"/>
          </a:ln>
        </p:spPr>
      </p:sp>
      <p:pic>
        <p:nvPicPr>
          <p:cNvPr id="2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39125" y="4604742"/>
            <a:ext cx="571500" cy="571500"/>
          </a:xfrm>
          <a:prstGeom prst="rect">
            <a:avLst/>
          </a:prstGeom>
        </p:spPr>
      </p:pic>
      <p:sp>
        <p:nvSpPr>
          <p:cNvPr id="24" name="Shape 15"/>
          <p:cNvSpPr/>
          <p:nvPr/>
        </p:nvSpPr>
        <p:spPr>
          <a:xfrm>
            <a:off x="7620000" y="5747742"/>
            <a:ext cx="1809750" cy="1143000"/>
          </a:xfrm>
          <a:prstGeom prst="roundRect">
            <a:avLst>
              <a:gd name="adj" fmla="val 6667"/>
            </a:avLst>
          </a:prstGeom>
          <a:solidFill>
            <a:srgbClr val="F9FAFB"/>
          </a:solidFill>
          <a:ln w="19050">
            <a:solidFill>
              <a:srgbClr val="B4BCD4"/>
            </a:solidFill>
            <a:prstDash val="solid"/>
          </a:ln>
        </p:spPr>
      </p:sp>
      <p:pic>
        <p:nvPicPr>
          <p:cNvPr id="2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39125" y="6033492"/>
            <a:ext cx="571500" cy="571500"/>
          </a:xfrm>
          <a:prstGeom prst="rect">
            <a:avLst/>
          </a:prstGeom>
        </p:spPr>
      </p:pic>
      <p:sp>
        <p:nvSpPr>
          <p:cNvPr id="26" name="Text 16"/>
          <p:cNvSpPr/>
          <p:nvPr/>
        </p:nvSpPr>
        <p:spPr>
          <a:xfrm>
            <a:off x="7529513" y="6985992"/>
            <a:ext cx="1990725" cy="352425"/>
          </a:xfrm>
          <a:prstGeom prst="rect">
            <a:avLst/>
          </a:prstGeom>
          <a:noFill/>
          <a:ln/>
        </p:spPr>
        <p:txBody>
          <a:bodyPr wrap="none" lIns="25400" tIns="25400" rIns="25400" bIns="25400" rtlCol="0" anchor="t">
            <a:normAutofit/>
          </a:bodyPr>
          <a:lstStyle/>
          <a:p>
            <a:pPr algn="ctr" indent="0" marL="0">
              <a:buNone/>
            </a:pPr>
            <a:r>
              <a:rPr lang="en-US" sz="1800" dirty="0">
                <a:solidFill>
                  <a:srgbClr val="1C2B34">
                    <a:alpha val="50000"/>
                  </a:srgbClr>
                </a:solidFill>
                <a:latin typeface="NotoSans" pitchFamily="34" charset="0"/>
                <a:ea typeface="NotoSans" pitchFamily="34" charset="-122"/>
                <a:cs typeface="NotoSans" pitchFamily="34" charset="-120"/>
              </a:rPr>
              <a:t>raw, unfiltered</a:t>
            </a:r>
            <a:endParaRPr lang="en-US" sz="1800" dirty="0"/>
          </a:p>
        </p:txBody>
      </p:sp>
      <p:pic>
        <p:nvPicPr>
          <p:cNvPr id="27"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620000" y="2356842"/>
            <a:ext cx="9525000" cy="4953000"/>
          </a:xfrm>
          <a:prstGeom prst="rect">
            <a:avLst/>
          </a:prstGeom>
        </p:spPr>
      </p:pic>
      <p:pic>
        <p:nvPicPr>
          <p:cNvPr id="28"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867900" y="2547342"/>
            <a:ext cx="247650" cy="247650"/>
          </a:xfrm>
          <a:prstGeom prst="rect">
            <a:avLst/>
          </a:prstGeom>
        </p:spPr>
      </p:pic>
      <p:sp>
        <p:nvSpPr>
          <p:cNvPr id="29" name="Text 17"/>
          <p:cNvSpPr/>
          <p:nvPr/>
        </p:nvSpPr>
        <p:spPr>
          <a:xfrm>
            <a:off x="10172700" y="2356842"/>
            <a:ext cx="2590800" cy="666750"/>
          </a:xfrm>
          <a:prstGeom prst="rect">
            <a:avLst/>
          </a:prstGeom>
          <a:noFill/>
          <a:ln/>
        </p:spPr>
        <p:txBody>
          <a:bodyPr wrap="square" lIns="25400" tIns="25400" rIns="25400" bIns="25400" rtlCol="0" anchor="t">
            <a:normAutofit/>
          </a:bodyPr>
          <a:lstStyle/>
          <a:p>
            <a:pPr algn="ctr" indent="0" marL="0">
              <a:buNone/>
            </a:pPr>
            <a:r>
              <a:rPr lang="en-US" sz="1800" b="1" dirty="0">
                <a:solidFill>
                  <a:srgbClr val="C15800"/>
                </a:solidFill>
                <a:latin typeface="NotoSans" pitchFamily="34" charset="0"/>
                <a:ea typeface="NotoSans" pitchFamily="34" charset="-122"/>
                <a:cs typeface="NotoSans" pitchFamily="34" charset="-120"/>
              </a:rPr>
              <a:t>High-Latency Cellular Pipeline</a:t>
            </a:r>
            <a:endParaRPr lang="en-US" sz="1800" dirty="0"/>
          </a:p>
        </p:txBody>
      </p:sp>
      <p:sp>
        <p:nvSpPr>
          <p:cNvPr id="30" name="Shape 18"/>
          <p:cNvSpPr/>
          <p:nvPr/>
        </p:nvSpPr>
        <p:spPr>
          <a:xfrm>
            <a:off x="10001250" y="3195042"/>
            <a:ext cx="716459" cy="438150"/>
          </a:xfrm>
          <a:prstGeom prst="roundRect">
            <a:avLst>
              <a:gd name="adj" fmla="val 8696"/>
            </a:avLst>
          </a:prstGeom>
          <a:solidFill>
            <a:srgbClr val="FFFFFF"/>
          </a:solidFill>
          <a:ln w="19050">
            <a:solidFill>
              <a:srgbClr val="EB364B"/>
            </a:solidFill>
            <a:prstDash val="solid"/>
          </a:ln>
        </p:spPr>
      </p:sp>
      <p:sp>
        <p:nvSpPr>
          <p:cNvPr id="31" name="Text 19"/>
          <p:cNvSpPr/>
          <p:nvPr/>
        </p:nvSpPr>
        <p:spPr>
          <a:xfrm>
            <a:off x="10153650" y="3214092"/>
            <a:ext cx="487859" cy="438150"/>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Roboto Mono" pitchFamily="34" charset="0"/>
                <a:ea typeface="Roboto Mono" pitchFamily="34" charset="-122"/>
                <a:cs typeface="Roboto Mono" pitchFamily="34" charset="-120"/>
              </a:rPr>
              <a:t>RPM</a:t>
            </a:r>
            <a:endParaRPr lang="en-US" sz="1800" dirty="0"/>
          </a:p>
        </p:txBody>
      </p:sp>
      <p:sp>
        <p:nvSpPr>
          <p:cNvPr id="32" name="Shape 20"/>
          <p:cNvSpPr/>
          <p:nvPr/>
        </p:nvSpPr>
        <p:spPr>
          <a:xfrm>
            <a:off x="10001250" y="4623792"/>
            <a:ext cx="716459" cy="438150"/>
          </a:xfrm>
          <a:prstGeom prst="roundRect">
            <a:avLst>
              <a:gd name="adj" fmla="val 8696"/>
            </a:avLst>
          </a:prstGeom>
          <a:solidFill>
            <a:srgbClr val="FFFFFF"/>
          </a:solidFill>
          <a:ln w="19050">
            <a:solidFill>
              <a:srgbClr val="EB364B"/>
            </a:solidFill>
            <a:prstDash val="solid"/>
          </a:ln>
        </p:spPr>
      </p:sp>
      <p:sp>
        <p:nvSpPr>
          <p:cNvPr id="33" name="Text 21"/>
          <p:cNvSpPr/>
          <p:nvPr/>
        </p:nvSpPr>
        <p:spPr>
          <a:xfrm>
            <a:off x="10153650" y="4642842"/>
            <a:ext cx="487859" cy="438150"/>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Roboto Mono" pitchFamily="34" charset="0"/>
                <a:ea typeface="Roboto Mono" pitchFamily="34" charset="-122"/>
                <a:cs typeface="Roboto Mono" pitchFamily="34" charset="-120"/>
              </a:rPr>
              <a:t>GPS</a:t>
            </a:r>
            <a:endParaRPr lang="en-US" sz="1800" dirty="0"/>
          </a:p>
        </p:txBody>
      </p:sp>
      <p:sp>
        <p:nvSpPr>
          <p:cNvPr id="34" name="Shape 22"/>
          <p:cNvSpPr/>
          <p:nvPr/>
        </p:nvSpPr>
        <p:spPr>
          <a:xfrm>
            <a:off x="10001250" y="6052542"/>
            <a:ext cx="1676698" cy="438150"/>
          </a:xfrm>
          <a:prstGeom prst="roundRect">
            <a:avLst>
              <a:gd name="adj" fmla="val 8696"/>
            </a:avLst>
          </a:prstGeom>
          <a:solidFill>
            <a:srgbClr val="FFFFFF"/>
          </a:solidFill>
          <a:ln w="19050">
            <a:solidFill>
              <a:srgbClr val="EB364B"/>
            </a:solidFill>
            <a:prstDash val="solid"/>
          </a:ln>
        </p:spPr>
      </p:sp>
      <p:sp>
        <p:nvSpPr>
          <p:cNvPr id="35" name="Text 23"/>
          <p:cNvSpPr/>
          <p:nvPr/>
        </p:nvSpPr>
        <p:spPr>
          <a:xfrm>
            <a:off x="10153650" y="6071592"/>
            <a:ext cx="1448098" cy="438150"/>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Roboto Mono" pitchFamily="34" charset="0"/>
                <a:ea typeface="Roboto Mono" pitchFamily="34" charset="-122"/>
                <a:cs typeface="Roboto Mono" pitchFamily="34" charset="-120"/>
              </a:rPr>
              <a:t>Brake wear</a:t>
            </a:r>
            <a:endParaRPr lang="en-US" sz="1800" dirty="0"/>
          </a:p>
        </p:txBody>
      </p:sp>
      <p:sp>
        <p:nvSpPr>
          <p:cNvPr id="36" name="Shape 24"/>
          <p:cNvSpPr/>
          <p:nvPr/>
        </p:nvSpPr>
        <p:spPr>
          <a:xfrm>
            <a:off x="13144500" y="2356842"/>
            <a:ext cx="4000500" cy="4953000"/>
          </a:xfrm>
          <a:prstGeom prst="roundRect">
            <a:avLst>
              <a:gd name="adj" fmla="val 1905"/>
            </a:avLst>
          </a:prstGeom>
          <a:solidFill>
            <a:srgbClr val="FDEBED"/>
          </a:solidFill>
          <a:ln w="28575">
            <a:solidFill>
              <a:srgbClr val="EB364B"/>
            </a:solidFill>
            <a:prstDash val="solid"/>
          </a:ln>
        </p:spPr>
      </p:sp>
      <p:pic>
        <p:nvPicPr>
          <p:cNvPr id="37"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3401675" y="2637830"/>
            <a:ext cx="342900" cy="342900"/>
          </a:xfrm>
          <a:prstGeom prst="rect">
            <a:avLst/>
          </a:prstGeom>
        </p:spPr>
      </p:pic>
      <p:sp>
        <p:nvSpPr>
          <p:cNvPr id="38" name="Text 25"/>
          <p:cNvSpPr/>
          <p:nvPr/>
        </p:nvSpPr>
        <p:spPr>
          <a:xfrm>
            <a:off x="13858875" y="2614017"/>
            <a:ext cx="1617018" cy="428625"/>
          </a:xfrm>
          <a:prstGeom prst="rect">
            <a:avLst/>
          </a:prstGeom>
          <a:noFill/>
          <a:ln/>
        </p:spPr>
        <p:txBody>
          <a:bodyPr wrap="none" lIns="0" tIns="0" rIns="0" bIns="0" rtlCol="0" anchor="t">
            <a:normAutofit/>
          </a:bodyPr>
          <a:lstStyle/>
          <a:p>
            <a:pPr algn="l" indent="0" marL="0">
              <a:buNone/>
            </a:pPr>
            <a:r>
              <a:rPr lang="en-US" sz="2250" b="1" dirty="0">
                <a:solidFill>
                  <a:srgbClr val="1C2B34">
                    <a:alpha val="98000"/>
                  </a:srgbClr>
                </a:solidFill>
                <a:latin typeface="NotoSans" pitchFamily="34" charset="0"/>
                <a:ea typeface="NotoSans" pitchFamily="34" charset="-122"/>
                <a:cs typeface="NotoSans" pitchFamily="34" charset="-120"/>
              </a:rPr>
              <a:t>Cloud Core</a:t>
            </a:r>
            <a:endParaRPr lang="en-US" sz="2250" dirty="0"/>
          </a:p>
        </p:txBody>
      </p:sp>
      <p:sp>
        <p:nvSpPr>
          <p:cNvPr id="39" name="Shape 26"/>
          <p:cNvSpPr/>
          <p:nvPr/>
        </p:nvSpPr>
        <p:spPr>
          <a:xfrm>
            <a:off x="13401675" y="3099792"/>
            <a:ext cx="1839218" cy="381000"/>
          </a:xfrm>
          <a:prstGeom prst="roundRect">
            <a:avLst>
              <a:gd name="adj" fmla="val 10000"/>
            </a:avLst>
          </a:prstGeom>
          <a:solidFill>
            <a:srgbClr val="EB364B"/>
          </a:solidFill>
          <a:ln/>
        </p:spPr>
      </p:sp>
      <p:pic>
        <p:nvPicPr>
          <p:cNvPr id="40"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3535025" y="3195042"/>
            <a:ext cx="190500" cy="190500"/>
          </a:xfrm>
          <a:prstGeom prst="rect">
            <a:avLst/>
          </a:prstGeom>
        </p:spPr>
      </p:pic>
      <p:sp>
        <p:nvSpPr>
          <p:cNvPr id="41" name="Text 27"/>
          <p:cNvSpPr/>
          <p:nvPr/>
        </p:nvSpPr>
        <p:spPr>
          <a:xfrm>
            <a:off x="13782675" y="3133130"/>
            <a:ext cx="1401068" cy="352425"/>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NotoSans" pitchFamily="34" charset="0"/>
                <a:ea typeface="NotoSans" pitchFamily="34" charset="-122"/>
                <a:cs typeface="NotoSans" pitchFamily="34" charset="-120"/>
              </a:rPr>
              <a:t>Overloaded</a:t>
            </a:r>
            <a:endParaRPr lang="en-US" sz="1800" dirty="0"/>
          </a:p>
        </p:txBody>
      </p:sp>
      <p:sp>
        <p:nvSpPr>
          <p:cNvPr id="42" name="Shape 28"/>
          <p:cNvSpPr/>
          <p:nvPr/>
        </p:nvSpPr>
        <p:spPr>
          <a:xfrm>
            <a:off x="13401675" y="3633192"/>
            <a:ext cx="3486150" cy="1063526"/>
          </a:xfrm>
          <a:prstGeom prst="roundRect">
            <a:avLst>
              <a:gd name="adj" fmla="val 7165"/>
            </a:avLst>
          </a:prstGeom>
          <a:solidFill>
            <a:srgbClr val="FFFFFF"/>
          </a:solidFill>
          <a:ln w="19050">
            <a:solidFill>
              <a:srgbClr val="D1D6E6"/>
            </a:solidFill>
            <a:prstDash val="solid"/>
          </a:ln>
        </p:spPr>
      </p:sp>
      <p:pic>
        <p:nvPicPr>
          <p:cNvPr id="43"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3611225" y="3993505"/>
            <a:ext cx="342900" cy="342900"/>
          </a:xfrm>
          <a:prstGeom prst="rect">
            <a:avLst/>
          </a:prstGeom>
        </p:spPr>
      </p:pic>
      <p:sp>
        <p:nvSpPr>
          <p:cNvPr id="44" name="Text 29"/>
          <p:cNvSpPr/>
          <p:nvPr/>
        </p:nvSpPr>
        <p:spPr>
          <a:xfrm>
            <a:off x="14106525" y="3783955"/>
            <a:ext cx="282892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C2B34">
                    <a:alpha val="98000"/>
                  </a:srgbClr>
                </a:solidFill>
                <a:latin typeface="NotoSans" pitchFamily="34" charset="0"/>
                <a:ea typeface="NotoSans" pitchFamily="34" charset="-122"/>
                <a:cs typeface="NotoSans" pitchFamily="34" charset="-120"/>
              </a:rPr>
              <a:t>Ingestion Queues</a:t>
            </a:r>
            <a:endParaRPr lang="en-US" sz="1950" dirty="0"/>
          </a:p>
        </p:txBody>
      </p:sp>
      <p:sp>
        <p:nvSpPr>
          <p:cNvPr id="45" name="Shape 30"/>
          <p:cNvSpPr/>
          <p:nvPr/>
        </p:nvSpPr>
        <p:spPr>
          <a:xfrm>
            <a:off x="14106525" y="4184005"/>
            <a:ext cx="1553468" cy="361950"/>
          </a:xfrm>
          <a:prstGeom prst="roundRect">
            <a:avLst>
              <a:gd name="adj" fmla="val 10526"/>
            </a:avLst>
          </a:prstGeom>
          <a:solidFill>
            <a:srgbClr val="FDEBED"/>
          </a:solidFill>
          <a:ln/>
        </p:spPr>
      </p:sp>
      <p:sp>
        <p:nvSpPr>
          <p:cNvPr id="46" name="Text 31"/>
          <p:cNvSpPr/>
          <p:nvPr/>
        </p:nvSpPr>
        <p:spPr>
          <a:xfrm>
            <a:off x="14220825" y="4184005"/>
            <a:ext cx="1480215" cy="400050"/>
          </a:xfrm>
          <a:prstGeom prst="rect">
            <a:avLst/>
          </a:prstGeom>
          <a:noFill/>
          <a:ln/>
        </p:spPr>
        <p:txBody>
          <a:bodyPr wrap="square" lIns="25400" tIns="25400" rIns="25400" bIns="25400" rtlCol="0" anchor="ctr">
            <a:normAutofit/>
          </a:bodyPr>
          <a:lstStyle/>
          <a:p>
            <a:pPr algn="l" indent="0" marL="0">
              <a:buNone/>
            </a:pPr>
            <a:r>
              <a:rPr lang="en-US" sz="1800" b="1" dirty="0">
                <a:solidFill>
                  <a:srgbClr val="BC2B3C"/>
                </a:solidFill>
                <a:latin typeface="NotoSans" pitchFamily="34" charset="0"/>
                <a:ea typeface="NotoSans" pitchFamily="34" charset="-122"/>
                <a:cs typeface="NotoSans" pitchFamily="34" charset="-120"/>
              </a:rPr>
              <a:t>Overloaded</a:t>
            </a:r>
            <a:endParaRPr lang="en-US" sz="1800" dirty="0"/>
          </a:p>
        </p:txBody>
      </p:sp>
      <p:sp>
        <p:nvSpPr>
          <p:cNvPr id="47" name="Shape 32"/>
          <p:cNvSpPr/>
          <p:nvPr/>
        </p:nvSpPr>
        <p:spPr>
          <a:xfrm>
            <a:off x="13401675" y="4811018"/>
            <a:ext cx="3486150" cy="1063675"/>
          </a:xfrm>
          <a:prstGeom prst="roundRect">
            <a:avLst>
              <a:gd name="adj" fmla="val 7164"/>
            </a:avLst>
          </a:prstGeom>
          <a:solidFill>
            <a:srgbClr val="FFFFFF"/>
          </a:solidFill>
          <a:ln w="19050">
            <a:solidFill>
              <a:srgbClr val="D1D6E6"/>
            </a:solidFill>
            <a:prstDash val="solid"/>
          </a:ln>
        </p:spPr>
      </p:sp>
      <p:pic>
        <p:nvPicPr>
          <p:cNvPr id="48"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611225" y="5171331"/>
            <a:ext cx="342900" cy="342900"/>
          </a:xfrm>
          <a:prstGeom prst="rect">
            <a:avLst/>
          </a:prstGeom>
        </p:spPr>
      </p:pic>
      <p:sp>
        <p:nvSpPr>
          <p:cNvPr id="49" name="Text 33"/>
          <p:cNvSpPr/>
          <p:nvPr/>
        </p:nvSpPr>
        <p:spPr>
          <a:xfrm>
            <a:off x="14106525" y="4961781"/>
            <a:ext cx="282892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C2B34">
                    <a:alpha val="98000"/>
                  </a:srgbClr>
                </a:solidFill>
                <a:latin typeface="NotoSans" pitchFamily="34" charset="0"/>
                <a:ea typeface="NotoSans" pitchFamily="34" charset="-122"/>
                <a:cs typeface="NotoSans" pitchFamily="34" charset="-120"/>
              </a:rPr>
              <a:t>Stream Processing</a:t>
            </a:r>
            <a:endParaRPr lang="en-US" sz="1950" dirty="0"/>
          </a:p>
        </p:txBody>
      </p:sp>
      <p:sp>
        <p:nvSpPr>
          <p:cNvPr id="50" name="Shape 34"/>
          <p:cNvSpPr/>
          <p:nvPr/>
        </p:nvSpPr>
        <p:spPr>
          <a:xfrm>
            <a:off x="14106525" y="5361831"/>
            <a:ext cx="1149995" cy="361950"/>
          </a:xfrm>
          <a:prstGeom prst="roundRect">
            <a:avLst>
              <a:gd name="adj" fmla="val 10526"/>
            </a:avLst>
          </a:prstGeom>
          <a:solidFill>
            <a:srgbClr val="FFF6E3"/>
          </a:solidFill>
          <a:ln/>
        </p:spPr>
      </p:sp>
      <p:sp>
        <p:nvSpPr>
          <p:cNvPr id="51" name="Text 35"/>
          <p:cNvSpPr/>
          <p:nvPr/>
        </p:nvSpPr>
        <p:spPr>
          <a:xfrm>
            <a:off x="14220825" y="5361831"/>
            <a:ext cx="1036394" cy="400050"/>
          </a:xfrm>
          <a:prstGeom prst="rect">
            <a:avLst/>
          </a:prstGeom>
          <a:noFill/>
          <a:ln/>
        </p:spPr>
        <p:txBody>
          <a:bodyPr wrap="square" lIns="25400" tIns="25400" rIns="25400" bIns="25400" rtlCol="0" anchor="ctr">
            <a:normAutofit/>
          </a:bodyPr>
          <a:lstStyle/>
          <a:p>
            <a:pPr algn="l" indent="0" marL="0">
              <a:buNone/>
            </a:pPr>
            <a:r>
              <a:rPr lang="en-US" sz="1800" b="1" dirty="0">
                <a:solidFill>
                  <a:srgbClr val="C15800"/>
                </a:solidFill>
                <a:latin typeface="NotoSans" pitchFamily="34" charset="0"/>
                <a:ea typeface="NotoSans" pitchFamily="34" charset="-122"/>
                <a:cs typeface="NotoSans" pitchFamily="34" charset="-120"/>
              </a:rPr>
              <a:t>Lagging</a:t>
            </a:r>
            <a:endParaRPr lang="en-US" sz="1800" dirty="0"/>
          </a:p>
        </p:txBody>
      </p:sp>
      <p:sp>
        <p:nvSpPr>
          <p:cNvPr id="52" name="Shape 36"/>
          <p:cNvSpPr/>
          <p:nvPr/>
        </p:nvSpPr>
        <p:spPr>
          <a:xfrm>
            <a:off x="13401675" y="5988993"/>
            <a:ext cx="3486150" cy="1063675"/>
          </a:xfrm>
          <a:prstGeom prst="roundRect">
            <a:avLst>
              <a:gd name="adj" fmla="val 7164"/>
            </a:avLst>
          </a:prstGeom>
          <a:solidFill>
            <a:srgbClr val="FFFFFF"/>
          </a:solidFill>
          <a:ln w="19050">
            <a:solidFill>
              <a:srgbClr val="D1D6E6"/>
            </a:solidFill>
            <a:prstDash val="solid"/>
          </a:ln>
        </p:spPr>
      </p:sp>
      <p:pic>
        <p:nvPicPr>
          <p:cNvPr id="53"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3611225" y="6349305"/>
            <a:ext cx="342900" cy="342900"/>
          </a:xfrm>
          <a:prstGeom prst="rect">
            <a:avLst/>
          </a:prstGeom>
        </p:spPr>
      </p:pic>
      <p:sp>
        <p:nvSpPr>
          <p:cNvPr id="54" name="Text 37"/>
          <p:cNvSpPr/>
          <p:nvPr/>
        </p:nvSpPr>
        <p:spPr>
          <a:xfrm>
            <a:off x="14106525" y="6139755"/>
            <a:ext cx="282892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C2B34">
                    <a:alpha val="98000"/>
                  </a:srgbClr>
                </a:solidFill>
                <a:latin typeface="NotoSans" pitchFamily="34" charset="0"/>
                <a:ea typeface="NotoSans" pitchFamily="34" charset="-122"/>
                <a:cs typeface="NotoSans" pitchFamily="34" charset="-120"/>
              </a:rPr>
              <a:t>Data Lakes</a:t>
            </a:r>
            <a:endParaRPr lang="en-US" sz="1950" dirty="0"/>
          </a:p>
        </p:txBody>
      </p:sp>
      <p:sp>
        <p:nvSpPr>
          <p:cNvPr id="55" name="Shape 38"/>
          <p:cNvSpPr/>
          <p:nvPr/>
        </p:nvSpPr>
        <p:spPr>
          <a:xfrm>
            <a:off x="14106525" y="6539805"/>
            <a:ext cx="2571750" cy="361950"/>
          </a:xfrm>
          <a:prstGeom prst="roundRect">
            <a:avLst>
              <a:gd name="adj" fmla="val 10526"/>
            </a:avLst>
          </a:prstGeom>
          <a:solidFill>
            <a:srgbClr val="FFF6E3"/>
          </a:solidFill>
          <a:ln/>
        </p:spPr>
      </p:sp>
      <p:sp>
        <p:nvSpPr>
          <p:cNvPr id="56" name="Text 39"/>
          <p:cNvSpPr/>
          <p:nvPr/>
        </p:nvSpPr>
        <p:spPr>
          <a:xfrm>
            <a:off x="14220825" y="6539805"/>
            <a:ext cx="2600325" cy="400050"/>
          </a:xfrm>
          <a:prstGeom prst="rect">
            <a:avLst/>
          </a:prstGeom>
          <a:noFill/>
          <a:ln/>
        </p:spPr>
        <p:txBody>
          <a:bodyPr wrap="square" lIns="25400" tIns="25400" rIns="25400" bIns="25400" rtlCol="0" anchor="ctr">
            <a:normAutofit/>
          </a:bodyPr>
          <a:lstStyle/>
          <a:p>
            <a:pPr algn="l" indent="0" marL="0">
              <a:buNone/>
            </a:pPr>
            <a:r>
              <a:rPr lang="en-US" sz="1800" b="1" dirty="0">
                <a:solidFill>
                  <a:srgbClr val="C15800"/>
                </a:solidFill>
                <a:latin typeface="NotoSans" pitchFamily="34" charset="0"/>
                <a:ea typeface="NotoSans" pitchFamily="34" charset="-122"/>
                <a:cs typeface="NotoSans" pitchFamily="34" charset="-120"/>
              </a:rPr>
              <a:t>Up to 95% Noise Data</a:t>
            </a:r>
            <a:endParaRPr lang="en-US" sz="1800" dirty="0"/>
          </a:p>
        </p:txBody>
      </p:sp>
      <p:sp>
        <p:nvSpPr>
          <p:cNvPr id="57" name="Shape 40"/>
          <p:cNvSpPr/>
          <p:nvPr/>
        </p:nvSpPr>
        <p:spPr>
          <a:xfrm>
            <a:off x="1143000" y="7791450"/>
            <a:ext cx="5206901" cy="1400175"/>
          </a:xfrm>
          <a:prstGeom prst="roundRect">
            <a:avLst>
              <a:gd name="adj" fmla="val 5442"/>
            </a:avLst>
          </a:prstGeom>
          <a:ln w="19050">
            <a:solidFill>
              <a:srgbClr val="D1D6E6"/>
            </a:solidFill>
            <a:prstDash val="solid"/>
          </a:ln>
        </p:spPr>
      </p:sp>
      <p:sp>
        <p:nvSpPr>
          <p:cNvPr id="58" name="Text 41"/>
          <p:cNvSpPr/>
          <p:nvPr/>
        </p:nvSpPr>
        <p:spPr>
          <a:xfrm>
            <a:off x="1390650" y="7962900"/>
            <a:ext cx="5182761" cy="352425"/>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NotoSans" pitchFamily="34" charset="0"/>
                <a:ea typeface="NotoSans" pitchFamily="34" charset="-122"/>
                <a:cs typeface="NotoSans" pitchFamily="34" charset="-120"/>
              </a:rPr>
              <a:t>DECISION LATENCY</a:t>
            </a:r>
            <a:endParaRPr lang="en-US" sz="1800" dirty="0"/>
          </a:p>
        </p:txBody>
      </p:sp>
      <p:sp>
        <p:nvSpPr>
          <p:cNvPr id="59" name="Text 42"/>
          <p:cNvSpPr/>
          <p:nvPr/>
        </p:nvSpPr>
        <p:spPr>
          <a:xfrm>
            <a:off x="1390650" y="8353425"/>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EB364B"/>
                </a:solidFill>
                <a:latin typeface="NotoSans" pitchFamily="34" charset="0"/>
                <a:ea typeface="NotoSans" pitchFamily="34" charset="-122"/>
                <a:cs typeface="NotoSans" pitchFamily="34" charset="-120"/>
              </a:rPr>
              <a:t>BEFORE</a:t>
            </a:r>
            <a:endParaRPr lang="en-US" sz="1800" dirty="0"/>
          </a:p>
        </p:txBody>
      </p:sp>
      <p:sp>
        <p:nvSpPr>
          <p:cNvPr id="60" name="Text 43"/>
          <p:cNvSpPr/>
          <p:nvPr/>
        </p:nvSpPr>
        <p:spPr>
          <a:xfrm>
            <a:off x="2392114" y="8353425"/>
            <a:ext cx="408115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10s – minutes</a:t>
            </a:r>
            <a:endParaRPr lang="en-US" sz="1800" dirty="0"/>
          </a:p>
        </p:txBody>
      </p:sp>
      <p:sp>
        <p:nvSpPr>
          <p:cNvPr id="61" name="Text 44"/>
          <p:cNvSpPr/>
          <p:nvPr/>
        </p:nvSpPr>
        <p:spPr>
          <a:xfrm>
            <a:off x="1390650" y="8705850"/>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NotoSans" pitchFamily="34" charset="0"/>
                <a:ea typeface="NotoSans" pitchFamily="34" charset="-122"/>
                <a:cs typeface="NotoSans" pitchFamily="34" charset="-120"/>
              </a:rPr>
              <a:t>AFTER</a:t>
            </a:r>
            <a:endParaRPr lang="en-US" sz="1800" dirty="0"/>
          </a:p>
        </p:txBody>
      </p:sp>
      <p:sp>
        <p:nvSpPr>
          <p:cNvPr id="62" name="Text 45"/>
          <p:cNvSpPr/>
          <p:nvPr/>
        </p:nvSpPr>
        <p:spPr>
          <a:xfrm>
            <a:off x="2392114" y="8705850"/>
            <a:ext cx="408115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Sub-second</a:t>
            </a:r>
            <a:endParaRPr lang="en-US" sz="1800" dirty="0"/>
          </a:p>
        </p:txBody>
      </p:sp>
      <p:sp>
        <p:nvSpPr>
          <p:cNvPr id="63" name="Shape 46"/>
          <p:cNvSpPr/>
          <p:nvPr/>
        </p:nvSpPr>
        <p:spPr>
          <a:xfrm>
            <a:off x="6540401" y="7791450"/>
            <a:ext cx="5207050" cy="1400175"/>
          </a:xfrm>
          <a:prstGeom prst="roundRect">
            <a:avLst>
              <a:gd name="adj" fmla="val 5442"/>
            </a:avLst>
          </a:prstGeom>
          <a:ln w="19050">
            <a:solidFill>
              <a:srgbClr val="D1D6E6"/>
            </a:solidFill>
            <a:prstDash val="solid"/>
          </a:ln>
        </p:spPr>
      </p:sp>
      <p:sp>
        <p:nvSpPr>
          <p:cNvPr id="64" name="Text 47"/>
          <p:cNvSpPr/>
          <p:nvPr/>
        </p:nvSpPr>
        <p:spPr>
          <a:xfrm>
            <a:off x="6788051" y="7962900"/>
            <a:ext cx="5182925" cy="352425"/>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NotoSans" pitchFamily="34" charset="0"/>
                <a:ea typeface="NotoSans" pitchFamily="34" charset="-122"/>
                <a:cs typeface="NotoSans" pitchFamily="34" charset="-120"/>
              </a:rPr>
              <a:t>DATA EFFICIENCY</a:t>
            </a:r>
            <a:endParaRPr lang="en-US" sz="1800" dirty="0"/>
          </a:p>
        </p:txBody>
      </p:sp>
      <p:sp>
        <p:nvSpPr>
          <p:cNvPr id="65" name="Text 48"/>
          <p:cNvSpPr/>
          <p:nvPr/>
        </p:nvSpPr>
        <p:spPr>
          <a:xfrm>
            <a:off x="6788051" y="8353425"/>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EB364B"/>
                </a:solidFill>
                <a:latin typeface="NotoSans" pitchFamily="34" charset="0"/>
                <a:ea typeface="NotoSans" pitchFamily="34" charset="-122"/>
                <a:cs typeface="NotoSans" pitchFamily="34" charset="-120"/>
              </a:rPr>
              <a:t>BEFORE</a:t>
            </a:r>
            <a:endParaRPr lang="en-US" sz="1800" dirty="0"/>
          </a:p>
        </p:txBody>
      </p:sp>
      <p:sp>
        <p:nvSpPr>
          <p:cNvPr id="66" name="Text 49"/>
          <p:cNvSpPr/>
          <p:nvPr/>
        </p:nvSpPr>
        <p:spPr>
          <a:xfrm>
            <a:off x="7789515" y="8353425"/>
            <a:ext cx="4081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Up to 95% noise data</a:t>
            </a:r>
            <a:endParaRPr lang="en-US" sz="1800" dirty="0"/>
          </a:p>
        </p:txBody>
      </p:sp>
      <p:sp>
        <p:nvSpPr>
          <p:cNvPr id="67" name="Text 50"/>
          <p:cNvSpPr/>
          <p:nvPr/>
        </p:nvSpPr>
        <p:spPr>
          <a:xfrm>
            <a:off x="6788051" y="8705850"/>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NotoSans" pitchFamily="34" charset="0"/>
                <a:ea typeface="NotoSans" pitchFamily="34" charset="-122"/>
                <a:cs typeface="NotoSans" pitchFamily="34" charset="-120"/>
              </a:rPr>
              <a:t>AFTER</a:t>
            </a:r>
            <a:endParaRPr lang="en-US" sz="1800" dirty="0"/>
          </a:p>
        </p:txBody>
      </p:sp>
      <p:sp>
        <p:nvSpPr>
          <p:cNvPr id="68" name="Text 51"/>
          <p:cNvSpPr/>
          <p:nvPr/>
        </p:nvSpPr>
        <p:spPr>
          <a:xfrm>
            <a:off x="7789515" y="8705850"/>
            <a:ext cx="4081314"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Up to 90% bandwidth savings</a:t>
            </a:r>
            <a:endParaRPr lang="en-US" sz="1800" dirty="0"/>
          </a:p>
        </p:txBody>
      </p:sp>
      <p:sp>
        <p:nvSpPr>
          <p:cNvPr id="69" name="Shape 52"/>
          <p:cNvSpPr/>
          <p:nvPr/>
        </p:nvSpPr>
        <p:spPr>
          <a:xfrm>
            <a:off x="11937950" y="7791450"/>
            <a:ext cx="5207050" cy="1400175"/>
          </a:xfrm>
          <a:prstGeom prst="roundRect">
            <a:avLst>
              <a:gd name="adj" fmla="val 5442"/>
            </a:avLst>
          </a:prstGeom>
          <a:ln w="19050">
            <a:solidFill>
              <a:srgbClr val="D1D6E6"/>
            </a:solidFill>
            <a:prstDash val="solid"/>
          </a:ln>
        </p:spPr>
      </p:sp>
      <p:sp>
        <p:nvSpPr>
          <p:cNvPr id="70" name="Text 53"/>
          <p:cNvSpPr/>
          <p:nvPr/>
        </p:nvSpPr>
        <p:spPr>
          <a:xfrm>
            <a:off x="12185600" y="7962900"/>
            <a:ext cx="5182925" cy="352425"/>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NotoSans" pitchFamily="34" charset="0"/>
                <a:ea typeface="NotoSans" pitchFamily="34" charset="-122"/>
                <a:cs typeface="NotoSans" pitchFamily="34" charset="-120"/>
              </a:rPr>
              <a:t>NETWORK RISK</a:t>
            </a:r>
            <a:endParaRPr lang="en-US" sz="1800" dirty="0"/>
          </a:p>
        </p:txBody>
      </p:sp>
      <p:sp>
        <p:nvSpPr>
          <p:cNvPr id="71" name="Text 54"/>
          <p:cNvSpPr/>
          <p:nvPr/>
        </p:nvSpPr>
        <p:spPr>
          <a:xfrm>
            <a:off x="12185600" y="8353425"/>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EB364B"/>
                </a:solidFill>
                <a:latin typeface="NotoSans" pitchFamily="34" charset="0"/>
                <a:ea typeface="NotoSans" pitchFamily="34" charset="-122"/>
                <a:cs typeface="NotoSans" pitchFamily="34" charset="-120"/>
              </a:rPr>
              <a:t>BEFORE</a:t>
            </a:r>
            <a:endParaRPr lang="en-US" sz="1800" dirty="0"/>
          </a:p>
        </p:txBody>
      </p:sp>
      <p:sp>
        <p:nvSpPr>
          <p:cNvPr id="72" name="Text 55"/>
          <p:cNvSpPr/>
          <p:nvPr/>
        </p:nvSpPr>
        <p:spPr>
          <a:xfrm>
            <a:off x="13187065" y="8353425"/>
            <a:ext cx="4081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Visibility lost in dead zones</a:t>
            </a:r>
            <a:endParaRPr lang="en-US" sz="1800" dirty="0"/>
          </a:p>
        </p:txBody>
      </p:sp>
      <p:sp>
        <p:nvSpPr>
          <p:cNvPr id="73" name="Text 56"/>
          <p:cNvSpPr/>
          <p:nvPr/>
        </p:nvSpPr>
        <p:spPr>
          <a:xfrm>
            <a:off x="12185600" y="8705850"/>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NotoSans" pitchFamily="34" charset="0"/>
                <a:ea typeface="NotoSans" pitchFamily="34" charset="-122"/>
                <a:cs typeface="NotoSans" pitchFamily="34" charset="-120"/>
              </a:rPr>
              <a:t>AFTER</a:t>
            </a:r>
            <a:endParaRPr lang="en-US" sz="1800" dirty="0"/>
          </a:p>
        </p:txBody>
      </p:sp>
      <p:sp>
        <p:nvSpPr>
          <p:cNvPr id="74" name="Text 57"/>
          <p:cNvSpPr/>
          <p:nvPr/>
        </p:nvSpPr>
        <p:spPr>
          <a:xfrm>
            <a:off x="13187065" y="8705850"/>
            <a:ext cx="4081314"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Offline autonomy</a:t>
            </a:r>
            <a:endParaRPr lang="en-US" sz="1800" dirty="0"/>
          </a:p>
        </p:txBody>
      </p:sp>
      <p:sp>
        <p:nvSpPr>
          <p:cNvPr id="75" name="Shape 58"/>
          <p:cNvSpPr/>
          <p:nvPr/>
        </p:nvSpPr>
        <p:spPr>
          <a:xfrm>
            <a:off x="1143000" y="9344025"/>
            <a:ext cx="16002000" cy="19050"/>
          </a:xfrm>
          <a:prstGeom prst="rect">
            <a:avLst/>
          </a:prstGeom>
          <a:solidFill>
            <a:srgbClr val="E2E5ED"/>
          </a:solidFill>
          <a:ln/>
        </p:spPr>
      </p:sp>
      <p:sp>
        <p:nvSpPr>
          <p:cNvPr id="76" name="Text 59"/>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77" name="Text 60"/>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609600"/>
            <a:ext cx="3093393" cy="609600"/>
          </a:xfrm>
          <a:prstGeom prst="roundRect">
            <a:avLst>
              <a:gd name="adj" fmla="val 12500"/>
            </a:avLst>
          </a:prstGeom>
          <a:solidFill>
            <a:srgbClr val="EFF1F5"/>
          </a:solidFill>
          <a:ln w="19050">
            <a:solidFill>
              <a:srgbClr val="D1D6E6"/>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47800" y="800100"/>
            <a:ext cx="228600" cy="228600"/>
          </a:xfrm>
          <a:prstGeom prst="rect">
            <a:avLst/>
          </a:prstGeom>
        </p:spPr>
      </p:pic>
      <p:sp>
        <p:nvSpPr>
          <p:cNvPr id="4" name="Text 1"/>
          <p:cNvSpPr/>
          <p:nvPr/>
        </p:nvSpPr>
        <p:spPr>
          <a:xfrm>
            <a:off x="1771650" y="757238"/>
            <a:ext cx="814685" cy="352425"/>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NotoSans" pitchFamily="34" charset="0"/>
                <a:ea typeface="NotoSans" pitchFamily="34" charset="-122"/>
                <a:cs typeface="NotoSans" pitchFamily="34" charset="-120"/>
              </a:rPr>
              <a:t>Before</a:t>
            </a:r>
            <a:endParaRPr lang="en-US" sz="1800" dirty="0"/>
          </a:p>
        </p:txBody>
      </p:sp>
      <p:sp>
        <p:nvSpPr>
          <p:cNvPr id="5" name="Shape 2"/>
          <p:cNvSpPr/>
          <p:nvPr/>
        </p:nvSpPr>
        <p:spPr>
          <a:xfrm>
            <a:off x="2814935" y="685800"/>
            <a:ext cx="1345257" cy="457200"/>
          </a:xfrm>
          <a:prstGeom prst="roundRect">
            <a:avLst>
              <a:gd name="adj" fmla="val 8333"/>
            </a:avLst>
          </a:prstGeom>
          <a:solidFill>
            <a:srgbClr val="41C464"/>
          </a:solidFill>
          <a:ln/>
        </p:spPr>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43535" y="800100"/>
            <a:ext cx="228600" cy="228600"/>
          </a:xfrm>
          <a:prstGeom prst="rect">
            <a:avLst/>
          </a:prstGeom>
        </p:spPr>
      </p:pic>
      <p:sp>
        <p:nvSpPr>
          <p:cNvPr id="7" name="Text 3"/>
          <p:cNvSpPr/>
          <p:nvPr/>
        </p:nvSpPr>
        <p:spPr>
          <a:xfrm>
            <a:off x="3367385" y="757238"/>
            <a:ext cx="640407" cy="352425"/>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NotoSans" pitchFamily="34" charset="0"/>
                <a:ea typeface="NotoSans" pitchFamily="34" charset="-122"/>
                <a:cs typeface="NotoSans" pitchFamily="34" charset="-120"/>
              </a:rPr>
              <a:t>After</a:t>
            </a:r>
            <a:endParaRPr lang="en-US" sz="1800" dirty="0"/>
          </a:p>
        </p:txBody>
      </p:sp>
      <p:sp>
        <p:nvSpPr>
          <p:cNvPr id="8" name="Text 4"/>
          <p:cNvSpPr/>
          <p:nvPr/>
        </p:nvSpPr>
        <p:spPr>
          <a:xfrm>
            <a:off x="1143000" y="1371600"/>
            <a:ext cx="17602200" cy="541883"/>
          </a:xfrm>
          <a:prstGeom prst="rect">
            <a:avLst/>
          </a:prstGeom>
          <a:noFill/>
          <a:ln/>
        </p:spPr>
        <p:txBody>
          <a:bodyPr wrap="square" lIns="25400" tIns="25400" rIns="25400" bIns="25400" rtlCol="0" anchor="t">
            <a:normAutofit/>
          </a:bodyPr>
          <a:lstStyle/>
          <a:p>
            <a:pPr algn="l" indent="0" marL="0">
              <a:lnSpc>
                <a:spcPct val="85323"/>
              </a:lnSpc>
              <a:buNone/>
            </a:pPr>
            <a:r>
              <a:rPr lang="en-US" sz="3450" b="1" spc="-34" kern="0" dirty="0">
                <a:solidFill>
                  <a:srgbClr val="1C2B34">
                    <a:alpha val="98000"/>
                  </a:srgbClr>
                </a:solidFill>
                <a:latin typeface="NotoSans" pitchFamily="34" charset="0"/>
                <a:ea typeface="NotoSans" pitchFamily="34" charset="-122"/>
                <a:cs typeface="NotoSans" pitchFamily="34" charset="-120"/>
              </a:rPr>
              <a:t>Democratizing the Edge with Resource-Constrained Hardware</a:t>
            </a:r>
            <a:endParaRPr lang="en-US" sz="3450" dirty="0"/>
          </a:p>
        </p:txBody>
      </p:sp>
      <p:sp>
        <p:nvSpPr>
          <p:cNvPr id="9" name="Shape 5"/>
          <p:cNvSpPr/>
          <p:nvPr/>
        </p:nvSpPr>
        <p:spPr>
          <a:xfrm>
            <a:off x="1143000" y="2475905"/>
            <a:ext cx="495300" cy="495300"/>
          </a:xfrm>
          <a:prstGeom prst="roundRect">
            <a:avLst>
              <a:gd name="adj" fmla="val 15385"/>
            </a:avLst>
          </a:prstGeom>
          <a:solidFill>
            <a:srgbClr val="ECF9EF"/>
          </a:solidFill>
          <a:ln/>
        </p:spPr>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7775" y="2580680"/>
            <a:ext cx="285750" cy="285750"/>
          </a:xfrm>
          <a:prstGeom prst="rect">
            <a:avLst/>
          </a:prstGeom>
        </p:spPr>
      </p:pic>
      <p:sp>
        <p:nvSpPr>
          <p:cNvPr id="11" name="Text 6"/>
          <p:cNvSpPr/>
          <p:nvPr/>
        </p:nvSpPr>
        <p:spPr>
          <a:xfrm>
            <a:off x="1828800" y="2475905"/>
            <a:ext cx="5376291" cy="1704975"/>
          </a:xfrm>
          <a:prstGeom prst="rect">
            <a:avLst/>
          </a:prstGeom>
          <a:noFill/>
          <a:ln/>
        </p:spPr>
        <p:txBody>
          <a:bodyPr wrap="square" lIns="25400" tIns="25400" rIns="25400" bIns="25400" rtlCol="0" anchor="t">
            <a:normAutofit/>
          </a:bodyPr>
          <a:lstStyle/>
          <a:p>
            <a:pPr algn="l" indent="0" marL="0">
              <a:lnSpc>
                <a:spcPct val="102941"/>
              </a:lnSpc>
              <a:buNone/>
            </a:pPr>
            <a:r>
              <a:rPr lang="en-US" sz="1875" b="1" dirty="0">
                <a:solidFill>
                  <a:srgbClr val="1C2B34">
                    <a:alpha val="98000"/>
                  </a:srgbClr>
                </a:solidFill>
                <a:latin typeface="NotoSans" pitchFamily="34" charset="0"/>
                <a:ea typeface="NotoSans" pitchFamily="34" charset="-122"/>
                <a:cs typeface="NotoSans" pitchFamily="34" charset="-120"/>
              </a:rPr>
              <a:t>Algorithmic Efficiency over Raw Power: </a:t>
            </a:r>
            <a:pPr algn="l" indent="0" marL="0">
              <a:lnSpc>
                <a:spcPct val="102941"/>
              </a:lnSpc>
              <a:buNone/>
            </a:pPr>
            <a:r>
              <a:rPr lang="en-US" sz="1875" dirty="0">
                <a:solidFill>
                  <a:srgbClr val="1C2B34">
                    <a:alpha val="98000"/>
                  </a:srgbClr>
                </a:solidFill>
                <a:latin typeface="NotoSans" pitchFamily="34" charset="0"/>
                <a:ea typeface="NotoSans" pitchFamily="34" charset="-122"/>
                <a:cs typeface="NotoSans" pitchFamily="34" charset="-120"/>
              </a:rPr>
              <a:t>Utilizing highly optimized small LLMs to run complex diagnostic reasoning on sub-$100 commodity hardware. </a:t>
            </a:r>
            <a:pPr algn="l" indent="0" marL="0">
              <a:lnSpc>
                <a:spcPct val="102941"/>
              </a:lnSpc>
              <a:buNone/>
            </a:pPr>
            <a:r>
              <a:rPr lang="en-US" sz="1800" dirty="0">
                <a:solidFill>
                  <a:srgbClr val="1C2B34">
                    <a:alpha val="50000"/>
                  </a:srgbClr>
                </a:solidFill>
                <a:latin typeface="NotoSans" pitchFamily="34" charset="0"/>
                <a:ea typeface="NotoSans" pitchFamily="34" charset="-122"/>
                <a:cs typeface="NotoSans" pitchFamily="34" charset="-120"/>
              </a:rPr>
              <a:t>Source: Raspberry Pi 4 from $35 (raspberrypi.com); 2GB $55 (PiShop.us)</a:t>
            </a:r>
            <a:endParaRPr lang="en-US" sz="1875" dirty="0"/>
          </a:p>
        </p:txBody>
      </p:sp>
      <p:sp>
        <p:nvSpPr>
          <p:cNvPr id="12" name="Shape 7"/>
          <p:cNvSpPr/>
          <p:nvPr/>
        </p:nvSpPr>
        <p:spPr>
          <a:xfrm>
            <a:off x="1143000" y="4333280"/>
            <a:ext cx="495300" cy="495300"/>
          </a:xfrm>
          <a:prstGeom prst="roundRect">
            <a:avLst>
              <a:gd name="adj" fmla="val 15385"/>
            </a:avLst>
          </a:prstGeom>
          <a:solidFill>
            <a:srgbClr val="ECF9EF"/>
          </a:solidFill>
          <a:ln/>
        </p:spPr>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47775" y="4438055"/>
            <a:ext cx="285750" cy="285750"/>
          </a:xfrm>
          <a:prstGeom prst="rect">
            <a:avLst/>
          </a:prstGeom>
        </p:spPr>
      </p:pic>
      <p:sp>
        <p:nvSpPr>
          <p:cNvPr id="14" name="Text 8"/>
          <p:cNvSpPr/>
          <p:nvPr/>
        </p:nvSpPr>
        <p:spPr>
          <a:xfrm>
            <a:off x="1828800" y="4333280"/>
            <a:ext cx="5376291"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b="1" dirty="0">
                <a:solidFill>
                  <a:srgbClr val="1C2B34">
                    <a:alpha val="98000"/>
                  </a:srgbClr>
                </a:solidFill>
                <a:latin typeface="NotoSans" pitchFamily="34" charset="0"/>
                <a:ea typeface="NotoSans" pitchFamily="34" charset="-122"/>
                <a:cs typeface="NotoSans" pitchFamily="34" charset="-120"/>
              </a:rPr>
              <a:t>Localized Diagnostic Autonomy: </a:t>
            </a:r>
            <a:pPr algn="l" indent="0" marL="0">
              <a:lnSpc>
                <a:spcPct val="102941"/>
              </a:lnSpc>
              <a:buNone/>
            </a:pPr>
            <a:r>
              <a:rPr lang="en-US" sz="1875" dirty="0">
                <a:solidFill>
                  <a:srgbClr val="1C2B34">
                    <a:alpha val="98000"/>
                  </a:srgbClr>
                </a:solidFill>
                <a:latin typeface="NotoSans" pitchFamily="34" charset="0"/>
                <a:ea typeface="NotoSans" pitchFamily="34" charset="-122"/>
                <a:cs typeface="NotoSans" pitchFamily="34" charset="-120"/>
              </a:rPr>
              <a:t>The edge device acts as an intelligent gatekeeper, running real-time inference on vehicle telematics without a cloud connection.</a:t>
            </a:r>
            <a:endParaRPr lang="en-US" sz="1875" dirty="0"/>
          </a:p>
        </p:txBody>
      </p:sp>
      <p:sp>
        <p:nvSpPr>
          <p:cNvPr id="15" name="Shape 9"/>
          <p:cNvSpPr/>
          <p:nvPr/>
        </p:nvSpPr>
        <p:spPr>
          <a:xfrm>
            <a:off x="1143000" y="5857280"/>
            <a:ext cx="495300" cy="495300"/>
          </a:xfrm>
          <a:prstGeom prst="roundRect">
            <a:avLst>
              <a:gd name="adj" fmla="val 15385"/>
            </a:avLst>
          </a:prstGeom>
          <a:solidFill>
            <a:srgbClr val="ECF9EF"/>
          </a:solidFill>
          <a:ln/>
        </p:spPr>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7775" y="5962055"/>
            <a:ext cx="285750" cy="285750"/>
          </a:xfrm>
          <a:prstGeom prst="rect">
            <a:avLst/>
          </a:prstGeom>
        </p:spPr>
      </p:pic>
      <p:sp>
        <p:nvSpPr>
          <p:cNvPr id="17" name="Text 10"/>
          <p:cNvSpPr/>
          <p:nvPr/>
        </p:nvSpPr>
        <p:spPr>
          <a:xfrm>
            <a:off x="1828800" y="5857280"/>
            <a:ext cx="5376291"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b="1" dirty="0">
                <a:solidFill>
                  <a:srgbClr val="1C2B34">
                    <a:alpha val="98000"/>
                  </a:srgbClr>
                </a:solidFill>
                <a:latin typeface="NotoSans" pitchFamily="34" charset="0"/>
                <a:ea typeface="NotoSans" pitchFamily="34" charset="-122"/>
                <a:cs typeface="NotoSans" pitchFamily="34" charset="-120"/>
              </a:rPr>
              <a:t>Frictionless Fleet Scaling: </a:t>
            </a:r>
            <a:pPr algn="l" indent="0" marL="0">
              <a:lnSpc>
                <a:spcPct val="102941"/>
              </a:lnSpc>
              <a:buNone/>
            </a:pPr>
            <a:r>
              <a:rPr lang="en-US" sz="1875" dirty="0">
                <a:solidFill>
                  <a:srgbClr val="1C2B34">
                    <a:alpha val="98000"/>
                  </a:srgbClr>
                </a:solidFill>
                <a:latin typeface="NotoSans" pitchFamily="34" charset="0"/>
                <a:ea typeface="NotoSans" pitchFamily="34" charset="-122"/>
                <a:cs typeface="NotoSans" pitchFamily="34" charset="-120"/>
              </a:rPr>
              <a:t>Shifting to low-footprint hardware drives down hardware deployment costs compared to traditional AV computing platforms.</a:t>
            </a:r>
            <a:endParaRPr lang="en-US" sz="1875" dirty="0"/>
          </a:p>
        </p:txBody>
      </p:sp>
      <p:sp>
        <p:nvSpPr>
          <p:cNvPr id="18" name="Shape 11"/>
          <p:cNvSpPr/>
          <p:nvPr/>
        </p:nvSpPr>
        <p:spPr>
          <a:xfrm>
            <a:off x="7620000" y="2090142"/>
            <a:ext cx="9525000" cy="952500"/>
          </a:xfrm>
          <a:prstGeom prst="roundRect">
            <a:avLst>
              <a:gd name="adj" fmla="val 8000"/>
            </a:avLst>
          </a:prstGeom>
          <a:solidFill>
            <a:srgbClr val="FFFFFF"/>
          </a:solidFill>
          <a:ln w="19050">
            <a:solidFill>
              <a:srgbClr val="41C464"/>
            </a:solidFill>
            <a:prstDash val="solid"/>
          </a:ln>
        </p:spPr>
      </p:sp>
      <p:sp>
        <p:nvSpPr>
          <p:cNvPr id="19" name="Shape 12"/>
          <p:cNvSpPr/>
          <p:nvPr/>
        </p:nvSpPr>
        <p:spPr>
          <a:xfrm>
            <a:off x="7848600" y="2261592"/>
            <a:ext cx="609600" cy="609600"/>
          </a:xfrm>
          <a:prstGeom prst="roundRect">
            <a:avLst>
              <a:gd name="adj" fmla="val 12500"/>
            </a:avLst>
          </a:prstGeom>
          <a:solidFill>
            <a:srgbClr val="ECF9EF"/>
          </a:solidFill>
          <a:ln/>
        </p:spPr>
      </p:sp>
      <p:pic>
        <p:nvPicPr>
          <p:cNvPr id="2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72425" y="2385417"/>
            <a:ext cx="361950" cy="361950"/>
          </a:xfrm>
          <a:prstGeom prst="rect">
            <a:avLst/>
          </a:prstGeom>
        </p:spPr>
      </p:pic>
      <p:sp>
        <p:nvSpPr>
          <p:cNvPr id="21" name="Text 13"/>
          <p:cNvSpPr/>
          <p:nvPr/>
        </p:nvSpPr>
        <p:spPr>
          <a:xfrm>
            <a:off x="8648700" y="2259657"/>
            <a:ext cx="7852395" cy="289471"/>
          </a:xfrm>
          <a:prstGeom prst="rect">
            <a:avLst/>
          </a:prstGeom>
          <a:noFill/>
          <a:ln/>
        </p:spPr>
        <p:txBody>
          <a:bodyPr wrap="none" lIns="25400" tIns="25400" rIns="25400" bIns="25400" rtlCol="0" anchor="t">
            <a:normAutofit/>
          </a:bodyPr>
          <a:lstStyle/>
          <a:p>
            <a:pPr algn="l" indent="0" marL="0">
              <a:lnSpc>
                <a:spcPct val="88000"/>
              </a:lnSpc>
              <a:buNone/>
            </a:pPr>
            <a:r>
              <a:rPr lang="en-US" sz="1650" b="1" dirty="0">
                <a:solidFill>
                  <a:srgbClr val="1C2B34">
                    <a:alpha val="98000"/>
                  </a:srgbClr>
                </a:solidFill>
                <a:latin typeface="NotoSans" pitchFamily="34" charset="0"/>
                <a:ea typeface="NotoSans" pitchFamily="34" charset="-122"/>
                <a:cs typeface="NotoSans" pitchFamily="34" charset="-120"/>
              </a:rPr>
              <a:t>Commodity Edge Node </a:t>
            </a:r>
            <a:pPr algn="l" indent="0" marL="0">
              <a:lnSpc>
                <a:spcPct val="88000"/>
              </a:lnSpc>
              <a:buNone/>
            </a:pPr>
            <a:r>
              <a:rPr lang="en-US" sz="1650" dirty="0">
                <a:solidFill>
                  <a:srgbClr val="1C2B34">
                    <a:alpha val="68000"/>
                  </a:srgbClr>
                </a:solidFill>
                <a:latin typeface="NotoSans" pitchFamily="34" charset="0"/>
                <a:ea typeface="NotoSans" pitchFamily="34" charset="-122"/>
                <a:cs typeface="NotoSans" pitchFamily="34" charset="-120"/>
              </a:rPr>
              <a:t>(Raspberry Pi 4 Class Hardware / 4GB-8GB RAM)</a:t>
            </a:r>
            <a:endParaRPr lang="en-US" sz="1650" dirty="0"/>
          </a:p>
        </p:txBody>
      </p:sp>
      <p:sp>
        <p:nvSpPr>
          <p:cNvPr id="22" name="Shape 14"/>
          <p:cNvSpPr/>
          <p:nvPr/>
        </p:nvSpPr>
        <p:spPr>
          <a:xfrm>
            <a:off x="8648700" y="2568178"/>
            <a:ext cx="3806130" cy="304800"/>
          </a:xfrm>
          <a:prstGeom prst="roundRect">
            <a:avLst>
              <a:gd name="adj" fmla="val 12500"/>
            </a:avLst>
          </a:prstGeom>
          <a:solidFill>
            <a:srgbClr val="ECF9EF"/>
          </a:solidFill>
          <a:ln/>
        </p:spPr>
      </p:sp>
      <p:pic>
        <p:nvPicPr>
          <p:cNvPr id="2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63000" y="2625328"/>
            <a:ext cx="190500" cy="190500"/>
          </a:xfrm>
          <a:prstGeom prst="rect">
            <a:avLst/>
          </a:prstGeom>
        </p:spPr>
      </p:pic>
      <p:sp>
        <p:nvSpPr>
          <p:cNvPr id="24" name="Text 15"/>
          <p:cNvSpPr/>
          <p:nvPr/>
        </p:nvSpPr>
        <p:spPr>
          <a:xfrm>
            <a:off x="9029700" y="2591991"/>
            <a:ext cx="3410155" cy="295275"/>
          </a:xfrm>
          <a:prstGeom prst="rect">
            <a:avLst/>
          </a:prstGeom>
          <a:noFill/>
          <a:ln/>
        </p:spPr>
        <p:txBody>
          <a:bodyPr wrap="square" lIns="0" tIns="0" rIns="0" bIns="0" rtlCol="0" anchor="t">
            <a:normAutofit/>
          </a:bodyPr>
          <a:lstStyle/>
          <a:p>
            <a:pPr algn="l" indent="0" marL="0">
              <a:buNone/>
            </a:pPr>
            <a:r>
              <a:rPr lang="en-US" sz="1500" b="1" dirty="0">
                <a:solidFill>
                  <a:srgbClr val="2A7E41"/>
                </a:solidFill>
                <a:latin typeface="NotoSans" pitchFamily="34" charset="0"/>
                <a:ea typeface="NotoSans" pitchFamily="34" charset="-122"/>
                <a:cs typeface="NotoSans" pitchFamily="34" charset="-120"/>
              </a:rPr>
              <a:t>Small LLM · Edge Diagnostics Model</a:t>
            </a:r>
            <a:endParaRPr lang="en-US" sz="1500" dirty="0"/>
          </a:p>
        </p:txBody>
      </p:sp>
      <p:sp>
        <p:nvSpPr>
          <p:cNvPr id="25" name="Shape 16"/>
          <p:cNvSpPr/>
          <p:nvPr/>
        </p:nvSpPr>
        <p:spPr>
          <a:xfrm>
            <a:off x="7739658" y="3233142"/>
            <a:ext cx="1570286" cy="381000"/>
          </a:xfrm>
          <a:prstGeom prst="roundRect">
            <a:avLst>
              <a:gd name="adj" fmla="val 10000"/>
            </a:avLst>
          </a:prstGeom>
          <a:solidFill>
            <a:srgbClr val="ECF9EF"/>
          </a:solidFill>
          <a:ln/>
        </p:spPr>
      </p:sp>
      <p:sp>
        <p:nvSpPr>
          <p:cNvPr id="26" name="Text 17"/>
          <p:cNvSpPr/>
          <p:nvPr/>
        </p:nvSpPr>
        <p:spPr>
          <a:xfrm>
            <a:off x="7873008" y="3233142"/>
            <a:ext cx="1379786" cy="419100"/>
          </a:xfrm>
          <a:prstGeom prst="rect">
            <a:avLst/>
          </a:prstGeom>
          <a:noFill/>
          <a:ln/>
        </p:spPr>
        <p:txBody>
          <a:bodyPr wrap="none" lIns="25400" tIns="25400" rIns="25400" bIns="25400" rtlCol="0" anchor="ctr">
            <a:normAutofit/>
          </a:bodyPr>
          <a:lstStyle/>
          <a:p>
            <a:pPr algn="l" indent="0" marL="0">
              <a:buNone/>
            </a:pPr>
            <a:r>
              <a:rPr lang="en-US" sz="1800" b="1" dirty="0">
                <a:solidFill>
                  <a:srgbClr val="2A7E41"/>
                </a:solidFill>
                <a:latin typeface="NotoSans" pitchFamily="34" charset="0"/>
                <a:ea typeface="NotoSans" pitchFamily="34" charset="-122"/>
                <a:cs typeface="NotoSans" pitchFamily="34" charset="-120"/>
              </a:rPr>
              <a:t>Smart Edge</a:t>
            </a:r>
            <a:endParaRPr lang="en-US" sz="1800" dirty="0"/>
          </a:p>
        </p:txBody>
      </p:sp>
      <p:sp>
        <p:nvSpPr>
          <p:cNvPr id="27" name="Shape 18"/>
          <p:cNvSpPr/>
          <p:nvPr/>
        </p:nvSpPr>
        <p:spPr>
          <a:xfrm>
            <a:off x="7620000" y="3728442"/>
            <a:ext cx="1809750" cy="952500"/>
          </a:xfrm>
          <a:prstGeom prst="roundRect">
            <a:avLst>
              <a:gd name="adj" fmla="val 8000"/>
            </a:avLst>
          </a:prstGeom>
          <a:solidFill>
            <a:srgbClr val="ECF9EF"/>
          </a:solidFill>
          <a:ln w="19050">
            <a:solidFill>
              <a:srgbClr val="41C464"/>
            </a:solidFill>
            <a:prstDash val="solid"/>
          </a:ln>
        </p:spPr>
      </p:sp>
      <p:pic>
        <p:nvPicPr>
          <p:cNvPr id="2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991475" y="3937992"/>
            <a:ext cx="533400" cy="533400"/>
          </a:xfrm>
          <a:prstGeom prst="rect">
            <a:avLst/>
          </a:prstGeom>
        </p:spPr>
      </p:pic>
      <p:sp>
        <p:nvSpPr>
          <p:cNvPr id="29" name="Shape 19"/>
          <p:cNvSpPr/>
          <p:nvPr/>
        </p:nvSpPr>
        <p:spPr>
          <a:xfrm>
            <a:off x="8658225" y="3795117"/>
            <a:ext cx="400050" cy="400050"/>
          </a:xfrm>
          <a:prstGeom prst="roundRect">
            <a:avLst>
              <a:gd name="adj" fmla="val 9524"/>
            </a:avLst>
          </a:prstGeom>
          <a:solidFill>
            <a:srgbClr val="FFFFFF"/>
          </a:solidFill>
          <a:ln w="19050">
            <a:solidFill>
              <a:srgbClr val="41C464"/>
            </a:solidFill>
            <a:prstDash val="solid"/>
          </a:ln>
        </p:spPr>
      </p:sp>
      <p:pic>
        <p:nvPicPr>
          <p:cNvPr id="3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753475" y="3890367"/>
            <a:ext cx="209550" cy="209550"/>
          </a:xfrm>
          <a:prstGeom prst="rect">
            <a:avLst/>
          </a:prstGeom>
        </p:spPr>
      </p:pic>
      <p:sp>
        <p:nvSpPr>
          <p:cNvPr id="31" name="Shape 20"/>
          <p:cNvSpPr/>
          <p:nvPr/>
        </p:nvSpPr>
        <p:spPr>
          <a:xfrm>
            <a:off x="8658225" y="4252317"/>
            <a:ext cx="361950" cy="361950"/>
          </a:xfrm>
          <a:prstGeom prst="ellipse">
            <a:avLst/>
          </a:prstGeom>
          <a:solidFill>
            <a:srgbClr val="41C464"/>
          </a:solidFill>
          <a:ln/>
        </p:spPr>
      </p:sp>
      <p:pic>
        <p:nvPicPr>
          <p:cNvPr id="32"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743950" y="4338042"/>
            <a:ext cx="190500" cy="190500"/>
          </a:xfrm>
          <a:prstGeom prst="rect">
            <a:avLst/>
          </a:prstGeom>
        </p:spPr>
      </p:pic>
      <p:sp>
        <p:nvSpPr>
          <p:cNvPr id="33" name="Shape 21"/>
          <p:cNvSpPr/>
          <p:nvPr/>
        </p:nvSpPr>
        <p:spPr>
          <a:xfrm>
            <a:off x="7620000" y="4871442"/>
            <a:ext cx="1809750" cy="952500"/>
          </a:xfrm>
          <a:prstGeom prst="roundRect">
            <a:avLst>
              <a:gd name="adj" fmla="val 8000"/>
            </a:avLst>
          </a:prstGeom>
          <a:solidFill>
            <a:srgbClr val="ECF9EF"/>
          </a:solidFill>
          <a:ln w="19050">
            <a:solidFill>
              <a:srgbClr val="41C464"/>
            </a:solidFill>
            <a:prstDash val="solid"/>
          </a:ln>
        </p:spPr>
      </p:sp>
      <p:pic>
        <p:nvPicPr>
          <p:cNvPr id="34"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991475" y="5080992"/>
            <a:ext cx="533400" cy="533400"/>
          </a:xfrm>
          <a:prstGeom prst="rect">
            <a:avLst/>
          </a:prstGeom>
        </p:spPr>
      </p:pic>
      <p:sp>
        <p:nvSpPr>
          <p:cNvPr id="35" name="Shape 22"/>
          <p:cNvSpPr/>
          <p:nvPr/>
        </p:nvSpPr>
        <p:spPr>
          <a:xfrm>
            <a:off x="8658225" y="4938117"/>
            <a:ext cx="400050" cy="400050"/>
          </a:xfrm>
          <a:prstGeom prst="roundRect">
            <a:avLst>
              <a:gd name="adj" fmla="val 9524"/>
            </a:avLst>
          </a:prstGeom>
          <a:solidFill>
            <a:srgbClr val="FFFFFF"/>
          </a:solidFill>
          <a:ln w="19050">
            <a:solidFill>
              <a:srgbClr val="41C464"/>
            </a:solidFill>
            <a:prstDash val="solid"/>
          </a:ln>
        </p:spPr>
      </p:sp>
      <p:pic>
        <p:nvPicPr>
          <p:cNvPr id="36"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753475" y="5033367"/>
            <a:ext cx="209550" cy="209550"/>
          </a:xfrm>
          <a:prstGeom prst="rect">
            <a:avLst/>
          </a:prstGeom>
        </p:spPr>
      </p:pic>
      <p:sp>
        <p:nvSpPr>
          <p:cNvPr id="37" name="Shape 23"/>
          <p:cNvSpPr/>
          <p:nvPr/>
        </p:nvSpPr>
        <p:spPr>
          <a:xfrm>
            <a:off x="8658225" y="5395317"/>
            <a:ext cx="361950" cy="361950"/>
          </a:xfrm>
          <a:prstGeom prst="ellipse">
            <a:avLst/>
          </a:prstGeom>
          <a:solidFill>
            <a:srgbClr val="41C464"/>
          </a:solidFill>
          <a:ln/>
        </p:spPr>
      </p:sp>
      <p:pic>
        <p:nvPicPr>
          <p:cNvPr id="38"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743950" y="5481042"/>
            <a:ext cx="190500" cy="190500"/>
          </a:xfrm>
          <a:prstGeom prst="rect">
            <a:avLst/>
          </a:prstGeom>
        </p:spPr>
      </p:pic>
      <p:sp>
        <p:nvSpPr>
          <p:cNvPr id="39" name="Shape 24"/>
          <p:cNvSpPr/>
          <p:nvPr/>
        </p:nvSpPr>
        <p:spPr>
          <a:xfrm>
            <a:off x="7620000" y="6014442"/>
            <a:ext cx="1809750" cy="952500"/>
          </a:xfrm>
          <a:prstGeom prst="roundRect">
            <a:avLst>
              <a:gd name="adj" fmla="val 8000"/>
            </a:avLst>
          </a:prstGeom>
          <a:solidFill>
            <a:srgbClr val="ECF9EF"/>
          </a:solidFill>
          <a:ln w="19050">
            <a:solidFill>
              <a:srgbClr val="41C464"/>
            </a:solidFill>
            <a:prstDash val="solid"/>
          </a:ln>
        </p:spPr>
      </p:sp>
      <p:pic>
        <p:nvPicPr>
          <p:cNvPr id="40"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7991475" y="6223992"/>
            <a:ext cx="533400" cy="533400"/>
          </a:xfrm>
          <a:prstGeom prst="rect">
            <a:avLst/>
          </a:prstGeom>
        </p:spPr>
      </p:pic>
      <p:sp>
        <p:nvSpPr>
          <p:cNvPr id="41" name="Shape 25"/>
          <p:cNvSpPr/>
          <p:nvPr/>
        </p:nvSpPr>
        <p:spPr>
          <a:xfrm>
            <a:off x="8658225" y="6081117"/>
            <a:ext cx="400050" cy="400050"/>
          </a:xfrm>
          <a:prstGeom prst="roundRect">
            <a:avLst>
              <a:gd name="adj" fmla="val 9524"/>
            </a:avLst>
          </a:prstGeom>
          <a:solidFill>
            <a:srgbClr val="FFFFFF"/>
          </a:solidFill>
          <a:ln w="19050">
            <a:solidFill>
              <a:srgbClr val="41C464"/>
            </a:solidFill>
            <a:prstDash val="solid"/>
          </a:ln>
        </p:spPr>
      </p:sp>
      <p:pic>
        <p:nvPicPr>
          <p:cNvPr id="42"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753475" y="6176367"/>
            <a:ext cx="209550" cy="209550"/>
          </a:xfrm>
          <a:prstGeom prst="rect">
            <a:avLst/>
          </a:prstGeom>
        </p:spPr>
      </p:pic>
      <p:sp>
        <p:nvSpPr>
          <p:cNvPr id="43" name="Shape 26"/>
          <p:cNvSpPr/>
          <p:nvPr/>
        </p:nvSpPr>
        <p:spPr>
          <a:xfrm>
            <a:off x="8658225" y="6538317"/>
            <a:ext cx="361950" cy="361950"/>
          </a:xfrm>
          <a:prstGeom prst="ellipse">
            <a:avLst/>
          </a:prstGeom>
          <a:solidFill>
            <a:srgbClr val="41C464"/>
          </a:solidFill>
          <a:ln/>
        </p:spPr>
      </p:sp>
      <p:pic>
        <p:nvPicPr>
          <p:cNvPr id="44"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8743950" y="6624042"/>
            <a:ext cx="190500" cy="190500"/>
          </a:xfrm>
          <a:prstGeom prst="rect">
            <a:avLst/>
          </a:prstGeom>
        </p:spPr>
      </p:pic>
      <p:pic>
        <p:nvPicPr>
          <p:cNvPr id="45" name="Image 16" descr="preencoded.png">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7620000" y="7062192"/>
            <a:ext cx="209550" cy="209550"/>
          </a:xfrm>
          <a:prstGeom prst="rect">
            <a:avLst/>
          </a:prstGeom>
        </p:spPr>
      </p:pic>
      <p:sp>
        <p:nvSpPr>
          <p:cNvPr id="46" name="Text 27"/>
          <p:cNvSpPr/>
          <p:nvPr/>
        </p:nvSpPr>
        <p:spPr>
          <a:xfrm>
            <a:off x="7867650" y="7062192"/>
            <a:ext cx="1600200" cy="586680"/>
          </a:xfrm>
          <a:prstGeom prst="rect">
            <a:avLst/>
          </a:prstGeom>
          <a:noFill/>
          <a:ln/>
        </p:spPr>
        <p:txBody>
          <a:bodyPr wrap="square" lIns="25400" tIns="25400" rIns="25400" bIns="25400" rtlCol="0" anchor="t">
            <a:normAutofit/>
          </a:bodyPr>
          <a:lstStyle/>
          <a:p>
            <a:pPr algn="ctr" indent="0" marL="0">
              <a:lnSpc>
                <a:spcPct val="87273"/>
              </a:lnSpc>
              <a:buNone/>
            </a:pPr>
            <a:r>
              <a:rPr lang="en-US" sz="1800" b="1" dirty="0">
                <a:solidFill>
                  <a:srgbClr val="2A7E41"/>
                </a:solidFill>
                <a:latin typeface="NotoSans" pitchFamily="34" charset="0"/>
                <a:ea typeface="NotoSans" pitchFamily="34" charset="-122"/>
                <a:cs typeface="NotoSans" pitchFamily="34" charset="-120"/>
              </a:rPr>
              <a:t>Sub-second Local Action</a:t>
            </a:r>
            <a:endParaRPr lang="en-US" sz="1800" dirty="0"/>
          </a:p>
        </p:txBody>
      </p:sp>
      <p:pic>
        <p:nvPicPr>
          <p:cNvPr id="47" name="Image 17" descr="preencoded.png">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7620000" y="2090142"/>
            <a:ext cx="9525000" cy="5486400"/>
          </a:xfrm>
          <a:prstGeom prst="rect">
            <a:avLst/>
          </a:prstGeom>
        </p:spPr>
      </p:pic>
      <p:pic>
        <p:nvPicPr>
          <p:cNvPr id="48" name="Image 18" descr="preencoded.png">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9753600" y="6700242"/>
            <a:ext cx="247650" cy="247650"/>
          </a:xfrm>
          <a:prstGeom prst="rect">
            <a:avLst/>
          </a:prstGeom>
        </p:spPr>
      </p:pic>
      <p:sp>
        <p:nvSpPr>
          <p:cNvPr id="49" name="Text 28"/>
          <p:cNvSpPr/>
          <p:nvPr/>
        </p:nvSpPr>
        <p:spPr>
          <a:xfrm>
            <a:off x="10096500" y="6700242"/>
            <a:ext cx="2982468" cy="963662"/>
          </a:xfrm>
          <a:prstGeom prst="rect">
            <a:avLst/>
          </a:prstGeom>
          <a:noFill/>
          <a:ln/>
        </p:spPr>
        <p:txBody>
          <a:bodyPr wrap="square" lIns="25400" tIns="25400" rIns="25400" bIns="25400" rtlCol="0" anchor="t">
            <a:normAutofit/>
          </a:bodyPr>
          <a:lstStyle/>
          <a:p>
            <a:pPr algn="l" indent="0" marL="0">
              <a:lnSpc>
                <a:spcPct val="98182"/>
              </a:lnSpc>
              <a:buNone/>
            </a:pPr>
            <a:r>
              <a:rPr lang="en-US" sz="1800" b="1" dirty="0">
                <a:solidFill>
                  <a:srgbClr val="00847E"/>
                </a:solidFill>
                <a:latin typeface="NotoSans" pitchFamily="34" charset="0"/>
                <a:ea typeface="NotoSans" pitchFamily="34" charset="-122"/>
                <a:cs typeface="NotoSans" pitchFamily="34" charset="-120"/>
              </a:rPr>
              <a:t>Filtered Anomalies Only (Up to 90% Bandwidth Savings)</a:t>
            </a:r>
            <a:endParaRPr lang="en-US" sz="1800" dirty="0"/>
          </a:p>
        </p:txBody>
      </p:sp>
      <p:sp>
        <p:nvSpPr>
          <p:cNvPr id="50" name="Shape 29"/>
          <p:cNvSpPr/>
          <p:nvPr/>
        </p:nvSpPr>
        <p:spPr>
          <a:xfrm>
            <a:off x="13144500" y="3937992"/>
            <a:ext cx="4000500" cy="2819400"/>
          </a:xfrm>
          <a:prstGeom prst="roundRect">
            <a:avLst>
              <a:gd name="adj" fmla="val 2703"/>
            </a:avLst>
          </a:prstGeom>
          <a:solidFill>
            <a:srgbClr val="FFFFFF"/>
          </a:solidFill>
          <a:ln w="28575">
            <a:solidFill>
              <a:srgbClr val="41C464"/>
            </a:solidFill>
            <a:prstDash val="solid"/>
          </a:ln>
        </p:spPr>
      </p:sp>
      <p:pic>
        <p:nvPicPr>
          <p:cNvPr id="51" name="Image 19" descr="preencoded.png">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3420725" y="4233267"/>
            <a:ext cx="323850" cy="323850"/>
          </a:xfrm>
          <a:prstGeom prst="rect">
            <a:avLst/>
          </a:prstGeom>
        </p:spPr>
      </p:pic>
      <p:sp>
        <p:nvSpPr>
          <p:cNvPr id="52" name="Text 30"/>
          <p:cNvSpPr/>
          <p:nvPr/>
        </p:nvSpPr>
        <p:spPr>
          <a:xfrm>
            <a:off x="13858875" y="4214217"/>
            <a:ext cx="2228255" cy="400050"/>
          </a:xfrm>
          <a:prstGeom prst="rect">
            <a:avLst/>
          </a:prstGeom>
          <a:noFill/>
          <a:ln/>
        </p:spPr>
        <p:txBody>
          <a:bodyPr wrap="none" lIns="0" tIns="0" rIns="0" bIns="0" rtlCol="0" anchor="t">
            <a:normAutofit/>
          </a:bodyPr>
          <a:lstStyle/>
          <a:p>
            <a:pPr algn="l" indent="0" marL="0">
              <a:buNone/>
            </a:pPr>
            <a:r>
              <a:rPr lang="en-US" sz="2100" b="1" dirty="0">
                <a:solidFill>
                  <a:srgbClr val="1C2B34">
                    <a:alpha val="98000"/>
                  </a:srgbClr>
                </a:solidFill>
                <a:latin typeface="NotoSans" pitchFamily="34" charset="0"/>
                <a:ea typeface="NotoSans" pitchFamily="34" charset="-122"/>
                <a:cs typeface="NotoSans" pitchFamily="34" charset="-120"/>
              </a:rPr>
              <a:t>Lean Cloud Core</a:t>
            </a:r>
            <a:endParaRPr lang="en-US" sz="2100" dirty="0"/>
          </a:p>
        </p:txBody>
      </p:sp>
      <p:sp>
        <p:nvSpPr>
          <p:cNvPr id="53" name="Shape 31"/>
          <p:cNvSpPr/>
          <p:nvPr/>
        </p:nvSpPr>
        <p:spPr>
          <a:xfrm>
            <a:off x="13420725" y="4766667"/>
            <a:ext cx="3436144" cy="400050"/>
          </a:xfrm>
          <a:prstGeom prst="roundRect">
            <a:avLst>
              <a:gd name="adj" fmla="val 9524"/>
            </a:avLst>
          </a:prstGeom>
          <a:solidFill>
            <a:srgbClr val="41C464"/>
          </a:solidFill>
          <a:ln/>
        </p:spPr>
      </p:sp>
      <p:pic>
        <p:nvPicPr>
          <p:cNvPr id="54" name="Image 20" descr="preencoded.png">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3535025" y="4871442"/>
            <a:ext cx="190500" cy="190500"/>
          </a:xfrm>
          <a:prstGeom prst="rect">
            <a:avLst/>
          </a:prstGeom>
        </p:spPr>
      </p:pic>
      <p:sp>
        <p:nvSpPr>
          <p:cNvPr id="55" name="Text 32"/>
          <p:cNvSpPr/>
          <p:nvPr/>
        </p:nvSpPr>
        <p:spPr>
          <a:xfrm>
            <a:off x="13801725" y="4804767"/>
            <a:ext cx="3029069" cy="352425"/>
          </a:xfrm>
          <a:prstGeom prst="rect">
            <a:avLst/>
          </a:prstGeom>
          <a:noFill/>
          <a:ln/>
        </p:spPr>
        <p:txBody>
          <a:bodyPr wrap="square" lIns="0" tIns="0" rIns="0" bIns="0" rtlCol="0" anchor="t">
            <a:normAutofit/>
          </a:bodyPr>
          <a:lstStyle/>
          <a:p>
            <a:pPr algn="l" indent="0" marL="0">
              <a:lnSpc>
                <a:spcPct val="90909"/>
              </a:lnSpc>
              <a:buNone/>
            </a:pPr>
            <a:r>
              <a:rPr lang="en-US" sz="1800" b="1" dirty="0">
                <a:solidFill>
                  <a:srgbClr val="FFFFFF"/>
                </a:solidFill>
                <a:latin typeface="NotoSans" pitchFamily="34" charset="0"/>
                <a:ea typeface="NotoSans" pitchFamily="34" charset="-122"/>
                <a:cs typeface="NotoSans" pitchFamily="34" charset="-120"/>
              </a:rPr>
              <a:t>Operations Control Center</a:t>
            </a:r>
            <a:endParaRPr lang="en-US" sz="1800" dirty="0"/>
          </a:p>
        </p:txBody>
      </p:sp>
      <p:sp>
        <p:nvSpPr>
          <p:cNvPr id="56" name="Shape 33"/>
          <p:cNvSpPr/>
          <p:nvPr/>
        </p:nvSpPr>
        <p:spPr>
          <a:xfrm>
            <a:off x="13420725" y="5985867"/>
            <a:ext cx="495300" cy="495300"/>
          </a:xfrm>
          <a:prstGeom prst="roundRect">
            <a:avLst>
              <a:gd name="adj" fmla="val 15385"/>
            </a:avLst>
          </a:prstGeom>
          <a:solidFill>
            <a:srgbClr val="ECF9EF"/>
          </a:solidFill>
          <a:ln/>
        </p:spPr>
      </p:sp>
      <p:pic>
        <p:nvPicPr>
          <p:cNvPr id="57" name="Image 21" descr="preencoded.png">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3535025" y="6100167"/>
            <a:ext cx="266700" cy="266700"/>
          </a:xfrm>
          <a:prstGeom prst="rect">
            <a:avLst/>
          </a:prstGeom>
        </p:spPr>
      </p:pic>
      <p:sp>
        <p:nvSpPr>
          <p:cNvPr id="58" name="Shape 34"/>
          <p:cNvSpPr/>
          <p:nvPr/>
        </p:nvSpPr>
        <p:spPr>
          <a:xfrm>
            <a:off x="14030325" y="5985867"/>
            <a:ext cx="495300" cy="495300"/>
          </a:xfrm>
          <a:prstGeom prst="roundRect">
            <a:avLst>
              <a:gd name="adj" fmla="val 15385"/>
            </a:avLst>
          </a:prstGeom>
          <a:solidFill>
            <a:srgbClr val="ECF9EF"/>
          </a:solidFill>
          <a:ln/>
        </p:spPr>
      </p:sp>
      <p:pic>
        <p:nvPicPr>
          <p:cNvPr id="59" name="Image 22" descr="preencoded.png">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4144625" y="6100167"/>
            <a:ext cx="266700" cy="266700"/>
          </a:xfrm>
          <a:prstGeom prst="rect">
            <a:avLst/>
          </a:prstGeom>
        </p:spPr>
      </p:pic>
      <p:sp>
        <p:nvSpPr>
          <p:cNvPr id="60" name="Shape 35"/>
          <p:cNvSpPr/>
          <p:nvPr/>
        </p:nvSpPr>
        <p:spPr>
          <a:xfrm>
            <a:off x="14639925" y="5985867"/>
            <a:ext cx="495300" cy="495300"/>
          </a:xfrm>
          <a:prstGeom prst="roundRect">
            <a:avLst>
              <a:gd name="adj" fmla="val 15385"/>
            </a:avLst>
          </a:prstGeom>
          <a:solidFill>
            <a:srgbClr val="ECF9EF"/>
          </a:solidFill>
          <a:ln/>
        </p:spPr>
      </p:sp>
      <p:pic>
        <p:nvPicPr>
          <p:cNvPr id="61" name="Image 23" descr="preencoded.png">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4754225" y="6100167"/>
            <a:ext cx="266700" cy="266700"/>
          </a:xfrm>
          <a:prstGeom prst="rect">
            <a:avLst/>
          </a:prstGeom>
        </p:spPr>
      </p:pic>
      <p:sp>
        <p:nvSpPr>
          <p:cNvPr id="62" name="Shape 36"/>
          <p:cNvSpPr/>
          <p:nvPr/>
        </p:nvSpPr>
        <p:spPr>
          <a:xfrm>
            <a:off x="1143000" y="7791450"/>
            <a:ext cx="5206901" cy="1400175"/>
          </a:xfrm>
          <a:prstGeom prst="roundRect">
            <a:avLst>
              <a:gd name="adj" fmla="val 5442"/>
            </a:avLst>
          </a:prstGeom>
          <a:ln w="19050">
            <a:solidFill>
              <a:srgbClr val="D1D6E6"/>
            </a:solidFill>
            <a:prstDash val="solid"/>
          </a:ln>
        </p:spPr>
      </p:sp>
      <p:sp>
        <p:nvSpPr>
          <p:cNvPr id="63" name="Text 37"/>
          <p:cNvSpPr/>
          <p:nvPr/>
        </p:nvSpPr>
        <p:spPr>
          <a:xfrm>
            <a:off x="1390650" y="7962900"/>
            <a:ext cx="5182761" cy="352425"/>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NotoSans" pitchFamily="34" charset="0"/>
                <a:ea typeface="NotoSans" pitchFamily="34" charset="-122"/>
                <a:cs typeface="NotoSans" pitchFamily="34" charset="-120"/>
              </a:rPr>
              <a:t>DECISION LATENCY</a:t>
            </a:r>
            <a:endParaRPr lang="en-US" sz="1800" dirty="0"/>
          </a:p>
        </p:txBody>
      </p:sp>
      <p:sp>
        <p:nvSpPr>
          <p:cNvPr id="64" name="Text 38"/>
          <p:cNvSpPr/>
          <p:nvPr/>
        </p:nvSpPr>
        <p:spPr>
          <a:xfrm>
            <a:off x="1390650" y="8353425"/>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NotoSans" pitchFamily="34" charset="0"/>
                <a:ea typeface="NotoSans" pitchFamily="34" charset="-122"/>
                <a:cs typeface="NotoSans" pitchFamily="34" charset="-120"/>
              </a:rPr>
              <a:t>BEFORE</a:t>
            </a:r>
            <a:endParaRPr lang="en-US" sz="1800" dirty="0"/>
          </a:p>
        </p:txBody>
      </p:sp>
      <p:sp>
        <p:nvSpPr>
          <p:cNvPr id="65" name="Text 39"/>
          <p:cNvSpPr/>
          <p:nvPr/>
        </p:nvSpPr>
        <p:spPr>
          <a:xfrm>
            <a:off x="2392114" y="8353425"/>
            <a:ext cx="408115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10s – minutes</a:t>
            </a:r>
            <a:endParaRPr lang="en-US" sz="1800" dirty="0"/>
          </a:p>
        </p:txBody>
      </p:sp>
      <p:sp>
        <p:nvSpPr>
          <p:cNvPr id="66" name="Text 40"/>
          <p:cNvSpPr/>
          <p:nvPr/>
        </p:nvSpPr>
        <p:spPr>
          <a:xfrm>
            <a:off x="1390650" y="8705850"/>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41C464"/>
                </a:solidFill>
                <a:latin typeface="NotoSans" pitchFamily="34" charset="0"/>
                <a:ea typeface="NotoSans" pitchFamily="34" charset="-122"/>
                <a:cs typeface="NotoSans" pitchFamily="34" charset="-120"/>
              </a:rPr>
              <a:t>AFTER</a:t>
            </a:r>
            <a:endParaRPr lang="en-US" sz="1800" dirty="0"/>
          </a:p>
        </p:txBody>
      </p:sp>
      <p:sp>
        <p:nvSpPr>
          <p:cNvPr id="67" name="Text 41"/>
          <p:cNvSpPr/>
          <p:nvPr/>
        </p:nvSpPr>
        <p:spPr>
          <a:xfrm>
            <a:off x="2392114" y="8705850"/>
            <a:ext cx="408115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Sub-second</a:t>
            </a:r>
            <a:endParaRPr lang="en-US" sz="1800" dirty="0"/>
          </a:p>
        </p:txBody>
      </p:sp>
      <p:sp>
        <p:nvSpPr>
          <p:cNvPr id="68" name="Shape 42"/>
          <p:cNvSpPr/>
          <p:nvPr/>
        </p:nvSpPr>
        <p:spPr>
          <a:xfrm>
            <a:off x="6540401" y="7791450"/>
            <a:ext cx="5207050" cy="1400175"/>
          </a:xfrm>
          <a:prstGeom prst="roundRect">
            <a:avLst>
              <a:gd name="adj" fmla="val 5442"/>
            </a:avLst>
          </a:prstGeom>
          <a:ln w="19050">
            <a:solidFill>
              <a:srgbClr val="D1D6E6"/>
            </a:solidFill>
            <a:prstDash val="solid"/>
          </a:ln>
        </p:spPr>
      </p:sp>
      <p:sp>
        <p:nvSpPr>
          <p:cNvPr id="69" name="Text 43"/>
          <p:cNvSpPr/>
          <p:nvPr/>
        </p:nvSpPr>
        <p:spPr>
          <a:xfrm>
            <a:off x="6788051" y="7962900"/>
            <a:ext cx="5182925" cy="352425"/>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NotoSans" pitchFamily="34" charset="0"/>
                <a:ea typeface="NotoSans" pitchFamily="34" charset="-122"/>
                <a:cs typeface="NotoSans" pitchFamily="34" charset="-120"/>
              </a:rPr>
              <a:t>DATA EFFICIENCY</a:t>
            </a:r>
            <a:endParaRPr lang="en-US" sz="1800" dirty="0"/>
          </a:p>
        </p:txBody>
      </p:sp>
      <p:sp>
        <p:nvSpPr>
          <p:cNvPr id="70" name="Text 44"/>
          <p:cNvSpPr/>
          <p:nvPr/>
        </p:nvSpPr>
        <p:spPr>
          <a:xfrm>
            <a:off x="6788051" y="8353425"/>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NotoSans" pitchFamily="34" charset="0"/>
                <a:ea typeface="NotoSans" pitchFamily="34" charset="-122"/>
                <a:cs typeface="NotoSans" pitchFamily="34" charset="-120"/>
              </a:rPr>
              <a:t>BEFORE</a:t>
            </a:r>
            <a:endParaRPr lang="en-US" sz="1800" dirty="0"/>
          </a:p>
        </p:txBody>
      </p:sp>
      <p:sp>
        <p:nvSpPr>
          <p:cNvPr id="71" name="Text 45"/>
          <p:cNvSpPr/>
          <p:nvPr/>
        </p:nvSpPr>
        <p:spPr>
          <a:xfrm>
            <a:off x="7789515" y="8353425"/>
            <a:ext cx="4081314"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Up to 95% noise data</a:t>
            </a:r>
            <a:endParaRPr lang="en-US" sz="1800" dirty="0"/>
          </a:p>
        </p:txBody>
      </p:sp>
      <p:sp>
        <p:nvSpPr>
          <p:cNvPr id="72" name="Text 46"/>
          <p:cNvSpPr/>
          <p:nvPr/>
        </p:nvSpPr>
        <p:spPr>
          <a:xfrm>
            <a:off x="6788051" y="8705850"/>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41C464"/>
                </a:solidFill>
                <a:latin typeface="NotoSans" pitchFamily="34" charset="0"/>
                <a:ea typeface="NotoSans" pitchFamily="34" charset="-122"/>
                <a:cs typeface="NotoSans" pitchFamily="34" charset="-120"/>
              </a:rPr>
              <a:t>AFTER</a:t>
            </a:r>
            <a:endParaRPr lang="en-US" sz="1800" dirty="0"/>
          </a:p>
        </p:txBody>
      </p:sp>
      <p:sp>
        <p:nvSpPr>
          <p:cNvPr id="73" name="Text 47"/>
          <p:cNvSpPr/>
          <p:nvPr/>
        </p:nvSpPr>
        <p:spPr>
          <a:xfrm>
            <a:off x="7789515" y="8705850"/>
            <a:ext cx="4081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Up to 90% bandwidth savings</a:t>
            </a:r>
            <a:endParaRPr lang="en-US" sz="1800" dirty="0"/>
          </a:p>
        </p:txBody>
      </p:sp>
      <p:sp>
        <p:nvSpPr>
          <p:cNvPr id="74" name="Shape 48"/>
          <p:cNvSpPr/>
          <p:nvPr/>
        </p:nvSpPr>
        <p:spPr>
          <a:xfrm>
            <a:off x="11937950" y="7791450"/>
            <a:ext cx="5207050" cy="1400175"/>
          </a:xfrm>
          <a:prstGeom prst="roundRect">
            <a:avLst>
              <a:gd name="adj" fmla="val 5442"/>
            </a:avLst>
          </a:prstGeom>
          <a:ln w="19050">
            <a:solidFill>
              <a:srgbClr val="D1D6E6"/>
            </a:solidFill>
            <a:prstDash val="solid"/>
          </a:ln>
        </p:spPr>
      </p:sp>
      <p:sp>
        <p:nvSpPr>
          <p:cNvPr id="75" name="Text 49"/>
          <p:cNvSpPr/>
          <p:nvPr/>
        </p:nvSpPr>
        <p:spPr>
          <a:xfrm>
            <a:off x="12185600" y="7962900"/>
            <a:ext cx="5182925" cy="352425"/>
          </a:xfrm>
          <a:prstGeom prst="rect">
            <a:avLst/>
          </a:prstGeom>
          <a:noFill/>
          <a:ln/>
        </p:spPr>
        <p:txBody>
          <a:bodyPr wrap="square" lIns="25400" tIns="25400" rIns="25400" bIns="25400" rtlCol="0" anchor="t">
            <a:normAutofit/>
          </a:bodyPr>
          <a:lstStyle/>
          <a:p>
            <a:pPr algn="l" indent="0" marL="0">
              <a:buNone/>
            </a:pPr>
            <a:r>
              <a:rPr lang="en-US" sz="1800" b="1" spc="54" kern="0" dirty="0">
                <a:solidFill>
                  <a:srgbClr val="1C2B34">
                    <a:alpha val="68000"/>
                  </a:srgbClr>
                </a:solidFill>
                <a:latin typeface="NotoSans" pitchFamily="34" charset="0"/>
                <a:ea typeface="NotoSans" pitchFamily="34" charset="-122"/>
                <a:cs typeface="NotoSans" pitchFamily="34" charset="-120"/>
              </a:rPr>
              <a:t>NETWORK RISK</a:t>
            </a:r>
            <a:endParaRPr lang="en-US" sz="1800" dirty="0"/>
          </a:p>
        </p:txBody>
      </p:sp>
      <p:sp>
        <p:nvSpPr>
          <p:cNvPr id="76" name="Text 50"/>
          <p:cNvSpPr/>
          <p:nvPr/>
        </p:nvSpPr>
        <p:spPr>
          <a:xfrm>
            <a:off x="12185600" y="8353425"/>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50000"/>
                  </a:srgbClr>
                </a:solidFill>
                <a:latin typeface="NotoSans" pitchFamily="34" charset="0"/>
                <a:ea typeface="NotoSans" pitchFamily="34" charset="-122"/>
                <a:cs typeface="NotoSans" pitchFamily="34" charset="-120"/>
              </a:rPr>
              <a:t>BEFORE</a:t>
            </a:r>
            <a:endParaRPr lang="en-US" sz="1800" dirty="0"/>
          </a:p>
        </p:txBody>
      </p:sp>
      <p:sp>
        <p:nvSpPr>
          <p:cNvPr id="77" name="Text 51"/>
          <p:cNvSpPr/>
          <p:nvPr/>
        </p:nvSpPr>
        <p:spPr>
          <a:xfrm>
            <a:off x="13187065" y="8353425"/>
            <a:ext cx="4081314"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Visibility lost in dead zones</a:t>
            </a:r>
            <a:endParaRPr lang="en-US" sz="1800" dirty="0"/>
          </a:p>
        </p:txBody>
      </p:sp>
      <p:sp>
        <p:nvSpPr>
          <p:cNvPr id="78" name="Text 52"/>
          <p:cNvSpPr/>
          <p:nvPr/>
        </p:nvSpPr>
        <p:spPr>
          <a:xfrm>
            <a:off x="12185600" y="8705850"/>
            <a:ext cx="944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41C464"/>
                </a:solidFill>
                <a:latin typeface="NotoSans" pitchFamily="34" charset="0"/>
                <a:ea typeface="NotoSans" pitchFamily="34" charset="-122"/>
                <a:cs typeface="NotoSans" pitchFamily="34" charset="-120"/>
              </a:rPr>
              <a:t>AFTER</a:t>
            </a:r>
            <a:endParaRPr lang="en-US" sz="1800" dirty="0"/>
          </a:p>
        </p:txBody>
      </p:sp>
      <p:sp>
        <p:nvSpPr>
          <p:cNvPr id="79" name="Text 53"/>
          <p:cNvSpPr/>
          <p:nvPr/>
        </p:nvSpPr>
        <p:spPr>
          <a:xfrm>
            <a:off x="13187065" y="8705850"/>
            <a:ext cx="4081314"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Offline autonomy</a:t>
            </a:r>
            <a:endParaRPr lang="en-US" sz="1800" dirty="0"/>
          </a:p>
        </p:txBody>
      </p:sp>
      <p:sp>
        <p:nvSpPr>
          <p:cNvPr id="80" name="Shape 54"/>
          <p:cNvSpPr/>
          <p:nvPr/>
        </p:nvSpPr>
        <p:spPr>
          <a:xfrm>
            <a:off x="1143000" y="9344025"/>
            <a:ext cx="16002000" cy="19050"/>
          </a:xfrm>
          <a:prstGeom prst="rect">
            <a:avLst/>
          </a:prstGeom>
          <a:solidFill>
            <a:srgbClr val="E2E5ED"/>
          </a:solidFill>
          <a:ln/>
        </p:spPr>
      </p:sp>
      <p:sp>
        <p:nvSpPr>
          <p:cNvPr id="81" name="Text 55"/>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82" name="Text 56"/>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609600"/>
            <a:ext cx="3049339" cy="609600"/>
          </a:xfrm>
          <a:prstGeom prst="roundRect">
            <a:avLst>
              <a:gd name="adj" fmla="val 12500"/>
            </a:avLst>
          </a:prstGeom>
          <a:solidFill>
            <a:srgbClr val="EFF1F5"/>
          </a:solidFill>
          <a:ln w="19050">
            <a:solidFill>
              <a:srgbClr val="D1D6E6"/>
            </a:solidFill>
            <a:prstDash val="solid"/>
          </a:ln>
        </p:spPr>
      </p:sp>
      <p:sp>
        <p:nvSpPr>
          <p:cNvPr id="3" name="Shape 1"/>
          <p:cNvSpPr/>
          <p:nvPr/>
        </p:nvSpPr>
        <p:spPr>
          <a:xfrm>
            <a:off x="1219200" y="685800"/>
            <a:ext cx="1287959" cy="457200"/>
          </a:xfrm>
          <a:prstGeom prst="roundRect">
            <a:avLst>
              <a:gd name="adj" fmla="val 8333"/>
            </a:avLst>
          </a:prstGeom>
          <a:solidFill>
            <a:srgbClr val="EB364B"/>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47800" y="800100"/>
            <a:ext cx="228600" cy="228600"/>
          </a:xfrm>
          <a:prstGeom prst="rect">
            <a:avLst/>
          </a:prstGeom>
        </p:spPr>
      </p:pic>
      <p:sp>
        <p:nvSpPr>
          <p:cNvPr id="5" name="Text 2"/>
          <p:cNvSpPr/>
          <p:nvPr/>
        </p:nvSpPr>
        <p:spPr>
          <a:xfrm>
            <a:off x="1771650" y="757238"/>
            <a:ext cx="583109" cy="352425"/>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NotoSans" pitchFamily="34" charset="0"/>
                <a:ea typeface="NotoSans" pitchFamily="34" charset="-122"/>
                <a:cs typeface="NotoSans" pitchFamily="34" charset="-120"/>
              </a:rPr>
              <a:t>Now</a:t>
            </a:r>
            <a:endParaRPr lang="en-US" sz="1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1959" y="800100"/>
            <a:ext cx="228600" cy="228600"/>
          </a:xfrm>
          <a:prstGeom prst="rect">
            <a:avLst/>
          </a:prstGeom>
        </p:spPr>
      </p:pic>
      <p:sp>
        <p:nvSpPr>
          <p:cNvPr id="7" name="Text 3"/>
          <p:cNvSpPr/>
          <p:nvPr/>
        </p:nvSpPr>
        <p:spPr>
          <a:xfrm>
            <a:off x="3135809" y="757238"/>
            <a:ext cx="827931" cy="352425"/>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NotoSans" pitchFamily="34" charset="0"/>
                <a:ea typeface="NotoSans" pitchFamily="34" charset="-122"/>
                <a:cs typeface="NotoSans" pitchFamily="34" charset="-120"/>
              </a:rPr>
              <a:t>Dream</a:t>
            </a:r>
            <a:endParaRPr lang="en-US" sz="1800" dirty="0"/>
          </a:p>
        </p:txBody>
      </p:sp>
      <p:sp>
        <p:nvSpPr>
          <p:cNvPr id="8" name="Text 4"/>
          <p:cNvSpPr/>
          <p:nvPr/>
        </p:nvSpPr>
        <p:spPr>
          <a:xfrm>
            <a:off x="1143000" y="1371600"/>
            <a:ext cx="17602200" cy="541883"/>
          </a:xfrm>
          <a:prstGeom prst="rect">
            <a:avLst/>
          </a:prstGeom>
          <a:noFill/>
          <a:ln/>
        </p:spPr>
        <p:txBody>
          <a:bodyPr wrap="square" lIns="25400" tIns="25400" rIns="25400" bIns="25400" rtlCol="0" anchor="t">
            <a:normAutofit/>
          </a:bodyPr>
          <a:lstStyle/>
          <a:p>
            <a:pPr algn="l" indent="0" marL="0">
              <a:lnSpc>
                <a:spcPct val="85323"/>
              </a:lnSpc>
              <a:buNone/>
            </a:pPr>
            <a:r>
              <a:rPr lang="en-US" sz="3450" b="1" spc="-34" kern="0" dirty="0">
                <a:solidFill>
                  <a:srgbClr val="1C2B34">
                    <a:alpha val="98000"/>
                  </a:srgbClr>
                </a:solidFill>
                <a:latin typeface="NotoSans" pitchFamily="34" charset="0"/>
                <a:ea typeface="NotoSans" pitchFamily="34" charset="-122"/>
                <a:cs typeface="NotoSans" pitchFamily="34" charset="-120"/>
              </a:rPr>
              <a:t>The 'Now' State: The High-Cost Barrier to Consumer Adoption</a:t>
            </a:r>
            <a:pPr algn="l" indent="0" marL="0">
              <a:lnSpc>
                <a:spcPct val="85323"/>
              </a:lnSpc>
              <a:buNone/>
            </a:pPr>
            <a:r>
              <a:rPr lang="en-US" sz="3450" b="1" spc="-34" kern="0" dirty="0">
                <a:solidFill>
                  <a:srgbClr val="1C2B34">
                    <a:alpha val="50000"/>
                  </a:srgbClr>
                </a:solidFill>
                <a:latin typeface="NotoSans" pitchFamily="34" charset="0"/>
                <a:ea typeface="NotoSans" pitchFamily="34" charset="-122"/>
                <a:cs typeface="NotoSans" pitchFamily="34" charset="-120"/>
              </a:rPr>
              <a:t>*</a:t>
            </a:r>
            <a:endParaRPr lang="en-US" sz="3450" dirty="0"/>
          </a:p>
        </p:txBody>
      </p:sp>
      <p:sp>
        <p:nvSpPr>
          <p:cNvPr id="9" name="Text 5"/>
          <p:cNvSpPr/>
          <p:nvPr/>
        </p:nvSpPr>
        <p:spPr>
          <a:xfrm>
            <a:off x="1143000" y="2666554"/>
            <a:ext cx="5886450" cy="857250"/>
          </a:xfrm>
          <a:prstGeom prst="rect">
            <a:avLst/>
          </a:prstGeom>
          <a:noFill/>
          <a:ln/>
        </p:spPr>
        <p:txBody>
          <a:bodyPr wrap="square" lIns="25400" tIns="25400" rIns="25400" bIns="25400" rtlCol="0" anchor="t">
            <a:normAutofit/>
          </a:bodyPr>
          <a:lstStyle/>
          <a:p>
            <a:pPr algn="l" indent="0" marL="0">
              <a:buNone/>
            </a:pPr>
            <a:r>
              <a:rPr lang="en-US" sz="2400" b="1" dirty="0">
                <a:solidFill>
                  <a:srgbClr val="1C2B34">
                    <a:alpha val="98000"/>
                  </a:srgbClr>
                </a:solidFill>
                <a:latin typeface="NotoSans" pitchFamily="34" charset="0"/>
                <a:ea typeface="NotoSans" pitchFamily="34" charset="-122"/>
                <a:cs typeface="NotoSans" pitchFamily="34" charset="-120"/>
              </a:rPr>
              <a:t>The Cost Bottleneck of Luxury Hardware</a:t>
            </a:r>
            <a:endParaRPr lang="en-US" sz="2400" dirty="0"/>
          </a:p>
        </p:txBody>
      </p:sp>
      <p:sp>
        <p:nvSpPr>
          <p:cNvPr id="10" name="Shape 6"/>
          <p:cNvSpPr/>
          <p:nvPr/>
        </p:nvSpPr>
        <p:spPr>
          <a:xfrm>
            <a:off x="1143000" y="3752404"/>
            <a:ext cx="495300" cy="495300"/>
          </a:xfrm>
          <a:prstGeom prst="roundRect">
            <a:avLst>
              <a:gd name="adj" fmla="val 15385"/>
            </a:avLst>
          </a:prstGeom>
          <a:solidFill>
            <a:srgbClr val="FDEBED"/>
          </a:solidFill>
          <a:ln/>
        </p:spPr>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7775" y="3857179"/>
            <a:ext cx="285750" cy="285750"/>
          </a:xfrm>
          <a:prstGeom prst="rect">
            <a:avLst/>
          </a:prstGeom>
        </p:spPr>
      </p:pic>
      <p:sp>
        <p:nvSpPr>
          <p:cNvPr id="12" name="Text 7"/>
          <p:cNvSpPr/>
          <p:nvPr/>
        </p:nvSpPr>
        <p:spPr>
          <a:xfrm>
            <a:off x="1828800" y="3752404"/>
            <a:ext cx="5180076" cy="1498402"/>
          </a:xfrm>
          <a:prstGeom prst="rect">
            <a:avLst/>
          </a:prstGeom>
          <a:noFill/>
          <a:ln/>
        </p:spPr>
        <p:txBody>
          <a:bodyPr wrap="square" lIns="25400" tIns="25400" rIns="25400" bIns="25400" rtlCol="0" anchor="t">
            <a:normAutofit/>
          </a:bodyPr>
          <a:lstStyle/>
          <a:p>
            <a:pPr algn="l" indent="0" marL="0">
              <a:lnSpc>
                <a:spcPct val="103622"/>
              </a:lnSpc>
              <a:buNone/>
            </a:pPr>
            <a:r>
              <a:rPr lang="en-US" sz="2025" b="1" dirty="0">
                <a:solidFill>
                  <a:srgbClr val="1C2B34">
                    <a:alpha val="98000"/>
                  </a:srgbClr>
                </a:solidFill>
                <a:latin typeface="NotoSans" pitchFamily="34" charset="0"/>
                <a:ea typeface="NotoSans" pitchFamily="34" charset="-122"/>
                <a:cs typeface="NotoSans" pitchFamily="34" charset="-120"/>
              </a:rPr>
              <a:t>Prohibitive Unit Economics: </a:t>
            </a:r>
            <a:pPr algn="l" indent="0" marL="0">
              <a:lnSpc>
                <a:spcPct val="103622"/>
              </a:lnSpc>
              <a:buNone/>
            </a:pPr>
            <a:r>
              <a:rPr lang="en-US" sz="2025" dirty="0">
                <a:solidFill>
                  <a:srgbClr val="1C2B34">
                    <a:alpha val="98000"/>
                  </a:srgbClr>
                </a:solidFill>
                <a:latin typeface="NotoSans" pitchFamily="34" charset="0"/>
                <a:ea typeface="NotoSans" pitchFamily="34" charset="-122"/>
                <a:cs typeface="NotoSans" pitchFamily="34" charset="-120"/>
              </a:rPr>
              <a:t>Traditional edge intelligence requires dedicated silicon, adding thousands to bill-of-materials (BOM) costs.</a:t>
            </a:r>
            <a:endParaRPr lang="en-US" sz="2025" dirty="0"/>
          </a:p>
        </p:txBody>
      </p:sp>
      <p:sp>
        <p:nvSpPr>
          <p:cNvPr id="13" name="Shape 8"/>
          <p:cNvSpPr/>
          <p:nvPr/>
        </p:nvSpPr>
        <p:spPr>
          <a:xfrm>
            <a:off x="1143000" y="5479405"/>
            <a:ext cx="495300" cy="495300"/>
          </a:xfrm>
          <a:prstGeom prst="roundRect">
            <a:avLst>
              <a:gd name="adj" fmla="val 15385"/>
            </a:avLst>
          </a:prstGeom>
          <a:solidFill>
            <a:srgbClr val="FDEBED"/>
          </a:solidFill>
          <a:ln/>
        </p:spPr>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47775" y="5584180"/>
            <a:ext cx="285750" cy="285750"/>
          </a:xfrm>
          <a:prstGeom prst="rect">
            <a:avLst/>
          </a:prstGeom>
        </p:spPr>
      </p:pic>
      <p:sp>
        <p:nvSpPr>
          <p:cNvPr id="15" name="Text 9"/>
          <p:cNvSpPr/>
          <p:nvPr/>
        </p:nvSpPr>
        <p:spPr>
          <a:xfrm>
            <a:off x="1828800" y="5479405"/>
            <a:ext cx="5180076" cy="1133326"/>
          </a:xfrm>
          <a:prstGeom prst="rect">
            <a:avLst/>
          </a:prstGeom>
          <a:noFill/>
          <a:ln/>
        </p:spPr>
        <p:txBody>
          <a:bodyPr wrap="square" lIns="25400" tIns="25400" rIns="25400" bIns="25400" rtlCol="0" anchor="t">
            <a:normAutofit/>
          </a:bodyPr>
          <a:lstStyle/>
          <a:p>
            <a:pPr algn="l" indent="0" marL="0">
              <a:lnSpc>
                <a:spcPct val="103622"/>
              </a:lnSpc>
              <a:buNone/>
            </a:pPr>
            <a:r>
              <a:rPr lang="en-US" sz="2025" b="1" dirty="0">
                <a:solidFill>
                  <a:srgbClr val="1C2B34">
                    <a:alpha val="98000"/>
                  </a:srgbClr>
                </a:solidFill>
                <a:latin typeface="NotoSans" pitchFamily="34" charset="0"/>
                <a:ea typeface="NotoSans" pitchFamily="34" charset="-122"/>
                <a:cs typeface="NotoSans" pitchFamily="34" charset="-120"/>
              </a:rPr>
              <a:t>Ecosystem Isolation: </a:t>
            </a:r>
            <a:pPr algn="l" indent="0" marL="0">
              <a:lnSpc>
                <a:spcPct val="103622"/>
              </a:lnSpc>
              <a:buNone/>
            </a:pPr>
            <a:r>
              <a:rPr lang="en-US" sz="2025" dirty="0">
                <a:solidFill>
                  <a:srgbClr val="1C2B34">
                    <a:alpha val="98000"/>
                  </a:srgbClr>
                </a:solidFill>
                <a:latin typeface="NotoSans" pitchFamily="34" charset="0"/>
                <a:ea typeface="NotoSans" pitchFamily="34" charset="-122"/>
                <a:cs typeface="NotoSans" pitchFamily="34" charset="-120"/>
              </a:rPr>
              <a:t>Features are tied to the vehicle's manufacturing lifecycle, becoming obsolete within a few years.</a:t>
            </a:r>
            <a:endParaRPr lang="en-US" sz="2025" dirty="0"/>
          </a:p>
        </p:txBody>
      </p:sp>
      <p:sp>
        <p:nvSpPr>
          <p:cNvPr id="16" name="Shape 10"/>
          <p:cNvSpPr/>
          <p:nvPr/>
        </p:nvSpPr>
        <p:spPr>
          <a:xfrm>
            <a:off x="1143000" y="6841331"/>
            <a:ext cx="495300" cy="495300"/>
          </a:xfrm>
          <a:prstGeom prst="roundRect">
            <a:avLst>
              <a:gd name="adj" fmla="val 15385"/>
            </a:avLst>
          </a:prstGeom>
          <a:solidFill>
            <a:srgbClr val="FDEBED"/>
          </a:solidFill>
          <a:ln/>
        </p:spPr>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7775" y="6946106"/>
            <a:ext cx="285750" cy="285750"/>
          </a:xfrm>
          <a:prstGeom prst="rect">
            <a:avLst/>
          </a:prstGeom>
        </p:spPr>
      </p:pic>
      <p:sp>
        <p:nvSpPr>
          <p:cNvPr id="18" name="Text 11"/>
          <p:cNvSpPr/>
          <p:nvPr/>
        </p:nvSpPr>
        <p:spPr>
          <a:xfrm>
            <a:off x="1828800" y="6841331"/>
            <a:ext cx="5180076" cy="1498402"/>
          </a:xfrm>
          <a:prstGeom prst="rect">
            <a:avLst/>
          </a:prstGeom>
          <a:noFill/>
          <a:ln/>
        </p:spPr>
        <p:txBody>
          <a:bodyPr wrap="square" lIns="25400" tIns="25400" rIns="25400" bIns="25400" rtlCol="0" anchor="t">
            <a:normAutofit/>
          </a:bodyPr>
          <a:lstStyle/>
          <a:p>
            <a:pPr algn="l" indent="0" marL="0">
              <a:lnSpc>
                <a:spcPct val="103622"/>
              </a:lnSpc>
              <a:buNone/>
            </a:pPr>
            <a:r>
              <a:rPr lang="en-US" sz="2025" b="1" dirty="0">
                <a:solidFill>
                  <a:srgbClr val="1C2B34">
                    <a:alpha val="98000"/>
                  </a:srgbClr>
                </a:solidFill>
                <a:latin typeface="NotoSans" pitchFamily="34" charset="0"/>
                <a:ea typeface="NotoSans" pitchFamily="34" charset="-122"/>
                <a:cs typeface="NotoSans" pitchFamily="34" charset="-120"/>
              </a:rPr>
              <a:t>Luxury Gatekeeping: </a:t>
            </a:r>
            <a:pPr algn="l" indent="0" marL="0">
              <a:lnSpc>
                <a:spcPct val="103622"/>
              </a:lnSpc>
              <a:buNone/>
            </a:pPr>
            <a:r>
              <a:rPr lang="en-US" sz="2025" dirty="0">
                <a:solidFill>
                  <a:srgbClr val="1C2B34">
                    <a:alpha val="98000"/>
                  </a:srgbClr>
                </a:solidFill>
                <a:latin typeface="NotoSans" pitchFamily="34" charset="0"/>
                <a:ea typeface="NotoSans" pitchFamily="34" charset="-122"/>
                <a:cs typeface="NotoSans" pitchFamily="34" charset="-120"/>
              </a:rPr>
              <a:t>Advanced local diagnostics and safety features remain premium options, locked away from everyday drivers.</a:t>
            </a:r>
            <a:endParaRPr lang="en-US" sz="2025" dirty="0"/>
          </a:p>
        </p:txBody>
      </p:sp>
      <p:sp>
        <p:nvSpPr>
          <p:cNvPr id="19" name="Shape 12"/>
          <p:cNvSpPr/>
          <p:nvPr/>
        </p:nvSpPr>
        <p:spPr>
          <a:xfrm>
            <a:off x="7467600" y="2869406"/>
            <a:ext cx="9677400" cy="3724275"/>
          </a:xfrm>
          <a:prstGeom prst="roundRect">
            <a:avLst>
              <a:gd name="adj" fmla="val 2046"/>
            </a:avLst>
          </a:prstGeom>
          <a:ln w="19050">
            <a:solidFill>
              <a:srgbClr val="D1D6E6"/>
            </a:solidFill>
            <a:prstDash val="solid"/>
          </a:ln>
        </p:spPr>
      </p:sp>
      <p:sp>
        <p:nvSpPr>
          <p:cNvPr id="20" name="Shape 13"/>
          <p:cNvSpPr/>
          <p:nvPr/>
        </p:nvSpPr>
        <p:spPr>
          <a:xfrm>
            <a:off x="7486650" y="2888456"/>
            <a:ext cx="2095500" cy="561975"/>
          </a:xfrm>
          <a:prstGeom prst="rect">
            <a:avLst/>
          </a:prstGeom>
          <a:solidFill>
            <a:srgbClr val="EFF1F5"/>
          </a:solidFill>
          <a:ln/>
        </p:spPr>
      </p:sp>
      <p:sp>
        <p:nvSpPr>
          <p:cNvPr id="21" name="Shape 14"/>
          <p:cNvSpPr/>
          <p:nvPr/>
        </p:nvSpPr>
        <p:spPr>
          <a:xfrm>
            <a:off x="7486650" y="3431381"/>
            <a:ext cx="2095500" cy="19050"/>
          </a:xfrm>
          <a:prstGeom prst="rect">
            <a:avLst/>
          </a:prstGeom>
          <a:solidFill>
            <a:srgbClr val="D1D6E6"/>
          </a:solidFill>
          <a:ln/>
        </p:spPr>
      </p:sp>
      <p:sp>
        <p:nvSpPr>
          <p:cNvPr id="22" name="Text 15"/>
          <p:cNvSpPr/>
          <p:nvPr/>
        </p:nvSpPr>
        <p:spPr>
          <a:xfrm>
            <a:off x="7677150" y="3002756"/>
            <a:ext cx="179070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Spec</a:t>
            </a:r>
            <a:endParaRPr lang="en-US" sz="1800" dirty="0"/>
          </a:p>
        </p:txBody>
      </p:sp>
      <p:sp>
        <p:nvSpPr>
          <p:cNvPr id="23" name="Shape 16"/>
          <p:cNvSpPr/>
          <p:nvPr/>
        </p:nvSpPr>
        <p:spPr>
          <a:xfrm>
            <a:off x="9582150" y="2888456"/>
            <a:ext cx="3771900" cy="561975"/>
          </a:xfrm>
          <a:prstGeom prst="rect">
            <a:avLst/>
          </a:prstGeom>
          <a:solidFill>
            <a:srgbClr val="EFF1F5"/>
          </a:solidFill>
          <a:ln/>
        </p:spPr>
      </p:sp>
      <p:sp>
        <p:nvSpPr>
          <p:cNvPr id="24" name="Shape 17"/>
          <p:cNvSpPr/>
          <p:nvPr/>
        </p:nvSpPr>
        <p:spPr>
          <a:xfrm>
            <a:off x="9582150" y="3431381"/>
            <a:ext cx="3771900" cy="19050"/>
          </a:xfrm>
          <a:prstGeom prst="rect">
            <a:avLst/>
          </a:prstGeom>
          <a:solidFill>
            <a:srgbClr val="D1D6E6"/>
          </a:solidFill>
          <a:ln/>
        </p:spPr>
      </p:sp>
      <p:sp>
        <p:nvSpPr>
          <p:cNvPr id="25" name="Text 18"/>
          <p:cNvSpPr/>
          <p:nvPr/>
        </p:nvSpPr>
        <p:spPr>
          <a:xfrm>
            <a:off x="9772650" y="3002756"/>
            <a:ext cx="3504057"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NVIDIA DRIVE Thor</a:t>
            </a:r>
            <a:endParaRPr lang="en-US" sz="1800" dirty="0"/>
          </a:p>
        </p:txBody>
      </p:sp>
      <p:sp>
        <p:nvSpPr>
          <p:cNvPr id="26" name="Shape 19"/>
          <p:cNvSpPr/>
          <p:nvPr/>
        </p:nvSpPr>
        <p:spPr>
          <a:xfrm>
            <a:off x="13354050" y="2888456"/>
            <a:ext cx="3771900" cy="561975"/>
          </a:xfrm>
          <a:prstGeom prst="rect">
            <a:avLst/>
          </a:prstGeom>
          <a:solidFill>
            <a:srgbClr val="EFF1F5"/>
          </a:solidFill>
          <a:ln/>
        </p:spPr>
      </p:sp>
      <p:sp>
        <p:nvSpPr>
          <p:cNvPr id="27" name="Shape 20"/>
          <p:cNvSpPr/>
          <p:nvPr/>
        </p:nvSpPr>
        <p:spPr>
          <a:xfrm>
            <a:off x="13354050" y="3431381"/>
            <a:ext cx="3771900" cy="19050"/>
          </a:xfrm>
          <a:prstGeom prst="rect">
            <a:avLst/>
          </a:prstGeom>
          <a:solidFill>
            <a:srgbClr val="D1D6E6"/>
          </a:solidFill>
          <a:ln/>
        </p:spPr>
      </p:sp>
      <p:sp>
        <p:nvSpPr>
          <p:cNvPr id="28" name="Text 21"/>
          <p:cNvSpPr/>
          <p:nvPr/>
        </p:nvSpPr>
        <p:spPr>
          <a:xfrm>
            <a:off x="13544550" y="3002756"/>
            <a:ext cx="3504057" cy="352425"/>
          </a:xfrm>
          <a:prstGeom prst="rect">
            <a:avLst/>
          </a:prstGeom>
          <a:noFill/>
          <a:ln/>
        </p:spPr>
        <p:txBody>
          <a:bodyPr wrap="square" lIns="25400" tIns="25400" rIns="25400" bIns="25400" rtlCol="0" anchor="ctr">
            <a:normAutofit/>
          </a:bodyPr>
          <a:lstStyle/>
          <a:p>
            <a:pPr algn="l" indent="0" marL="0">
              <a:buNone/>
            </a:pPr>
            <a:r>
              <a:rPr lang="en-US" sz="1800" b="1" dirty="0">
                <a:solidFill>
                  <a:srgbClr val="1C2B34">
                    <a:alpha val="98000"/>
                  </a:srgbClr>
                </a:solidFill>
                <a:latin typeface="NotoSans" pitchFamily="34" charset="0"/>
                <a:ea typeface="NotoSans" pitchFamily="34" charset="-122"/>
                <a:cs typeface="NotoSans" pitchFamily="34" charset="-120"/>
              </a:rPr>
              <a:t>Tesla HW4</a:t>
            </a:r>
            <a:endParaRPr lang="en-US" sz="1800" dirty="0"/>
          </a:p>
        </p:txBody>
      </p:sp>
      <p:sp>
        <p:nvSpPr>
          <p:cNvPr id="29" name="Shape 22"/>
          <p:cNvSpPr/>
          <p:nvPr/>
        </p:nvSpPr>
        <p:spPr>
          <a:xfrm>
            <a:off x="7486650" y="3955256"/>
            <a:ext cx="2095500" cy="19050"/>
          </a:xfrm>
          <a:prstGeom prst="rect">
            <a:avLst/>
          </a:prstGeom>
          <a:solidFill>
            <a:srgbClr val="E2E5ED"/>
          </a:solidFill>
          <a:ln/>
        </p:spPr>
      </p:sp>
      <p:sp>
        <p:nvSpPr>
          <p:cNvPr id="30" name="Text 23"/>
          <p:cNvSpPr/>
          <p:nvPr/>
        </p:nvSpPr>
        <p:spPr>
          <a:xfrm>
            <a:off x="7677150" y="3545681"/>
            <a:ext cx="179070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NotoSans" pitchFamily="34" charset="0"/>
                <a:ea typeface="NotoSans" pitchFamily="34" charset="-122"/>
                <a:cs typeface="NotoSans" pitchFamily="34" charset="-120"/>
              </a:rPr>
              <a:t>AI inference</a:t>
            </a:r>
            <a:endParaRPr lang="en-US" sz="1800" dirty="0"/>
          </a:p>
        </p:txBody>
      </p:sp>
      <p:sp>
        <p:nvSpPr>
          <p:cNvPr id="31" name="Shape 24"/>
          <p:cNvSpPr/>
          <p:nvPr/>
        </p:nvSpPr>
        <p:spPr>
          <a:xfrm>
            <a:off x="9582150" y="3955256"/>
            <a:ext cx="3771900" cy="19050"/>
          </a:xfrm>
          <a:prstGeom prst="rect">
            <a:avLst/>
          </a:prstGeom>
          <a:solidFill>
            <a:srgbClr val="E2E5ED"/>
          </a:solidFill>
          <a:ln/>
        </p:spPr>
      </p:sp>
      <p:sp>
        <p:nvSpPr>
          <p:cNvPr id="32" name="Text 25"/>
          <p:cNvSpPr/>
          <p:nvPr/>
        </p:nvSpPr>
        <p:spPr>
          <a:xfrm>
            <a:off x="9772650" y="3545681"/>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1,000–2,000 TOPS</a:t>
            </a:r>
            <a:endParaRPr lang="en-US" sz="1800" dirty="0"/>
          </a:p>
        </p:txBody>
      </p:sp>
      <p:sp>
        <p:nvSpPr>
          <p:cNvPr id="33" name="Shape 26"/>
          <p:cNvSpPr/>
          <p:nvPr/>
        </p:nvSpPr>
        <p:spPr>
          <a:xfrm>
            <a:off x="13354050" y="3955256"/>
            <a:ext cx="3771900" cy="19050"/>
          </a:xfrm>
          <a:prstGeom prst="rect">
            <a:avLst/>
          </a:prstGeom>
          <a:solidFill>
            <a:srgbClr val="E2E5ED"/>
          </a:solidFill>
          <a:ln/>
        </p:spPr>
      </p:sp>
      <p:sp>
        <p:nvSpPr>
          <p:cNvPr id="34" name="Text 27"/>
          <p:cNvSpPr/>
          <p:nvPr/>
        </p:nvSpPr>
        <p:spPr>
          <a:xfrm>
            <a:off x="13544550" y="3545681"/>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~243 TOPS (2 chips)</a:t>
            </a:r>
            <a:endParaRPr lang="en-US" sz="1800" dirty="0"/>
          </a:p>
        </p:txBody>
      </p:sp>
      <p:sp>
        <p:nvSpPr>
          <p:cNvPr id="35" name="Shape 28"/>
          <p:cNvSpPr/>
          <p:nvPr/>
        </p:nvSpPr>
        <p:spPr>
          <a:xfrm>
            <a:off x="7486650" y="4479131"/>
            <a:ext cx="2095500" cy="19050"/>
          </a:xfrm>
          <a:prstGeom prst="rect">
            <a:avLst/>
          </a:prstGeom>
          <a:solidFill>
            <a:srgbClr val="E2E5ED"/>
          </a:solidFill>
          <a:ln/>
        </p:spPr>
      </p:sp>
      <p:sp>
        <p:nvSpPr>
          <p:cNvPr id="36" name="Text 29"/>
          <p:cNvSpPr/>
          <p:nvPr/>
        </p:nvSpPr>
        <p:spPr>
          <a:xfrm>
            <a:off x="7677150" y="4069556"/>
            <a:ext cx="179070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NotoSans" pitchFamily="34" charset="0"/>
                <a:ea typeface="NotoSans" pitchFamily="34" charset="-122"/>
                <a:cs typeface="NotoSans" pitchFamily="34" charset="-120"/>
              </a:rPr>
              <a:t>CPU</a:t>
            </a:r>
            <a:endParaRPr lang="en-US" sz="1800" dirty="0"/>
          </a:p>
        </p:txBody>
      </p:sp>
      <p:sp>
        <p:nvSpPr>
          <p:cNvPr id="37" name="Shape 30"/>
          <p:cNvSpPr/>
          <p:nvPr/>
        </p:nvSpPr>
        <p:spPr>
          <a:xfrm>
            <a:off x="9582150" y="4479131"/>
            <a:ext cx="3771900" cy="19050"/>
          </a:xfrm>
          <a:prstGeom prst="rect">
            <a:avLst/>
          </a:prstGeom>
          <a:solidFill>
            <a:srgbClr val="E2E5ED"/>
          </a:solidFill>
          <a:ln/>
        </p:spPr>
      </p:sp>
      <p:sp>
        <p:nvSpPr>
          <p:cNvPr id="38" name="Text 31"/>
          <p:cNvSpPr/>
          <p:nvPr/>
        </p:nvSpPr>
        <p:spPr>
          <a:xfrm>
            <a:off x="9772650" y="4069556"/>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14-core Arm Neoverse V3AE</a:t>
            </a:r>
            <a:endParaRPr lang="en-US" sz="1800" dirty="0"/>
          </a:p>
        </p:txBody>
      </p:sp>
      <p:sp>
        <p:nvSpPr>
          <p:cNvPr id="39" name="Shape 32"/>
          <p:cNvSpPr/>
          <p:nvPr/>
        </p:nvSpPr>
        <p:spPr>
          <a:xfrm>
            <a:off x="13354050" y="4479131"/>
            <a:ext cx="3771900" cy="19050"/>
          </a:xfrm>
          <a:prstGeom prst="rect">
            <a:avLst/>
          </a:prstGeom>
          <a:solidFill>
            <a:srgbClr val="E2E5ED"/>
          </a:solidFill>
          <a:ln/>
        </p:spPr>
      </p:sp>
      <p:sp>
        <p:nvSpPr>
          <p:cNvPr id="40" name="Text 33"/>
          <p:cNvSpPr/>
          <p:nvPr/>
        </p:nvSpPr>
        <p:spPr>
          <a:xfrm>
            <a:off x="13544550" y="4069556"/>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20× Cortex-A72 per chip</a:t>
            </a:r>
            <a:endParaRPr lang="en-US" sz="1800" dirty="0"/>
          </a:p>
        </p:txBody>
      </p:sp>
      <p:sp>
        <p:nvSpPr>
          <p:cNvPr id="41" name="Shape 34"/>
          <p:cNvSpPr/>
          <p:nvPr/>
        </p:nvSpPr>
        <p:spPr>
          <a:xfrm>
            <a:off x="7486650" y="5003006"/>
            <a:ext cx="2095500" cy="19050"/>
          </a:xfrm>
          <a:prstGeom prst="rect">
            <a:avLst/>
          </a:prstGeom>
          <a:solidFill>
            <a:srgbClr val="E2E5ED"/>
          </a:solidFill>
          <a:ln/>
        </p:spPr>
      </p:sp>
      <p:sp>
        <p:nvSpPr>
          <p:cNvPr id="42" name="Text 35"/>
          <p:cNvSpPr/>
          <p:nvPr/>
        </p:nvSpPr>
        <p:spPr>
          <a:xfrm>
            <a:off x="7677150" y="4593431"/>
            <a:ext cx="179070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NotoSans" pitchFamily="34" charset="0"/>
                <a:ea typeface="NotoSans" pitchFamily="34" charset="-122"/>
                <a:cs typeface="NotoSans" pitchFamily="34" charset="-120"/>
              </a:rPr>
              <a:t>Accelerator</a:t>
            </a:r>
            <a:endParaRPr lang="en-US" sz="1800" dirty="0"/>
          </a:p>
        </p:txBody>
      </p:sp>
      <p:sp>
        <p:nvSpPr>
          <p:cNvPr id="43" name="Shape 36"/>
          <p:cNvSpPr/>
          <p:nvPr/>
        </p:nvSpPr>
        <p:spPr>
          <a:xfrm>
            <a:off x="9582150" y="5003006"/>
            <a:ext cx="3771900" cy="19050"/>
          </a:xfrm>
          <a:prstGeom prst="rect">
            <a:avLst/>
          </a:prstGeom>
          <a:solidFill>
            <a:srgbClr val="E2E5ED"/>
          </a:solidFill>
          <a:ln/>
        </p:spPr>
      </p:sp>
      <p:sp>
        <p:nvSpPr>
          <p:cNvPr id="44" name="Text 37"/>
          <p:cNvSpPr/>
          <p:nvPr/>
        </p:nvSpPr>
        <p:spPr>
          <a:xfrm>
            <a:off x="9772650" y="4593431"/>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Blackwell GPU + Tensor Cores</a:t>
            </a:r>
            <a:endParaRPr lang="en-US" sz="1800" dirty="0"/>
          </a:p>
        </p:txBody>
      </p:sp>
      <p:sp>
        <p:nvSpPr>
          <p:cNvPr id="45" name="Shape 38"/>
          <p:cNvSpPr/>
          <p:nvPr/>
        </p:nvSpPr>
        <p:spPr>
          <a:xfrm>
            <a:off x="13354050" y="5003006"/>
            <a:ext cx="3771900" cy="19050"/>
          </a:xfrm>
          <a:prstGeom prst="rect">
            <a:avLst/>
          </a:prstGeom>
          <a:solidFill>
            <a:srgbClr val="E2E5ED"/>
          </a:solidFill>
          <a:ln/>
        </p:spPr>
      </p:sp>
      <p:sp>
        <p:nvSpPr>
          <p:cNvPr id="46" name="Text 39"/>
          <p:cNvSpPr/>
          <p:nvPr/>
        </p:nvSpPr>
        <p:spPr>
          <a:xfrm>
            <a:off x="13544550" y="4593431"/>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3 custom NPUs per chip</a:t>
            </a:r>
            <a:endParaRPr lang="en-US" sz="1800" dirty="0"/>
          </a:p>
        </p:txBody>
      </p:sp>
      <p:sp>
        <p:nvSpPr>
          <p:cNvPr id="47" name="Shape 40"/>
          <p:cNvSpPr/>
          <p:nvPr/>
        </p:nvSpPr>
        <p:spPr>
          <a:xfrm>
            <a:off x="7486650" y="5526881"/>
            <a:ext cx="2095500" cy="19050"/>
          </a:xfrm>
          <a:prstGeom prst="rect">
            <a:avLst/>
          </a:prstGeom>
          <a:solidFill>
            <a:srgbClr val="E2E5ED"/>
          </a:solidFill>
          <a:ln/>
        </p:spPr>
      </p:sp>
      <p:sp>
        <p:nvSpPr>
          <p:cNvPr id="48" name="Text 41"/>
          <p:cNvSpPr/>
          <p:nvPr/>
        </p:nvSpPr>
        <p:spPr>
          <a:xfrm>
            <a:off x="7677150" y="5117306"/>
            <a:ext cx="179070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NotoSans" pitchFamily="34" charset="0"/>
                <a:ea typeface="NotoSans" pitchFamily="34" charset="-122"/>
                <a:cs typeface="NotoSans" pitchFamily="34" charset="-120"/>
              </a:rPr>
              <a:t>RAM</a:t>
            </a:r>
            <a:endParaRPr lang="en-US" sz="1800" dirty="0"/>
          </a:p>
        </p:txBody>
      </p:sp>
      <p:sp>
        <p:nvSpPr>
          <p:cNvPr id="49" name="Shape 42"/>
          <p:cNvSpPr/>
          <p:nvPr/>
        </p:nvSpPr>
        <p:spPr>
          <a:xfrm>
            <a:off x="9582150" y="5526881"/>
            <a:ext cx="3771900" cy="19050"/>
          </a:xfrm>
          <a:prstGeom prst="rect">
            <a:avLst/>
          </a:prstGeom>
          <a:solidFill>
            <a:srgbClr val="E2E5ED"/>
          </a:solidFill>
          <a:ln/>
        </p:spPr>
      </p:sp>
      <p:sp>
        <p:nvSpPr>
          <p:cNvPr id="50" name="Text 43"/>
          <p:cNvSpPr/>
          <p:nvPr/>
        </p:nvSpPr>
        <p:spPr>
          <a:xfrm>
            <a:off x="9772650" y="5117306"/>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64–128GB LPDDR5X</a:t>
            </a:r>
            <a:endParaRPr lang="en-US" sz="1800" dirty="0"/>
          </a:p>
        </p:txBody>
      </p:sp>
      <p:sp>
        <p:nvSpPr>
          <p:cNvPr id="51" name="Shape 44"/>
          <p:cNvSpPr/>
          <p:nvPr/>
        </p:nvSpPr>
        <p:spPr>
          <a:xfrm>
            <a:off x="13354050" y="5526881"/>
            <a:ext cx="3771900" cy="19050"/>
          </a:xfrm>
          <a:prstGeom prst="rect">
            <a:avLst/>
          </a:prstGeom>
          <a:solidFill>
            <a:srgbClr val="E2E5ED"/>
          </a:solidFill>
          <a:ln/>
        </p:spPr>
      </p:sp>
      <p:sp>
        <p:nvSpPr>
          <p:cNvPr id="52" name="Text 45"/>
          <p:cNvSpPr/>
          <p:nvPr/>
        </p:nvSpPr>
        <p:spPr>
          <a:xfrm>
            <a:off x="13544550" y="5117306"/>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16GB GDDR6</a:t>
            </a:r>
            <a:endParaRPr lang="en-US" sz="1800" dirty="0"/>
          </a:p>
        </p:txBody>
      </p:sp>
      <p:sp>
        <p:nvSpPr>
          <p:cNvPr id="53" name="Shape 46"/>
          <p:cNvSpPr/>
          <p:nvPr/>
        </p:nvSpPr>
        <p:spPr>
          <a:xfrm>
            <a:off x="7486650" y="6050756"/>
            <a:ext cx="2095500" cy="19050"/>
          </a:xfrm>
          <a:prstGeom prst="rect">
            <a:avLst/>
          </a:prstGeom>
          <a:solidFill>
            <a:srgbClr val="E2E5ED"/>
          </a:solidFill>
          <a:ln/>
        </p:spPr>
      </p:sp>
      <p:sp>
        <p:nvSpPr>
          <p:cNvPr id="54" name="Text 47"/>
          <p:cNvSpPr/>
          <p:nvPr/>
        </p:nvSpPr>
        <p:spPr>
          <a:xfrm>
            <a:off x="7677150" y="5641181"/>
            <a:ext cx="179070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NotoSans" pitchFamily="34" charset="0"/>
                <a:ea typeface="NotoSans" pitchFamily="34" charset="-122"/>
                <a:cs typeface="NotoSans" pitchFamily="34" charset="-120"/>
              </a:rPr>
              <a:t>Power</a:t>
            </a:r>
            <a:endParaRPr lang="en-US" sz="1800" dirty="0"/>
          </a:p>
        </p:txBody>
      </p:sp>
      <p:sp>
        <p:nvSpPr>
          <p:cNvPr id="55" name="Shape 48"/>
          <p:cNvSpPr/>
          <p:nvPr/>
        </p:nvSpPr>
        <p:spPr>
          <a:xfrm>
            <a:off x="9582150" y="6050756"/>
            <a:ext cx="3771900" cy="19050"/>
          </a:xfrm>
          <a:prstGeom prst="rect">
            <a:avLst/>
          </a:prstGeom>
          <a:solidFill>
            <a:srgbClr val="E2E5ED"/>
          </a:solidFill>
          <a:ln/>
        </p:spPr>
      </p:sp>
      <p:sp>
        <p:nvSpPr>
          <p:cNvPr id="56" name="Text 49"/>
          <p:cNvSpPr/>
          <p:nvPr/>
        </p:nvSpPr>
        <p:spPr>
          <a:xfrm>
            <a:off x="9772650" y="5641181"/>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~40–130W</a:t>
            </a:r>
            <a:endParaRPr lang="en-US" sz="1800" dirty="0"/>
          </a:p>
        </p:txBody>
      </p:sp>
      <p:sp>
        <p:nvSpPr>
          <p:cNvPr id="57" name="Shape 50"/>
          <p:cNvSpPr/>
          <p:nvPr/>
        </p:nvSpPr>
        <p:spPr>
          <a:xfrm>
            <a:off x="13354050" y="6050756"/>
            <a:ext cx="3771900" cy="19050"/>
          </a:xfrm>
          <a:prstGeom prst="rect">
            <a:avLst/>
          </a:prstGeom>
          <a:solidFill>
            <a:srgbClr val="E2E5ED"/>
          </a:solidFill>
          <a:ln/>
        </p:spPr>
      </p:sp>
      <p:sp>
        <p:nvSpPr>
          <p:cNvPr id="58" name="Text 51"/>
          <p:cNvSpPr/>
          <p:nvPr/>
        </p:nvSpPr>
        <p:spPr>
          <a:xfrm>
            <a:off x="13544550" y="5641181"/>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~80–100W (est.)</a:t>
            </a:r>
            <a:endParaRPr lang="en-US" sz="1800" dirty="0"/>
          </a:p>
        </p:txBody>
      </p:sp>
      <p:sp>
        <p:nvSpPr>
          <p:cNvPr id="59" name="Text 52"/>
          <p:cNvSpPr/>
          <p:nvPr/>
        </p:nvSpPr>
        <p:spPr>
          <a:xfrm>
            <a:off x="7677150" y="6165056"/>
            <a:ext cx="1790700" cy="352425"/>
          </a:xfrm>
          <a:prstGeom prst="rect">
            <a:avLst/>
          </a:prstGeom>
          <a:noFill/>
          <a:ln/>
        </p:spPr>
        <p:txBody>
          <a:bodyPr wrap="square" lIns="25400" tIns="25400" rIns="25400" bIns="25400" rtlCol="0" anchor="t">
            <a:normAutofit/>
          </a:bodyPr>
          <a:lstStyle/>
          <a:p>
            <a:pPr algn="l" indent="0" marL="0">
              <a:buNone/>
            </a:pPr>
            <a:r>
              <a:rPr lang="en-US" sz="1800" b="1" dirty="0">
                <a:solidFill>
                  <a:srgbClr val="1C2B34">
                    <a:alpha val="68000"/>
                  </a:srgbClr>
                </a:solidFill>
                <a:latin typeface="NotoSans" pitchFamily="34" charset="0"/>
                <a:ea typeface="NotoSans" pitchFamily="34" charset="-122"/>
                <a:cs typeface="NotoSans" pitchFamily="34" charset="-120"/>
              </a:rPr>
              <a:t>Cost</a:t>
            </a:r>
            <a:endParaRPr lang="en-US" sz="1800" dirty="0"/>
          </a:p>
        </p:txBody>
      </p:sp>
      <p:sp>
        <p:nvSpPr>
          <p:cNvPr id="60" name="Text 53"/>
          <p:cNvSpPr/>
          <p:nvPr/>
        </p:nvSpPr>
        <p:spPr>
          <a:xfrm>
            <a:off x="9772650" y="6165056"/>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$600–1,300 per chip (est.)</a:t>
            </a:r>
            <a:endParaRPr lang="en-US" sz="1800" dirty="0"/>
          </a:p>
        </p:txBody>
      </p:sp>
      <p:sp>
        <p:nvSpPr>
          <p:cNvPr id="61" name="Text 54"/>
          <p:cNvSpPr/>
          <p:nvPr/>
        </p:nvSpPr>
        <p:spPr>
          <a:xfrm>
            <a:off x="13544550" y="6165056"/>
            <a:ext cx="3504057"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~$3,640 service unit</a:t>
            </a:r>
            <a:endParaRPr lang="en-US" sz="1800" dirty="0"/>
          </a:p>
        </p:txBody>
      </p:sp>
      <p:sp>
        <p:nvSpPr>
          <p:cNvPr id="62" name="Shape 55"/>
          <p:cNvSpPr/>
          <p:nvPr/>
        </p:nvSpPr>
        <p:spPr>
          <a:xfrm>
            <a:off x="7467600" y="6727031"/>
            <a:ext cx="3124200" cy="1371600"/>
          </a:xfrm>
          <a:prstGeom prst="roundRect">
            <a:avLst>
              <a:gd name="adj" fmla="val 5556"/>
            </a:avLst>
          </a:prstGeom>
          <a:solidFill>
            <a:srgbClr val="FDEBED"/>
          </a:solidFill>
          <a:ln/>
        </p:spPr>
      </p:sp>
      <p:sp>
        <p:nvSpPr>
          <p:cNvPr id="63" name="Text 56"/>
          <p:cNvSpPr/>
          <p:nvPr/>
        </p:nvSpPr>
        <p:spPr>
          <a:xfrm>
            <a:off x="7658100" y="6860381"/>
            <a:ext cx="3017520"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BC2B3C"/>
                </a:solidFill>
                <a:latin typeface="NotoSans" pitchFamily="34" charset="0"/>
                <a:ea typeface="NotoSans" pitchFamily="34" charset="-122"/>
                <a:cs typeface="NotoSans" pitchFamily="34" charset="-120"/>
              </a:rPr>
              <a:t>~$3,000+</a:t>
            </a:r>
            <a:endParaRPr lang="en-US" sz="2550" dirty="0"/>
          </a:p>
        </p:txBody>
      </p:sp>
      <p:sp>
        <p:nvSpPr>
          <p:cNvPr id="64" name="Text 57"/>
          <p:cNvSpPr/>
          <p:nvPr/>
        </p:nvSpPr>
        <p:spPr>
          <a:xfrm>
            <a:off x="7658100" y="7336631"/>
            <a:ext cx="2825496" cy="66675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per vehicle, high-end AV platform</a:t>
            </a:r>
            <a:endParaRPr lang="en-US" sz="1800" dirty="0"/>
          </a:p>
        </p:txBody>
      </p:sp>
      <p:sp>
        <p:nvSpPr>
          <p:cNvPr id="65" name="Shape 58"/>
          <p:cNvSpPr/>
          <p:nvPr/>
        </p:nvSpPr>
        <p:spPr>
          <a:xfrm>
            <a:off x="10744200" y="6727031"/>
            <a:ext cx="3124200" cy="1371600"/>
          </a:xfrm>
          <a:prstGeom prst="roundRect">
            <a:avLst>
              <a:gd name="adj" fmla="val 5556"/>
            </a:avLst>
          </a:prstGeom>
          <a:solidFill>
            <a:srgbClr val="FFF6E3"/>
          </a:solidFill>
          <a:ln/>
        </p:spPr>
      </p:sp>
      <p:sp>
        <p:nvSpPr>
          <p:cNvPr id="66" name="Text 59"/>
          <p:cNvSpPr/>
          <p:nvPr/>
        </p:nvSpPr>
        <p:spPr>
          <a:xfrm>
            <a:off x="10934700" y="6860381"/>
            <a:ext cx="3017520"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C15800"/>
                </a:solidFill>
                <a:latin typeface="NotoSans" pitchFamily="34" charset="0"/>
                <a:ea typeface="NotoSans" pitchFamily="34" charset="-122"/>
                <a:cs typeface="NotoSans" pitchFamily="34" charset="-120"/>
              </a:rPr>
              <a:t>Up to 130W</a:t>
            </a:r>
            <a:endParaRPr lang="en-US" sz="2550" dirty="0"/>
          </a:p>
        </p:txBody>
      </p:sp>
      <p:sp>
        <p:nvSpPr>
          <p:cNvPr id="67" name="Text 60"/>
          <p:cNvSpPr/>
          <p:nvPr/>
        </p:nvSpPr>
        <p:spPr>
          <a:xfrm>
            <a:off x="10934700" y="7336631"/>
            <a:ext cx="2825496" cy="66675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power draw, plus liquid cooling and wiring</a:t>
            </a:r>
            <a:endParaRPr lang="en-US" sz="1800" dirty="0"/>
          </a:p>
        </p:txBody>
      </p:sp>
      <p:sp>
        <p:nvSpPr>
          <p:cNvPr id="68" name="Shape 61"/>
          <p:cNvSpPr/>
          <p:nvPr/>
        </p:nvSpPr>
        <p:spPr>
          <a:xfrm>
            <a:off x="14020800" y="6727031"/>
            <a:ext cx="3124200" cy="1371600"/>
          </a:xfrm>
          <a:prstGeom prst="roundRect">
            <a:avLst>
              <a:gd name="adj" fmla="val 5556"/>
            </a:avLst>
          </a:prstGeom>
          <a:solidFill>
            <a:srgbClr val="FDEBED"/>
          </a:solidFill>
          <a:ln/>
        </p:spPr>
      </p:sp>
      <p:sp>
        <p:nvSpPr>
          <p:cNvPr id="69" name="Text 62"/>
          <p:cNvSpPr/>
          <p:nvPr/>
        </p:nvSpPr>
        <p:spPr>
          <a:xfrm>
            <a:off x="14211300" y="6860381"/>
            <a:ext cx="3017520"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BC2B3C"/>
                </a:solidFill>
                <a:latin typeface="NotoSans" pitchFamily="34" charset="0"/>
                <a:ea typeface="NotoSans" pitchFamily="34" charset="-122"/>
                <a:cs typeface="NotoSans" pitchFamily="34" charset="-120"/>
              </a:rPr>
              <a:t>Thousands</a:t>
            </a:r>
            <a:endParaRPr lang="en-US" sz="2550" dirty="0"/>
          </a:p>
        </p:txBody>
      </p:sp>
      <p:sp>
        <p:nvSpPr>
          <p:cNvPr id="70" name="Text 63"/>
          <p:cNvSpPr/>
          <p:nvPr/>
        </p:nvSpPr>
        <p:spPr>
          <a:xfrm>
            <a:off x="14211300" y="7336631"/>
            <a:ext cx="301752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98000"/>
                  </a:srgbClr>
                </a:solidFill>
                <a:latin typeface="NotoSans" pitchFamily="34" charset="0"/>
                <a:ea typeface="NotoSans" pitchFamily="34" charset="-122"/>
                <a:cs typeface="NotoSans" pitchFamily="34" charset="-120"/>
              </a:rPr>
              <a:t>in added cost per vehicle</a:t>
            </a:r>
            <a:endParaRPr lang="en-US" sz="1800" dirty="0"/>
          </a:p>
        </p:txBody>
      </p:sp>
      <p:sp>
        <p:nvSpPr>
          <p:cNvPr id="71" name="Shape 64"/>
          <p:cNvSpPr/>
          <p:nvPr/>
        </p:nvSpPr>
        <p:spPr>
          <a:xfrm>
            <a:off x="1143000" y="9092803"/>
            <a:ext cx="16002000" cy="19050"/>
          </a:xfrm>
          <a:prstGeom prst="rect">
            <a:avLst/>
          </a:prstGeom>
          <a:solidFill>
            <a:srgbClr val="E2E5ED"/>
          </a:solidFill>
          <a:ln/>
        </p:spPr>
      </p:sp>
      <p:sp>
        <p:nvSpPr>
          <p:cNvPr id="72" name="Text 65"/>
          <p:cNvSpPr/>
          <p:nvPr/>
        </p:nvSpPr>
        <p:spPr>
          <a:xfrm>
            <a:off x="1143000" y="9392692"/>
            <a:ext cx="4539213" cy="346621"/>
          </a:xfrm>
          <a:prstGeom prst="rect">
            <a:avLst/>
          </a:prstGeom>
          <a:noFill/>
          <a:ln/>
        </p:spPr>
        <p:txBody>
          <a:bodyPr wrap="none" lIns="25400" tIns="25400" rIns="25400" bIns="25400" rtlCol="0" anchor="t">
            <a:normAutofit/>
          </a:bodyPr>
          <a:lstStyle/>
          <a:p>
            <a:pPr algn="l" indent="0" marL="0">
              <a:lnSpc>
                <a:spcPct val="98182"/>
              </a:lnSpc>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73" name="Text 66"/>
          <p:cNvSpPr/>
          <p:nvPr/>
        </p:nvSpPr>
        <p:spPr>
          <a:xfrm>
            <a:off x="5409294" y="9264253"/>
            <a:ext cx="11334329" cy="603647"/>
          </a:xfrm>
          <a:prstGeom prst="rect">
            <a:avLst/>
          </a:prstGeom>
          <a:noFill/>
          <a:ln/>
        </p:spPr>
        <p:txBody>
          <a:bodyPr wrap="square" lIns="25400" tIns="25400" rIns="25400" bIns="25400" rtlCol="0" anchor="t">
            <a:normAutofit/>
          </a:bodyPr>
          <a:lstStyle/>
          <a:p>
            <a:pPr algn="ctr" indent="0" marL="0">
              <a:lnSpc>
                <a:spcPct val="99000"/>
              </a:lnSpc>
              <a:buNone/>
            </a:pPr>
            <a:r>
              <a:rPr lang="en-US" sz="1650" dirty="0">
                <a:solidFill>
                  <a:srgbClr val="1C2B34">
                    <a:alpha val="50000"/>
                  </a:srgbClr>
                </a:solidFill>
                <a:latin typeface="NotoSans" pitchFamily="34" charset="0"/>
                <a:ea typeface="NotoSans" pitchFamily="34" charset="-122"/>
                <a:cs typeface="NotoSans" pitchFamily="34" charset="-120"/>
              </a:rPr>
              <a:t>*Thor: NVIDIA DRIVE AGX Thor developer docs (Dec 2025); chip price est. MarketResearch.com (2025). HW4: SemiAnalysis teardown (TOPS, memory); Electrek (2025, power est.); OEM service-unit listing (cost).</a:t>
            </a:r>
            <a:endParaRPr lang="en-US" sz="1650" dirty="0"/>
          </a:p>
        </p:txBody>
      </p:sp>
      <p:sp>
        <p:nvSpPr>
          <p:cNvPr id="74" name="Text 67"/>
          <p:cNvSpPr/>
          <p:nvPr/>
        </p:nvSpPr>
        <p:spPr>
          <a:xfrm>
            <a:off x="16883360" y="9392692"/>
            <a:ext cx="337840" cy="346621"/>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1C2B34">
                    <a:alpha val="50000"/>
                  </a:srgbClr>
                </a:solidFill>
                <a:latin typeface="NotoSans" pitchFamily="34" charset="0"/>
                <a:ea typeface="NotoSans" pitchFamily="34" charset="-122"/>
                <a:cs typeface="NotoSans" pitchFamily="34" charset="-120"/>
              </a:rPr>
              <a:t>25</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609600"/>
            <a:ext cx="3049339" cy="609600"/>
          </a:xfrm>
          <a:prstGeom prst="roundRect">
            <a:avLst>
              <a:gd name="adj" fmla="val 12500"/>
            </a:avLst>
          </a:prstGeom>
          <a:solidFill>
            <a:srgbClr val="EFF1F5"/>
          </a:solidFill>
          <a:ln w="19050">
            <a:solidFill>
              <a:srgbClr val="D1D6E6"/>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47800" y="800100"/>
            <a:ext cx="228600" cy="228600"/>
          </a:xfrm>
          <a:prstGeom prst="rect">
            <a:avLst/>
          </a:prstGeom>
        </p:spPr>
      </p:pic>
      <p:sp>
        <p:nvSpPr>
          <p:cNvPr id="4" name="Text 1"/>
          <p:cNvSpPr/>
          <p:nvPr/>
        </p:nvSpPr>
        <p:spPr>
          <a:xfrm>
            <a:off x="1771650" y="757238"/>
            <a:ext cx="583109" cy="352425"/>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NotoSans" pitchFamily="34" charset="0"/>
                <a:ea typeface="NotoSans" pitchFamily="34" charset="-122"/>
                <a:cs typeface="NotoSans" pitchFamily="34" charset="-120"/>
              </a:rPr>
              <a:t>Now</a:t>
            </a:r>
            <a:endParaRPr lang="en-US" sz="1800" dirty="0"/>
          </a:p>
        </p:txBody>
      </p:sp>
      <p:sp>
        <p:nvSpPr>
          <p:cNvPr id="5" name="Shape 2"/>
          <p:cNvSpPr/>
          <p:nvPr/>
        </p:nvSpPr>
        <p:spPr>
          <a:xfrm>
            <a:off x="2583359" y="685800"/>
            <a:ext cx="1532781" cy="457200"/>
          </a:xfrm>
          <a:prstGeom prst="roundRect">
            <a:avLst>
              <a:gd name="adj" fmla="val 8333"/>
            </a:avLst>
          </a:prstGeom>
          <a:solidFill>
            <a:srgbClr val="41C464"/>
          </a:solidFill>
          <a:ln/>
        </p:spPr>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1959" y="800100"/>
            <a:ext cx="228600" cy="228600"/>
          </a:xfrm>
          <a:prstGeom prst="rect">
            <a:avLst/>
          </a:prstGeom>
        </p:spPr>
      </p:pic>
      <p:sp>
        <p:nvSpPr>
          <p:cNvPr id="7" name="Text 3"/>
          <p:cNvSpPr/>
          <p:nvPr/>
        </p:nvSpPr>
        <p:spPr>
          <a:xfrm>
            <a:off x="3135809" y="757238"/>
            <a:ext cx="827931" cy="352425"/>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NotoSans" pitchFamily="34" charset="0"/>
                <a:ea typeface="NotoSans" pitchFamily="34" charset="-122"/>
                <a:cs typeface="NotoSans" pitchFamily="34" charset="-120"/>
              </a:rPr>
              <a:t>Dream</a:t>
            </a:r>
            <a:endParaRPr lang="en-US" sz="1800" dirty="0"/>
          </a:p>
        </p:txBody>
      </p:sp>
      <p:sp>
        <p:nvSpPr>
          <p:cNvPr id="8" name="Text 4"/>
          <p:cNvSpPr/>
          <p:nvPr/>
        </p:nvSpPr>
        <p:spPr>
          <a:xfrm>
            <a:off x="1143000" y="1371600"/>
            <a:ext cx="17602200" cy="541883"/>
          </a:xfrm>
          <a:prstGeom prst="rect">
            <a:avLst/>
          </a:prstGeom>
          <a:noFill/>
          <a:ln/>
        </p:spPr>
        <p:txBody>
          <a:bodyPr wrap="square" lIns="25400" tIns="25400" rIns="25400" bIns="25400" rtlCol="0" anchor="t">
            <a:normAutofit/>
          </a:bodyPr>
          <a:lstStyle/>
          <a:p>
            <a:pPr algn="l" indent="0" marL="0">
              <a:lnSpc>
                <a:spcPct val="85323"/>
              </a:lnSpc>
              <a:buNone/>
            </a:pPr>
            <a:r>
              <a:rPr lang="en-US" sz="3450" b="1" spc="-34" kern="0" dirty="0">
                <a:solidFill>
                  <a:srgbClr val="1C2B34">
                    <a:alpha val="98000"/>
                  </a:srgbClr>
                </a:solidFill>
                <a:latin typeface="NotoSans" pitchFamily="34" charset="0"/>
                <a:ea typeface="NotoSans" pitchFamily="34" charset="-122"/>
                <a:cs typeface="NotoSans" pitchFamily="34" charset="-120"/>
              </a:rPr>
              <a:t>The 'Dream' State: Mass Democratization via Handheld Hardware</a:t>
            </a:r>
            <a:endParaRPr lang="en-US" sz="3450" dirty="0"/>
          </a:p>
        </p:txBody>
      </p:sp>
      <p:sp>
        <p:nvSpPr>
          <p:cNvPr id="9" name="Shape 5"/>
          <p:cNvSpPr/>
          <p:nvPr/>
        </p:nvSpPr>
        <p:spPr>
          <a:xfrm>
            <a:off x="1143000" y="2352973"/>
            <a:ext cx="7848600" cy="5157192"/>
          </a:xfrm>
          <a:prstGeom prst="roundRect">
            <a:avLst>
              <a:gd name="adj" fmla="val 1478"/>
            </a:avLst>
          </a:prstGeom>
          <a:ln w="19050">
            <a:solidFill>
              <a:srgbClr val="41C464"/>
            </a:solidFill>
            <a:prstDash val="solid"/>
          </a:ln>
        </p:spPr>
      </p:sp>
      <p:sp>
        <p:nvSpPr>
          <p:cNvPr id="10" name="Shape 6"/>
          <p:cNvSpPr/>
          <p:nvPr/>
        </p:nvSpPr>
        <p:spPr>
          <a:xfrm>
            <a:off x="1504950" y="2676823"/>
            <a:ext cx="609600" cy="609600"/>
          </a:xfrm>
          <a:prstGeom prst="roundRect">
            <a:avLst>
              <a:gd name="adj" fmla="val 12500"/>
            </a:avLst>
          </a:prstGeom>
          <a:solidFill>
            <a:srgbClr val="ECF9EF"/>
          </a:solidFill>
          <a:ln/>
        </p:spPr>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8775" y="2800648"/>
            <a:ext cx="361950" cy="361950"/>
          </a:xfrm>
          <a:prstGeom prst="rect">
            <a:avLst/>
          </a:prstGeom>
        </p:spPr>
      </p:pic>
      <p:sp>
        <p:nvSpPr>
          <p:cNvPr id="12" name="Text 7"/>
          <p:cNvSpPr/>
          <p:nvPr/>
        </p:nvSpPr>
        <p:spPr>
          <a:xfrm>
            <a:off x="2286000" y="2784425"/>
            <a:ext cx="5715967" cy="432346"/>
          </a:xfrm>
          <a:prstGeom prst="rect">
            <a:avLst/>
          </a:prstGeom>
          <a:noFill/>
          <a:ln/>
        </p:spPr>
        <p:txBody>
          <a:bodyPr wrap="square" lIns="25400" tIns="25400" rIns="25400" bIns="25400" rtlCol="0" anchor="t">
            <a:normAutofit/>
          </a:bodyPr>
          <a:lstStyle/>
          <a:p>
            <a:pPr algn="l" indent="0" marL="0">
              <a:lnSpc>
                <a:spcPct val="84490"/>
              </a:lnSpc>
              <a:buNone/>
            </a:pPr>
            <a:r>
              <a:rPr lang="en-US" sz="2700" b="1" dirty="0">
                <a:solidFill>
                  <a:srgbClr val="1C2B34">
                    <a:alpha val="98000"/>
                  </a:srgbClr>
                </a:solidFill>
                <a:latin typeface="NotoSans" pitchFamily="34" charset="0"/>
                <a:ea typeface="NotoSans" pitchFamily="34" charset="-122"/>
                <a:cs typeface="NotoSans" pitchFamily="34" charset="-120"/>
              </a:rPr>
              <a:t>BYOD (Bring Your Own Device)</a:t>
            </a:r>
            <a:endParaRPr lang="en-US" sz="2700" dirty="0"/>
          </a:p>
        </p:txBody>
      </p:sp>
      <p:sp>
        <p:nvSpPr>
          <p:cNvPr id="13" name="Text 8"/>
          <p:cNvSpPr/>
          <p:nvPr/>
        </p:nvSpPr>
        <p:spPr>
          <a:xfrm>
            <a:off x="1504950" y="3457873"/>
            <a:ext cx="4938177" cy="657225"/>
          </a:xfrm>
          <a:prstGeom prst="rect">
            <a:avLst/>
          </a:prstGeom>
          <a:noFill/>
          <a:ln/>
        </p:spPr>
        <p:txBody>
          <a:bodyPr wrap="square" lIns="25400" tIns="25400" rIns="25400" bIns="25400" rtlCol="0" anchor="t">
            <a:normAutofit/>
          </a:bodyPr>
          <a:lstStyle/>
          <a:p>
            <a:pPr algn="l" indent="0" marL="0">
              <a:buNone/>
            </a:pPr>
            <a:r>
              <a:rPr lang="en-US" sz="3600" b="1" spc="-36" kern="0" dirty="0">
                <a:solidFill>
                  <a:srgbClr val="2A7E41"/>
                </a:solidFill>
                <a:latin typeface="NotoSans" pitchFamily="34" charset="0"/>
                <a:ea typeface="NotoSans" pitchFamily="34" charset="-122"/>
                <a:cs typeface="NotoSans" pitchFamily="34" charset="-120"/>
              </a:rPr>
              <a:t>$0 Incremental Cost</a:t>
            </a:r>
            <a:endParaRPr lang="en-US" sz="3600" dirty="0"/>
          </a:p>
        </p:txBody>
      </p:sp>
      <p:sp>
        <p:nvSpPr>
          <p:cNvPr id="14" name="Text 9"/>
          <p:cNvSpPr/>
          <p:nvPr/>
        </p:nvSpPr>
        <p:spPr>
          <a:xfrm>
            <a:off x="1504950" y="4248448"/>
            <a:ext cx="7338441" cy="1473994"/>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1C2B34">
                    <a:alpha val="98000"/>
                  </a:srgbClr>
                </a:solidFill>
                <a:latin typeface="NotoSans" pitchFamily="34" charset="0"/>
                <a:ea typeface="NotoSans" pitchFamily="34" charset="-122"/>
                <a:cs typeface="NotoSans" pitchFamily="34" charset="-120"/>
              </a:rPr>
              <a:t>Running optimized small LLMs directly on consumer mobile processors (e.g., standard smartphone NPUs). The phone interfaces with the car via Bluetooth or a cheap $15 OBD-II dongle. </a:t>
            </a:r>
            <a:pPr algn="l" indent="0" marL="0">
              <a:lnSpc>
                <a:spcPct val="104722"/>
              </a:lnSpc>
              <a:buNone/>
            </a:pPr>
            <a:r>
              <a:rPr lang="en-US" sz="1800" dirty="0">
                <a:solidFill>
                  <a:srgbClr val="1C2B34">
                    <a:alpha val="50000"/>
                  </a:srgbClr>
                </a:solidFill>
                <a:latin typeface="NotoSans" pitchFamily="34" charset="0"/>
                <a:ea typeface="NotoSans" pitchFamily="34" charset="-122"/>
                <a:cs typeface="NotoSans" pitchFamily="34" charset="-120"/>
              </a:rPr>
              <a:t>Source: ELM327 Bluetooth adapters, ~$5–30 retail</a:t>
            </a:r>
            <a:endParaRPr lang="en-US" sz="1950" dirty="0"/>
          </a:p>
        </p:txBody>
      </p:sp>
      <p:sp>
        <p:nvSpPr>
          <p:cNvPr id="15" name="Shape 10"/>
          <p:cNvSpPr/>
          <p:nvPr/>
        </p:nvSpPr>
        <p:spPr>
          <a:xfrm>
            <a:off x="1504950" y="5855791"/>
            <a:ext cx="7124700" cy="19050"/>
          </a:xfrm>
          <a:prstGeom prst="rect">
            <a:avLst/>
          </a:prstGeom>
          <a:solidFill>
            <a:srgbClr val="E2E5ED"/>
          </a:solidFill>
          <a:ln/>
        </p:spPr>
      </p:sp>
      <p:sp>
        <p:nvSpPr>
          <p:cNvPr id="16" name="Text 11"/>
          <p:cNvSpPr/>
          <p:nvPr/>
        </p:nvSpPr>
        <p:spPr>
          <a:xfrm>
            <a:off x="1504950" y="6027241"/>
            <a:ext cx="7338441" cy="1115020"/>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1C2B34">
                    <a:alpha val="98000"/>
                  </a:srgbClr>
                </a:solidFill>
                <a:latin typeface="NotoSans" pitchFamily="34" charset="0"/>
                <a:ea typeface="NotoSans" pitchFamily="34" charset="-122"/>
                <a:cs typeface="NotoSans" pitchFamily="34" charset="-120"/>
              </a:rPr>
              <a:t>Impact: </a:t>
            </a:r>
            <a:pPr algn="l" indent="0" marL="0">
              <a:lnSpc>
                <a:spcPct val="104722"/>
              </a:lnSpc>
              <a:buNone/>
            </a:pPr>
            <a:r>
              <a:rPr lang="en-US" sz="1950" dirty="0">
                <a:solidFill>
                  <a:srgbClr val="1C2B34">
                    <a:alpha val="98000"/>
                  </a:srgbClr>
                </a:solidFill>
                <a:latin typeface="NotoSans" pitchFamily="34" charset="0"/>
                <a:ea typeface="NotoSans" pitchFamily="34" charset="-122"/>
                <a:cs typeface="NotoSans" pitchFamily="34" charset="-120"/>
              </a:rPr>
              <a:t>Instantly turns 1.4 billion existing consumer cars into "smart edge" vehicles overnight. </a:t>
            </a:r>
            <a:pPr algn="l" indent="0" marL="0">
              <a:lnSpc>
                <a:spcPct val="104722"/>
              </a:lnSpc>
              <a:buNone/>
            </a:pPr>
            <a:r>
              <a:rPr lang="en-US" sz="1800" dirty="0">
                <a:solidFill>
                  <a:srgbClr val="1C2B34">
                    <a:alpha val="50000"/>
                  </a:srgbClr>
                </a:solidFill>
                <a:latin typeface="NotoSans" pitchFamily="34" charset="0"/>
                <a:ea typeface="NotoSans" pitchFamily="34" charset="-122"/>
                <a:cs typeface="NotoSans" pitchFamily="34" charset="-120"/>
              </a:rPr>
              <a:t>Source: ~1.475B passenger cars in use, 2024 (WhichCar)</a:t>
            </a:r>
            <a:endParaRPr lang="en-US" sz="1950" dirty="0"/>
          </a:p>
        </p:txBody>
      </p:sp>
      <p:sp>
        <p:nvSpPr>
          <p:cNvPr id="17" name="Shape 12"/>
          <p:cNvSpPr/>
          <p:nvPr/>
        </p:nvSpPr>
        <p:spPr>
          <a:xfrm>
            <a:off x="9296400" y="2352973"/>
            <a:ext cx="7848600" cy="5157192"/>
          </a:xfrm>
          <a:prstGeom prst="roundRect">
            <a:avLst>
              <a:gd name="adj" fmla="val 1478"/>
            </a:avLst>
          </a:prstGeom>
          <a:ln w="19050">
            <a:solidFill>
              <a:srgbClr val="41C464"/>
            </a:solidFill>
            <a:prstDash val="solid"/>
          </a:ln>
        </p:spPr>
      </p:sp>
      <p:sp>
        <p:nvSpPr>
          <p:cNvPr id="18" name="Shape 13"/>
          <p:cNvSpPr/>
          <p:nvPr/>
        </p:nvSpPr>
        <p:spPr>
          <a:xfrm>
            <a:off x="9658350" y="2676823"/>
            <a:ext cx="609600" cy="609600"/>
          </a:xfrm>
          <a:prstGeom prst="roundRect">
            <a:avLst>
              <a:gd name="adj" fmla="val 12500"/>
            </a:avLst>
          </a:prstGeom>
          <a:solidFill>
            <a:srgbClr val="ECF9EF"/>
          </a:solidFill>
          <a:ln/>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82175" y="2800648"/>
            <a:ext cx="361950" cy="361950"/>
          </a:xfrm>
          <a:prstGeom prst="rect">
            <a:avLst/>
          </a:prstGeom>
        </p:spPr>
      </p:pic>
      <p:sp>
        <p:nvSpPr>
          <p:cNvPr id="20" name="Text 14"/>
          <p:cNvSpPr/>
          <p:nvPr/>
        </p:nvSpPr>
        <p:spPr>
          <a:xfrm>
            <a:off x="10439400" y="2784425"/>
            <a:ext cx="6402898" cy="432346"/>
          </a:xfrm>
          <a:prstGeom prst="rect">
            <a:avLst/>
          </a:prstGeom>
          <a:noFill/>
          <a:ln/>
        </p:spPr>
        <p:txBody>
          <a:bodyPr wrap="square" lIns="25400" tIns="25400" rIns="25400" bIns="25400" rtlCol="0" anchor="t">
            <a:normAutofit/>
          </a:bodyPr>
          <a:lstStyle/>
          <a:p>
            <a:pPr algn="l" indent="0" marL="0">
              <a:lnSpc>
                <a:spcPct val="84490"/>
              </a:lnSpc>
              <a:buNone/>
            </a:pPr>
            <a:r>
              <a:rPr lang="en-US" sz="2700" b="1" dirty="0">
                <a:solidFill>
                  <a:srgbClr val="1C2B34">
                    <a:alpha val="98000"/>
                  </a:srgbClr>
                </a:solidFill>
                <a:latin typeface="NotoSans" pitchFamily="34" charset="0"/>
                <a:ea typeface="NotoSans" pitchFamily="34" charset="-122"/>
                <a:cs typeface="NotoSans" pitchFamily="34" charset="-120"/>
              </a:rPr>
              <a:t>The Handheld Plug-and-Play Node</a:t>
            </a:r>
            <a:endParaRPr lang="en-US" sz="2700" dirty="0"/>
          </a:p>
        </p:txBody>
      </p:sp>
      <p:sp>
        <p:nvSpPr>
          <p:cNvPr id="21" name="Text 15"/>
          <p:cNvSpPr/>
          <p:nvPr/>
        </p:nvSpPr>
        <p:spPr>
          <a:xfrm>
            <a:off x="9658350" y="3457873"/>
            <a:ext cx="4134520" cy="657225"/>
          </a:xfrm>
          <a:prstGeom prst="rect">
            <a:avLst/>
          </a:prstGeom>
          <a:noFill/>
          <a:ln/>
        </p:spPr>
        <p:txBody>
          <a:bodyPr wrap="square" lIns="25400" tIns="25400" rIns="25400" bIns="25400" rtlCol="0" anchor="t">
            <a:normAutofit/>
          </a:bodyPr>
          <a:lstStyle/>
          <a:p>
            <a:pPr algn="l" indent="0" marL="0">
              <a:buNone/>
            </a:pPr>
            <a:r>
              <a:rPr lang="en-US" sz="3600" b="1" spc="-36" kern="0" dirty="0">
                <a:solidFill>
                  <a:srgbClr val="2A7E41"/>
                </a:solidFill>
                <a:latin typeface="NotoSans" pitchFamily="34" charset="0"/>
                <a:ea typeface="NotoSans" pitchFamily="34" charset="-122"/>
                <a:cs typeface="NotoSans" pitchFamily="34" charset="-120"/>
              </a:rPr>
              <a:t>$100s Retail Cost</a:t>
            </a:r>
            <a:endParaRPr lang="en-US" sz="3600" dirty="0"/>
          </a:p>
        </p:txBody>
      </p:sp>
      <p:sp>
        <p:nvSpPr>
          <p:cNvPr id="22" name="Text 16"/>
          <p:cNvSpPr/>
          <p:nvPr/>
        </p:nvSpPr>
        <p:spPr>
          <a:xfrm>
            <a:off x="9658350" y="4248448"/>
            <a:ext cx="7338441" cy="111502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1C2B34">
                    <a:alpha val="98000"/>
                  </a:srgbClr>
                </a:solidFill>
                <a:latin typeface="NotoSans" pitchFamily="34" charset="0"/>
                <a:ea typeface="NotoSans" pitchFamily="34" charset="-122"/>
                <a:cs typeface="NotoSans" pitchFamily="34" charset="-120"/>
              </a:rPr>
              <a:t>A tiny, low-power standalone dongle powered by ultra-affordable chips (like a Raspberry Pi Zero or Pi 4 equivalent footprint) that plugs straight into the dashboard.</a:t>
            </a:r>
            <a:endParaRPr lang="en-US" sz="1950" dirty="0"/>
          </a:p>
        </p:txBody>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58350" y="5687318"/>
            <a:ext cx="247650" cy="247650"/>
          </a:xfrm>
          <a:prstGeom prst="rect">
            <a:avLst/>
          </a:prstGeom>
        </p:spPr>
      </p:pic>
      <p:sp>
        <p:nvSpPr>
          <p:cNvPr id="24" name="Text 17"/>
          <p:cNvSpPr/>
          <p:nvPr/>
        </p:nvSpPr>
        <p:spPr>
          <a:xfrm>
            <a:off x="10020300" y="5496818"/>
            <a:ext cx="6965633" cy="66675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NotoSans" pitchFamily="34" charset="0"/>
                <a:ea typeface="NotoSans" pitchFamily="34" charset="-122"/>
                <a:cs typeface="NotoSans" pitchFamily="34" charset="-120"/>
              </a:rPr>
              <a:t>Test bed (stand-in for a consumer device): Raspberry Pi 4 · 4-core Arm Cortex-A72 · 8GB RAM</a:t>
            </a:r>
            <a:endParaRPr lang="en-US" sz="1800" dirty="0"/>
          </a:p>
        </p:txBody>
      </p:sp>
      <p:sp>
        <p:nvSpPr>
          <p:cNvPr id="25" name="Shape 18"/>
          <p:cNvSpPr/>
          <p:nvPr/>
        </p:nvSpPr>
        <p:spPr>
          <a:xfrm>
            <a:off x="9658350" y="6296918"/>
            <a:ext cx="7124700" cy="19050"/>
          </a:xfrm>
          <a:prstGeom prst="rect">
            <a:avLst/>
          </a:prstGeom>
          <a:solidFill>
            <a:srgbClr val="E2E5ED"/>
          </a:solidFill>
          <a:ln/>
        </p:spPr>
      </p:sp>
      <p:sp>
        <p:nvSpPr>
          <p:cNvPr id="26" name="Text 19"/>
          <p:cNvSpPr/>
          <p:nvPr/>
        </p:nvSpPr>
        <p:spPr>
          <a:xfrm>
            <a:off x="9658350" y="6468368"/>
            <a:ext cx="7338441" cy="756047"/>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1C2B34">
                    <a:alpha val="98000"/>
                  </a:srgbClr>
                </a:solidFill>
                <a:latin typeface="NotoSans" pitchFamily="34" charset="0"/>
                <a:ea typeface="NotoSans" pitchFamily="34" charset="-122"/>
                <a:cs typeface="NotoSans" pitchFamily="34" charset="-120"/>
              </a:rPr>
              <a:t>Impact: </a:t>
            </a:r>
            <a:pPr algn="l" indent="0" marL="0">
              <a:lnSpc>
                <a:spcPct val="104722"/>
              </a:lnSpc>
              <a:buNone/>
            </a:pPr>
            <a:r>
              <a:rPr lang="en-US" sz="1950" dirty="0">
                <a:solidFill>
                  <a:srgbClr val="1C2B34">
                    <a:alpha val="98000"/>
                  </a:srgbClr>
                </a:solidFill>
                <a:latin typeface="NotoSans" pitchFamily="34" charset="0"/>
                <a:ea typeface="NotoSans" pitchFamily="34" charset="-122"/>
                <a:cs typeface="NotoSans" pitchFamily="34" charset="-120"/>
              </a:rPr>
              <a:t>Modest algorithmic efficiencies remove the need for fans, heavy wiring, or high battery drain.</a:t>
            </a:r>
            <a:endParaRPr lang="en-US" sz="1950" dirty="0"/>
          </a:p>
        </p:txBody>
      </p:sp>
      <p:sp>
        <p:nvSpPr>
          <p:cNvPr id="27" name="Shape 20"/>
          <p:cNvSpPr/>
          <p:nvPr/>
        </p:nvSpPr>
        <p:spPr>
          <a:xfrm>
            <a:off x="1143000" y="7987903"/>
            <a:ext cx="16002000" cy="1203722"/>
          </a:xfrm>
          <a:prstGeom prst="roundRect">
            <a:avLst>
              <a:gd name="adj" fmla="val 6330"/>
            </a:avLst>
          </a:prstGeom>
          <a:solidFill>
            <a:srgbClr val="242931"/>
          </a:solidFill>
          <a:ln/>
        </p:spPr>
      </p:sp>
      <p:pic>
        <p:nvPicPr>
          <p:cNvPr id="2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47800" y="8418314"/>
            <a:ext cx="342900" cy="342900"/>
          </a:xfrm>
          <a:prstGeom prst="rect">
            <a:avLst/>
          </a:prstGeom>
        </p:spPr>
      </p:pic>
      <p:sp>
        <p:nvSpPr>
          <p:cNvPr id="29" name="Text 21"/>
          <p:cNvSpPr/>
          <p:nvPr/>
        </p:nvSpPr>
        <p:spPr>
          <a:xfrm>
            <a:off x="1981200" y="8216503"/>
            <a:ext cx="13205729" cy="784622"/>
          </a:xfrm>
          <a:prstGeom prst="rect">
            <a:avLst/>
          </a:prstGeom>
          <a:noFill/>
          <a:ln/>
        </p:spPr>
        <p:txBody>
          <a:bodyPr wrap="square" lIns="25400" tIns="25400" rIns="25400" bIns="25400" rtlCol="0" anchor="t">
            <a:normAutofit/>
          </a:bodyPr>
          <a:lstStyle/>
          <a:p>
            <a:pPr algn="l" indent="0" marL="0">
              <a:lnSpc>
                <a:spcPct val="103158"/>
              </a:lnSpc>
              <a:buNone/>
            </a:pPr>
            <a:r>
              <a:rPr lang="en-US" sz="2100" b="1" dirty="0">
                <a:solidFill>
                  <a:srgbClr val="FFFFFF"/>
                </a:solidFill>
                <a:latin typeface="NotoSans" pitchFamily="34" charset="0"/>
                <a:ea typeface="NotoSans" pitchFamily="34" charset="-122"/>
                <a:cs typeface="NotoSans" pitchFamily="34" charset="-120"/>
              </a:rPr>
              <a:t>By shifting intelligence from custom automotive silicon to small LLMs on handheld hardware, deployment cost drops by 97%+ while making edge safety accessible to 100% of drivers.</a:t>
            </a:r>
            <a:endParaRPr lang="en-US" sz="2100" dirty="0"/>
          </a:p>
        </p:txBody>
      </p:sp>
      <p:sp>
        <p:nvSpPr>
          <p:cNvPr id="30" name="Shape 22"/>
          <p:cNvSpPr/>
          <p:nvPr/>
        </p:nvSpPr>
        <p:spPr>
          <a:xfrm>
            <a:off x="14992796" y="8408789"/>
            <a:ext cx="1847404" cy="361950"/>
          </a:xfrm>
          <a:prstGeom prst="roundRect">
            <a:avLst>
              <a:gd name="adj" fmla="val 10526"/>
            </a:avLst>
          </a:prstGeom>
          <a:solidFill>
            <a:srgbClr val="FFF6E3"/>
          </a:solidFill>
          <a:ln w="19050">
            <a:solidFill>
              <a:srgbClr val="FCC028"/>
            </a:solidFill>
            <a:prstDash val="solid"/>
          </a:ln>
        </p:spPr>
      </p:sp>
      <p:sp>
        <p:nvSpPr>
          <p:cNvPr id="31" name="Text 23"/>
          <p:cNvSpPr/>
          <p:nvPr/>
        </p:nvSpPr>
        <p:spPr>
          <a:xfrm>
            <a:off x="15107096" y="8427839"/>
            <a:ext cx="1803544" cy="361950"/>
          </a:xfrm>
          <a:prstGeom prst="rect">
            <a:avLst/>
          </a:prstGeom>
          <a:noFill/>
          <a:ln/>
        </p:spPr>
        <p:txBody>
          <a:bodyPr wrap="none" lIns="25400" tIns="25400" rIns="25400" bIns="25400" rtlCol="0" anchor="ctr">
            <a:normAutofit/>
          </a:bodyPr>
          <a:lstStyle/>
          <a:p>
            <a:pPr algn="l" indent="0" marL="0">
              <a:lnSpc>
                <a:spcPct val="101818"/>
              </a:lnSpc>
              <a:buNone/>
            </a:pPr>
            <a:r>
              <a:rPr lang="en-US" sz="1800" b="1" dirty="0">
                <a:solidFill>
                  <a:srgbClr val="C15800"/>
                </a:solidFill>
                <a:latin typeface="NotoSans" pitchFamily="34" charset="0"/>
                <a:ea typeface="NotoSans" pitchFamily="34" charset="-122"/>
                <a:cs typeface="NotoSans" pitchFamily="34" charset="-120"/>
              </a:rPr>
              <a:t>NEEDS: source</a:t>
            </a:r>
            <a:endParaRPr lang="en-US" sz="1800" dirty="0"/>
          </a:p>
        </p:txBody>
      </p:sp>
      <p:sp>
        <p:nvSpPr>
          <p:cNvPr id="32" name="Shape 24"/>
          <p:cNvSpPr/>
          <p:nvPr/>
        </p:nvSpPr>
        <p:spPr>
          <a:xfrm>
            <a:off x="1143000" y="9344025"/>
            <a:ext cx="16002000" cy="19050"/>
          </a:xfrm>
          <a:prstGeom prst="rect">
            <a:avLst/>
          </a:prstGeom>
          <a:solidFill>
            <a:srgbClr val="E2E5ED"/>
          </a:solidFill>
          <a:ln/>
        </p:spPr>
      </p:sp>
      <p:sp>
        <p:nvSpPr>
          <p:cNvPr id="33" name="Text 25"/>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34" name="Text 26"/>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26</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3946327"/>
            <a:ext cx="16482060" cy="2118122"/>
          </a:xfrm>
          <a:prstGeom prst="rect">
            <a:avLst/>
          </a:prstGeom>
          <a:noFill/>
          <a:ln/>
        </p:spPr>
        <p:txBody>
          <a:bodyPr wrap="square" lIns="25400" tIns="25400" rIns="25400" bIns="25400" rtlCol="0" anchor="t">
            <a:normAutofit/>
          </a:bodyPr>
          <a:lstStyle/>
          <a:p>
            <a:pPr algn="l" indent="0" marL="0">
              <a:lnSpc>
                <a:spcPct val="77447"/>
              </a:lnSpc>
              <a:buNone/>
            </a:pPr>
            <a:r>
              <a:rPr lang="en-US" sz="7800" b="1" spc="-156" kern="0" dirty="0">
                <a:solidFill>
                  <a:srgbClr val="FFFFFF"/>
                </a:solidFill>
                <a:latin typeface="NotoSans" pitchFamily="34" charset="0"/>
                <a:ea typeface="NotoSans" pitchFamily="34" charset="-122"/>
                <a:cs typeface="NotoSans" pitchFamily="34" charset="-120"/>
              </a:rPr>
              <a:t>The Paradigm Shift &amp; Compute Spectrum</a:t>
            </a:r>
            <a:endParaRPr lang="en-US" sz="7800" dirty="0"/>
          </a:p>
        </p:txBody>
      </p:sp>
      <p:sp>
        <p:nvSpPr>
          <p:cNvPr id="8" name="Text 6"/>
          <p:cNvSpPr/>
          <p:nvPr/>
        </p:nvSpPr>
        <p:spPr>
          <a:xfrm>
            <a:off x="1143000" y="88296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Edge Intelligence for Connected Fleets</a:t>
            </a:r>
            <a:endParaRPr lang="en-US" sz="1800" dirty="0"/>
          </a:p>
        </p:txBody>
      </p:sp>
      <p:sp>
        <p:nvSpPr>
          <p:cNvPr id="9" name="Text 7"/>
          <p:cNvSpPr/>
          <p:nvPr/>
        </p:nvSpPr>
        <p:spPr>
          <a:xfrm>
            <a:off x="16883360" y="88296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06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35496"/>
          </a:xfrm>
          <a:prstGeom prst="rect">
            <a:avLst/>
          </a:prstGeom>
          <a:noFill/>
          <a:ln/>
        </p:spPr>
        <p:txBody>
          <a:bodyPr wrap="square" lIns="25400" tIns="25400" rIns="25400" bIns="25400" rtlCol="0" anchor="t">
            <a:normAutofit/>
          </a:bodyPr>
          <a:lstStyle/>
          <a:p>
            <a:pPr algn="l" indent="0" marL="0">
              <a:lnSpc>
                <a:spcPct val="82526"/>
              </a:lnSpc>
              <a:buNone/>
            </a:pPr>
            <a:r>
              <a:rPr lang="en-US" sz="4200" b="1" spc="-42" kern="0" dirty="0">
                <a:solidFill>
                  <a:srgbClr val="1C2B34">
                    <a:alpha val="98000"/>
                  </a:srgbClr>
                </a:solidFill>
                <a:latin typeface="NotoSans" pitchFamily="34" charset="0"/>
                <a:ea typeface="NotoSans" pitchFamily="34" charset="-122"/>
                <a:cs typeface="NotoSans" pitchFamily="34" charset="-120"/>
              </a:rPr>
              <a:t>The Proposed Solution – Small LLMs</a:t>
            </a:r>
            <a:endParaRPr lang="en-US" sz="4200" dirty="0"/>
          </a:p>
        </p:txBody>
      </p:sp>
      <p:sp>
        <p:nvSpPr>
          <p:cNvPr id="3" name="Text 1"/>
          <p:cNvSpPr/>
          <p:nvPr/>
        </p:nvSpPr>
        <p:spPr>
          <a:xfrm>
            <a:off x="1143000" y="3477667"/>
            <a:ext cx="7730871" cy="1028700"/>
          </a:xfrm>
          <a:prstGeom prst="rect">
            <a:avLst/>
          </a:prstGeom>
          <a:noFill/>
          <a:ln/>
        </p:spPr>
        <p:txBody>
          <a:bodyPr wrap="square" lIns="25400" tIns="25400" rIns="25400" bIns="25400" rtlCol="0" anchor="t">
            <a:normAutofit/>
          </a:bodyPr>
          <a:lstStyle/>
          <a:p>
            <a:pPr algn="l" indent="0" marL="0">
              <a:lnSpc>
                <a:spcPct val="94545"/>
              </a:lnSpc>
              <a:buNone/>
            </a:pPr>
            <a:r>
              <a:rPr lang="en-US" sz="3000" b="1" dirty="0">
                <a:solidFill>
                  <a:srgbClr val="1C2B34">
                    <a:alpha val="98000"/>
                  </a:srgbClr>
                </a:solidFill>
                <a:latin typeface="NotoSans" pitchFamily="34" charset="0"/>
                <a:ea typeface="NotoSans" pitchFamily="34" charset="-122"/>
                <a:cs typeface="NotoSans" pitchFamily="34" charset="-120"/>
              </a:rPr>
              <a:t>Smaller LLMs deployed on the edge can solve both problems.</a:t>
            </a:r>
            <a:endParaRPr lang="en-US" sz="3000" dirty="0"/>
          </a:p>
        </p:txBody>
      </p:sp>
      <p:sp>
        <p:nvSpPr>
          <p:cNvPr id="4" name="Shape 2"/>
          <p:cNvSpPr/>
          <p:nvPr/>
        </p:nvSpPr>
        <p:spPr>
          <a:xfrm>
            <a:off x="1143000" y="4849267"/>
            <a:ext cx="533400" cy="533400"/>
          </a:xfrm>
          <a:prstGeom prst="roundRect">
            <a:avLst>
              <a:gd name="adj" fmla="val 14286"/>
            </a:avLst>
          </a:prstGeom>
          <a:solidFill>
            <a:srgbClr val="F2ECFC"/>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57300" y="4963567"/>
            <a:ext cx="304800" cy="304800"/>
          </a:xfrm>
          <a:prstGeom prst="rect">
            <a:avLst/>
          </a:prstGeom>
        </p:spPr>
      </p:pic>
      <p:sp>
        <p:nvSpPr>
          <p:cNvPr id="6" name="Text 3"/>
          <p:cNvSpPr/>
          <p:nvPr/>
        </p:nvSpPr>
        <p:spPr>
          <a:xfrm>
            <a:off x="1885950" y="4849267"/>
            <a:ext cx="6965633" cy="866775"/>
          </a:xfrm>
          <a:prstGeom prst="rect">
            <a:avLst/>
          </a:prstGeom>
          <a:noFill/>
          <a:ln/>
        </p:spPr>
        <p:txBody>
          <a:bodyPr wrap="square" lIns="25400" tIns="25400" rIns="25400" bIns="25400" rtlCol="0" anchor="t">
            <a:normAutofit/>
          </a:bodyPr>
          <a:lstStyle/>
          <a:p>
            <a:pPr algn="l" indent="0" marL="0">
              <a:lnSpc>
                <a:spcPct val="106098"/>
              </a:lnSpc>
              <a:buNone/>
            </a:pPr>
            <a:r>
              <a:rPr lang="en-US" sz="2250" b="1" dirty="0">
                <a:solidFill>
                  <a:srgbClr val="1C2B34">
                    <a:alpha val="98000"/>
                  </a:srgbClr>
                </a:solidFill>
                <a:latin typeface="NotoSans" pitchFamily="34" charset="0"/>
                <a:ea typeface="NotoSans" pitchFamily="34" charset="-122"/>
                <a:cs typeface="NotoSans" pitchFamily="34" charset="-120"/>
              </a:rPr>
              <a:t>Algorithmic Efficiency: </a:t>
            </a:r>
            <a:pPr algn="l" indent="0" marL="0">
              <a:lnSpc>
                <a:spcPct val="106098"/>
              </a:lnSpc>
              <a:buNone/>
            </a:pPr>
            <a:r>
              <a:rPr lang="en-US" sz="2250" dirty="0">
                <a:solidFill>
                  <a:srgbClr val="1C2B34">
                    <a:alpha val="98000"/>
                  </a:srgbClr>
                </a:solidFill>
                <a:latin typeface="NotoSans" pitchFamily="34" charset="0"/>
                <a:ea typeface="NotoSans" pitchFamily="34" charset="-122"/>
                <a:cs typeface="NotoSans" pitchFamily="34" charset="-120"/>
              </a:rPr>
              <a:t>Shrinking model footprint rather than expanding hardware cost.</a:t>
            </a:r>
            <a:endParaRPr lang="en-US" sz="2250" dirty="0"/>
          </a:p>
        </p:txBody>
      </p:sp>
      <p:sp>
        <p:nvSpPr>
          <p:cNvPr id="7" name="Shape 4"/>
          <p:cNvSpPr/>
          <p:nvPr/>
        </p:nvSpPr>
        <p:spPr>
          <a:xfrm>
            <a:off x="1143000" y="6058942"/>
            <a:ext cx="533400" cy="533400"/>
          </a:xfrm>
          <a:prstGeom prst="roundRect">
            <a:avLst>
              <a:gd name="adj" fmla="val 14286"/>
            </a:avLst>
          </a:prstGeom>
          <a:solidFill>
            <a:srgbClr val="F2ECFC"/>
          </a:solidFill>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7300" y="6173242"/>
            <a:ext cx="304800" cy="304800"/>
          </a:xfrm>
          <a:prstGeom prst="rect">
            <a:avLst/>
          </a:prstGeom>
        </p:spPr>
      </p:pic>
      <p:sp>
        <p:nvSpPr>
          <p:cNvPr id="9" name="Text 5"/>
          <p:cNvSpPr/>
          <p:nvPr/>
        </p:nvSpPr>
        <p:spPr>
          <a:xfrm>
            <a:off x="1885950" y="6058942"/>
            <a:ext cx="6965633" cy="1281113"/>
          </a:xfrm>
          <a:prstGeom prst="rect">
            <a:avLst/>
          </a:prstGeom>
          <a:noFill/>
          <a:ln/>
        </p:spPr>
        <p:txBody>
          <a:bodyPr wrap="square" lIns="25400" tIns="25400" rIns="25400" bIns="25400" rtlCol="0" anchor="t">
            <a:normAutofit/>
          </a:bodyPr>
          <a:lstStyle/>
          <a:p>
            <a:pPr algn="l" indent="0" marL="0">
              <a:lnSpc>
                <a:spcPct val="106098"/>
              </a:lnSpc>
              <a:buNone/>
            </a:pPr>
            <a:r>
              <a:rPr lang="en-US" sz="2250" b="1" dirty="0">
                <a:solidFill>
                  <a:srgbClr val="1C2B34">
                    <a:alpha val="98000"/>
                  </a:srgbClr>
                </a:solidFill>
                <a:latin typeface="NotoSans" pitchFamily="34" charset="0"/>
                <a:ea typeface="NotoSans" pitchFamily="34" charset="-122"/>
                <a:cs typeface="NotoSans" pitchFamily="34" charset="-120"/>
              </a:rPr>
              <a:t>Bypassing Accelerators: </a:t>
            </a:r>
            <a:pPr algn="l" indent="0" marL="0">
              <a:lnSpc>
                <a:spcPct val="106098"/>
              </a:lnSpc>
              <a:buNone/>
            </a:pPr>
            <a:r>
              <a:rPr lang="en-US" sz="2250" dirty="0">
                <a:solidFill>
                  <a:srgbClr val="1C2B34">
                    <a:alpha val="98000"/>
                  </a:srgbClr>
                </a:solidFill>
                <a:latin typeface="NotoSans" pitchFamily="34" charset="0"/>
                <a:ea typeface="NotoSans" pitchFamily="34" charset="-122"/>
                <a:cs typeface="NotoSans" pitchFamily="34" charset="-120"/>
              </a:rPr>
              <a:t>Intentionally removing the GPU/NPU dependency to target ubiquitous silicon.</a:t>
            </a:r>
            <a:endParaRPr lang="en-US" sz="2250" dirty="0"/>
          </a:p>
        </p:txBody>
      </p:sp>
      <p:sp>
        <p:nvSpPr>
          <p:cNvPr id="10" name="Shape 6"/>
          <p:cNvSpPr/>
          <p:nvPr/>
        </p:nvSpPr>
        <p:spPr>
          <a:xfrm>
            <a:off x="9334500" y="1698873"/>
            <a:ext cx="7810500" cy="7381875"/>
          </a:xfrm>
          <a:prstGeom prst="roundRect">
            <a:avLst>
              <a:gd name="adj" fmla="val 1032"/>
            </a:avLst>
          </a:prstGeom>
          <a:solidFill>
            <a:srgbClr val="242931"/>
          </a:solidFill>
          <a:ln/>
        </p:spPr>
      </p:sp>
      <p:sp>
        <p:nvSpPr>
          <p:cNvPr id="11" name="Text 7"/>
          <p:cNvSpPr/>
          <p:nvPr/>
        </p:nvSpPr>
        <p:spPr>
          <a:xfrm>
            <a:off x="9605486" y="2117973"/>
            <a:ext cx="3258503" cy="44767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NotoSans" pitchFamily="34" charset="0"/>
                <a:ea typeface="NotoSans" pitchFamily="34" charset="-122"/>
                <a:cs typeface="NotoSans" pitchFamily="34" charset="-120"/>
              </a:rPr>
              <a:t>Traditional LLM</a:t>
            </a:r>
            <a:endParaRPr lang="en-US" sz="2400" dirty="0"/>
          </a:p>
        </p:txBody>
      </p:sp>
      <p:sp>
        <p:nvSpPr>
          <p:cNvPr id="12" name="Text 8"/>
          <p:cNvSpPr/>
          <p:nvPr/>
        </p:nvSpPr>
        <p:spPr>
          <a:xfrm>
            <a:off x="13615511" y="2117973"/>
            <a:ext cx="3258503" cy="447675"/>
          </a:xfrm>
          <a:prstGeom prst="rect">
            <a:avLst/>
          </a:prstGeom>
          <a:noFill/>
          <a:ln/>
        </p:spPr>
        <p:txBody>
          <a:bodyPr wrap="square" lIns="25400" tIns="25400" rIns="25400" bIns="25400" rtlCol="0" anchor="t">
            <a:normAutofit/>
          </a:bodyPr>
          <a:lstStyle/>
          <a:p>
            <a:pPr algn="ctr" indent="0" marL="0">
              <a:buNone/>
            </a:pPr>
            <a:r>
              <a:rPr lang="en-US" sz="2400" b="1" dirty="0">
                <a:solidFill>
                  <a:srgbClr val="41EBA4"/>
                </a:solidFill>
                <a:latin typeface="NotoSans" pitchFamily="34" charset="0"/>
                <a:ea typeface="NotoSans" pitchFamily="34" charset="-122"/>
                <a:cs typeface="NotoSans" pitchFamily="34" charset="-120"/>
              </a:rPr>
              <a:t>Small LLM</a:t>
            </a:r>
            <a:endParaRPr lang="en-US" sz="24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53600" y="2703761"/>
            <a:ext cx="266700" cy="266700"/>
          </a:xfrm>
          <a:prstGeom prst="rect">
            <a:avLst/>
          </a:prstGeom>
        </p:spPr>
      </p:pic>
      <p:sp>
        <p:nvSpPr>
          <p:cNvPr id="14" name="Text 9"/>
          <p:cNvSpPr/>
          <p:nvPr/>
        </p:nvSpPr>
        <p:spPr>
          <a:xfrm>
            <a:off x="10134600" y="2679948"/>
            <a:ext cx="2481858" cy="352425"/>
          </a:xfrm>
          <a:prstGeom prst="rect">
            <a:avLst/>
          </a:prstGeom>
          <a:noFill/>
          <a:ln/>
        </p:spPr>
        <p:txBody>
          <a:bodyPr wrap="square" lIns="0" tIns="0" rIns="0" bIns="0" rtlCol="0" anchor="t">
            <a:normAutofit/>
          </a:bodyPr>
          <a:lstStyle/>
          <a:p>
            <a:pPr algn="l" indent="0" marL="0">
              <a:buNone/>
            </a:pPr>
            <a:r>
              <a:rPr lang="en-US" sz="1800" b="1" spc="108" kern="0" dirty="0">
                <a:solidFill>
                  <a:srgbClr val="A78BFA"/>
                </a:solidFill>
                <a:latin typeface="NotoSans" pitchFamily="34" charset="0"/>
                <a:ea typeface="NotoSans" pitchFamily="34" charset="-122"/>
                <a:cs typeface="NotoSans" pitchFamily="34" charset="-120"/>
              </a:rPr>
              <a:t>MODEL FOOTPRINT</a:t>
            </a:r>
            <a:endParaRPr lang="en-US" sz="1800" dirty="0"/>
          </a:p>
        </p:txBody>
      </p:sp>
      <p:sp>
        <p:nvSpPr>
          <p:cNvPr id="15" name="Shape 10"/>
          <p:cNvSpPr/>
          <p:nvPr/>
        </p:nvSpPr>
        <p:spPr>
          <a:xfrm>
            <a:off x="9753600" y="3146673"/>
            <a:ext cx="2962275" cy="2447925"/>
          </a:xfrm>
          <a:prstGeom prst="roundRect">
            <a:avLst>
              <a:gd name="adj" fmla="val 3113"/>
            </a:avLst>
          </a:prstGeom>
          <a:solidFill>
            <a:srgbClr val="FFFFFF">
              <a:alpha val="6000"/>
            </a:srgbClr>
          </a:solidFill>
          <a:ln w="28575">
            <a:solidFill>
              <a:srgbClr val="8F969A"/>
            </a:solidFill>
            <a:prstDash val="solid"/>
          </a:ln>
        </p:spPr>
      </p:sp>
      <p:sp>
        <p:nvSpPr>
          <p:cNvPr id="16" name="Shape 11"/>
          <p:cNvSpPr/>
          <p:nvPr/>
        </p:nvSpPr>
        <p:spPr>
          <a:xfrm>
            <a:off x="10348913" y="3403848"/>
            <a:ext cx="247650" cy="247650"/>
          </a:xfrm>
          <a:prstGeom prst="roundRect">
            <a:avLst>
              <a:gd name="adj" fmla="val 11538"/>
            </a:avLst>
          </a:prstGeom>
          <a:solidFill>
            <a:srgbClr val="8F969A"/>
          </a:solidFill>
          <a:ln/>
        </p:spPr>
      </p:sp>
      <p:sp>
        <p:nvSpPr>
          <p:cNvPr id="17" name="Shape 12"/>
          <p:cNvSpPr/>
          <p:nvPr/>
        </p:nvSpPr>
        <p:spPr>
          <a:xfrm>
            <a:off x="10653713" y="3403848"/>
            <a:ext cx="247650" cy="247650"/>
          </a:xfrm>
          <a:prstGeom prst="roundRect">
            <a:avLst>
              <a:gd name="adj" fmla="val 11538"/>
            </a:avLst>
          </a:prstGeom>
          <a:solidFill>
            <a:srgbClr val="8F969A"/>
          </a:solidFill>
          <a:ln/>
        </p:spPr>
      </p:sp>
      <p:sp>
        <p:nvSpPr>
          <p:cNvPr id="18" name="Shape 13"/>
          <p:cNvSpPr/>
          <p:nvPr/>
        </p:nvSpPr>
        <p:spPr>
          <a:xfrm>
            <a:off x="10958513" y="3403848"/>
            <a:ext cx="247650" cy="247650"/>
          </a:xfrm>
          <a:prstGeom prst="roundRect">
            <a:avLst>
              <a:gd name="adj" fmla="val 11538"/>
            </a:avLst>
          </a:prstGeom>
          <a:solidFill>
            <a:srgbClr val="8F969A"/>
          </a:solidFill>
          <a:ln/>
        </p:spPr>
      </p:sp>
      <p:sp>
        <p:nvSpPr>
          <p:cNvPr id="19" name="Shape 14"/>
          <p:cNvSpPr/>
          <p:nvPr/>
        </p:nvSpPr>
        <p:spPr>
          <a:xfrm>
            <a:off x="11263313" y="3403848"/>
            <a:ext cx="247650" cy="247650"/>
          </a:xfrm>
          <a:prstGeom prst="roundRect">
            <a:avLst>
              <a:gd name="adj" fmla="val 11538"/>
            </a:avLst>
          </a:prstGeom>
          <a:solidFill>
            <a:srgbClr val="8F969A"/>
          </a:solidFill>
          <a:ln/>
        </p:spPr>
      </p:sp>
      <p:sp>
        <p:nvSpPr>
          <p:cNvPr id="20" name="Shape 15"/>
          <p:cNvSpPr/>
          <p:nvPr/>
        </p:nvSpPr>
        <p:spPr>
          <a:xfrm>
            <a:off x="11568113" y="3403848"/>
            <a:ext cx="247650" cy="247650"/>
          </a:xfrm>
          <a:prstGeom prst="roundRect">
            <a:avLst>
              <a:gd name="adj" fmla="val 11538"/>
            </a:avLst>
          </a:prstGeom>
          <a:solidFill>
            <a:srgbClr val="8F969A"/>
          </a:solidFill>
          <a:ln/>
        </p:spPr>
      </p:sp>
      <p:sp>
        <p:nvSpPr>
          <p:cNvPr id="21" name="Shape 16"/>
          <p:cNvSpPr/>
          <p:nvPr/>
        </p:nvSpPr>
        <p:spPr>
          <a:xfrm>
            <a:off x="11872913" y="3403848"/>
            <a:ext cx="247650" cy="247650"/>
          </a:xfrm>
          <a:prstGeom prst="roundRect">
            <a:avLst>
              <a:gd name="adj" fmla="val 11538"/>
            </a:avLst>
          </a:prstGeom>
          <a:solidFill>
            <a:srgbClr val="8F969A"/>
          </a:solidFill>
          <a:ln/>
        </p:spPr>
      </p:sp>
      <p:sp>
        <p:nvSpPr>
          <p:cNvPr id="22" name="Shape 17"/>
          <p:cNvSpPr/>
          <p:nvPr/>
        </p:nvSpPr>
        <p:spPr>
          <a:xfrm>
            <a:off x="10348913" y="3708648"/>
            <a:ext cx="247650" cy="247650"/>
          </a:xfrm>
          <a:prstGeom prst="roundRect">
            <a:avLst>
              <a:gd name="adj" fmla="val 11538"/>
            </a:avLst>
          </a:prstGeom>
          <a:solidFill>
            <a:srgbClr val="8F969A"/>
          </a:solidFill>
          <a:ln/>
        </p:spPr>
      </p:sp>
      <p:sp>
        <p:nvSpPr>
          <p:cNvPr id="23" name="Shape 18"/>
          <p:cNvSpPr/>
          <p:nvPr/>
        </p:nvSpPr>
        <p:spPr>
          <a:xfrm>
            <a:off x="10653713" y="3708648"/>
            <a:ext cx="247650" cy="247650"/>
          </a:xfrm>
          <a:prstGeom prst="roundRect">
            <a:avLst>
              <a:gd name="adj" fmla="val 11538"/>
            </a:avLst>
          </a:prstGeom>
          <a:solidFill>
            <a:srgbClr val="8F969A"/>
          </a:solidFill>
          <a:ln/>
        </p:spPr>
      </p:sp>
      <p:sp>
        <p:nvSpPr>
          <p:cNvPr id="24" name="Shape 19"/>
          <p:cNvSpPr/>
          <p:nvPr/>
        </p:nvSpPr>
        <p:spPr>
          <a:xfrm>
            <a:off x="10958513" y="3708648"/>
            <a:ext cx="247650" cy="247650"/>
          </a:xfrm>
          <a:prstGeom prst="roundRect">
            <a:avLst>
              <a:gd name="adj" fmla="val 11538"/>
            </a:avLst>
          </a:prstGeom>
          <a:solidFill>
            <a:srgbClr val="8F969A"/>
          </a:solidFill>
          <a:ln/>
        </p:spPr>
      </p:sp>
      <p:sp>
        <p:nvSpPr>
          <p:cNvPr id="25" name="Shape 20"/>
          <p:cNvSpPr/>
          <p:nvPr/>
        </p:nvSpPr>
        <p:spPr>
          <a:xfrm>
            <a:off x="11263313" y="3708648"/>
            <a:ext cx="247650" cy="247650"/>
          </a:xfrm>
          <a:prstGeom prst="roundRect">
            <a:avLst>
              <a:gd name="adj" fmla="val 11538"/>
            </a:avLst>
          </a:prstGeom>
          <a:solidFill>
            <a:srgbClr val="8F969A"/>
          </a:solidFill>
          <a:ln/>
        </p:spPr>
      </p:sp>
      <p:sp>
        <p:nvSpPr>
          <p:cNvPr id="26" name="Shape 21"/>
          <p:cNvSpPr/>
          <p:nvPr/>
        </p:nvSpPr>
        <p:spPr>
          <a:xfrm>
            <a:off x="11568113" y="3708648"/>
            <a:ext cx="247650" cy="247650"/>
          </a:xfrm>
          <a:prstGeom prst="roundRect">
            <a:avLst>
              <a:gd name="adj" fmla="val 11538"/>
            </a:avLst>
          </a:prstGeom>
          <a:solidFill>
            <a:srgbClr val="8F969A"/>
          </a:solidFill>
          <a:ln/>
        </p:spPr>
      </p:sp>
      <p:sp>
        <p:nvSpPr>
          <p:cNvPr id="27" name="Shape 22"/>
          <p:cNvSpPr/>
          <p:nvPr/>
        </p:nvSpPr>
        <p:spPr>
          <a:xfrm>
            <a:off x="11872913" y="3708648"/>
            <a:ext cx="247650" cy="247650"/>
          </a:xfrm>
          <a:prstGeom prst="roundRect">
            <a:avLst>
              <a:gd name="adj" fmla="val 11538"/>
            </a:avLst>
          </a:prstGeom>
          <a:solidFill>
            <a:srgbClr val="8F969A"/>
          </a:solidFill>
          <a:ln/>
        </p:spPr>
      </p:sp>
      <p:sp>
        <p:nvSpPr>
          <p:cNvPr id="28" name="Shape 23"/>
          <p:cNvSpPr/>
          <p:nvPr/>
        </p:nvSpPr>
        <p:spPr>
          <a:xfrm>
            <a:off x="10348913" y="4013448"/>
            <a:ext cx="247650" cy="247650"/>
          </a:xfrm>
          <a:prstGeom prst="roundRect">
            <a:avLst>
              <a:gd name="adj" fmla="val 11538"/>
            </a:avLst>
          </a:prstGeom>
          <a:solidFill>
            <a:srgbClr val="8F969A"/>
          </a:solidFill>
          <a:ln/>
        </p:spPr>
      </p:sp>
      <p:sp>
        <p:nvSpPr>
          <p:cNvPr id="29" name="Shape 24"/>
          <p:cNvSpPr/>
          <p:nvPr/>
        </p:nvSpPr>
        <p:spPr>
          <a:xfrm>
            <a:off x="10653713" y="4013448"/>
            <a:ext cx="247650" cy="247650"/>
          </a:xfrm>
          <a:prstGeom prst="roundRect">
            <a:avLst>
              <a:gd name="adj" fmla="val 11538"/>
            </a:avLst>
          </a:prstGeom>
          <a:solidFill>
            <a:srgbClr val="8F969A"/>
          </a:solidFill>
          <a:ln/>
        </p:spPr>
      </p:sp>
      <p:sp>
        <p:nvSpPr>
          <p:cNvPr id="30" name="Shape 25"/>
          <p:cNvSpPr/>
          <p:nvPr/>
        </p:nvSpPr>
        <p:spPr>
          <a:xfrm>
            <a:off x="10958513" y="4013448"/>
            <a:ext cx="247650" cy="247650"/>
          </a:xfrm>
          <a:prstGeom prst="roundRect">
            <a:avLst>
              <a:gd name="adj" fmla="val 11538"/>
            </a:avLst>
          </a:prstGeom>
          <a:solidFill>
            <a:srgbClr val="8F969A"/>
          </a:solidFill>
          <a:ln/>
        </p:spPr>
      </p:sp>
      <p:sp>
        <p:nvSpPr>
          <p:cNvPr id="31" name="Shape 26"/>
          <p:cNvSpPr/>
          <p:nvPr/>
        </p:nvSpPr>
        <p:spPr>
          <a:xfrm>
            <a:off x="11263313" y="4013448"/>
            <a:ext cx="247650" cy="247650"/>
          </a:xfrm>
          <a:prstGeom prst="roundRect">
            <a:avLst>
              <a:gd name="adj" fmla="val 11538"/>
            </a:avLst>
          </a:prstGeom>
          <a:solidFill>
            <a:srgbClr val="8F969A"/>
          </a:solidFill>
          <a:ln/>
        </p:spPr>
      </p:sp>
      <p:sp>
        <p:nvSpPr>
          <p:cNvPr id="32" name="Shape 27"/>
          <p:cNvSpPr/>
          <p:nvPr/>
        </p:nvSpPr>
        <p:spPr>
          <a:xfrm>
            <a:off x="11568113" y="4013448"/>
            <a:ext cx="247650" cy="247650"/>
          </a:xfrm>
          <a:prstGeom prst="roundRect">
            <a:avLst>
              <a:gd name="adj" fmla="val 11538"/>
            </a:avLst>
          </a:prstGeom>
          <a:solidFill>
            <a:srgbClr val="8F969A"/>
          </a:solidFill>
          <a:ln/>
        </p:spPr>
      </p:sp>
      <p:sp>
        <p:nvSpPr>
          <p:cNvPr id="33" name="Shape 28"/>
          <p:cNvSpPr/>
          <p:nvPr/>
        </p:nvSpPr>
        <p:spPr>
          <a:xfrm>
            <a:off x="11872913" y="4013448"/>
            <a:ext cx="247650" cy="247650"/>
          </a:xfrm>
          <a:prstGeom prst="roundRect">
            <a:avLst>
              <a:gd name="adj" fmla="val 11538"/>
            </a:avLst>
          </a:prstGeom>
          <a:solidFill>
            <a:srgbClr val="8F969A"/>
          </a:solidFill>
          <a:ln/>
        </p:spPr>
      </p:sp>
      <p:sp>
        <p:nvSpPr>
          <p:cNvPr id="34" name="Shape 29"/>
          <p:cNvSpPr/>
          <p:nvPr/>
        </p:nvSpPr>
        <p:spPr>
          <a:xfrm>
            <a:off x="10348913" y="4318248"/>
            <a:ext cx="247650" cy="247650"/>
          </a:xfrm>
          <a:prstGeom prst="roundRect">
            <a:avLst>
              <a:gd name="adj" fmla="val 11538"/>
            </a:avLst>
          </a:prstGeom>
          <a:solidFill>
            <a:srgbClr val="8F969A"/>
          </a:solidFill>
          <a:ln/>
        </p:spPr>
      </p:sp>
      <p:sp>
        <p:nvSpPr>
          <p:cNvPr id="35" name="Shape 30"/>
          <p:cNvSpPr/>
          <p:nvPr/>
        </p:nvSpPr>
        <p:spPr>
          <a:xfrm>
            <a:off x="10653713" y="4318248"/>
            <a:ext cx="247650" cy="247650"/>
          </a:xfrm>
          <a:prstGeom prst="roundRect">
            <a:avLst>
              <a:gd name="adj" fmla="val 11538"/>
            </a:avLst>
          </a:prstGeom>
          <a:solidFill>
            <a:srgbClr val="8F969A"/>
          </a:solidFill>
          <a:ln/>
        </p:spPr>
      </p:sp>
      <p:sp>
        <p:nvSpPr>
          <p:cNvPr id="36" name="Shape 31"/>
          <p:cNvSpPr/>
          <p:nvPr/>
        </p:nvSpPr>
        <p:spPr>
          <a:xfrm>
            <a:off x="10958513" y="4318248"/>
            <a:ext cx="247650" cy="247650"/>
          </a:xfrm>
          <a:prstGeom prst="roundRect">
            <a:avLst>
              <a:gd name="adj" fmla="val 11538"/>
            </a:avLst>
          </a:prstGeom>
          <a:solidFill>
            <a:srgbClr val="8F969A"/>
          </a:solidFill>
          <a:ln/>
        </p:spPr>
      </p:sp>
      <p:sp>
        <p:nvSpPr>
          <p:cNvPr id="37" name="Shape 32"/>
          <p:cNvSpPr/>
          <p:nvPr/>
        </p:nvSpPr>
        <p:spPr>
          <a:xfrm>
            <a:off x="11263313" y="4318248"/>
            <a:ext cx="247650" cy="247650"/>
          </a:xfrm>
          <a:prstGeom prst="roundRect">
            <a:avLst>
              <a:gd name="adj" fmla="val 11538"/>
            </a:avLst>
          </a:prstGeom>
          <a:solidFill>
            <a:srgbClr val="8F969A"/>
          </a:solidFill>
          <a:ln/>
        </p:spPr>
      </p:sp>
      <p:sp>
        <p:nvSpPr>
          <p:cNvPr id="38" name="Shape 33"/>
          <p:cNvSpPr/>
          <p:nvPr/>
        </p:nvSpPr>
        <p:spPr>
          <a:xfrm>
            <a:off x="11568113" y="4318248"/>
            <a:ext cx="247650" cy="247650"/>
          </a:xfrm>
          <a:prstGeom prst="roundRect">
            <a:avLst>
              <a:gd name="adj" fmla="val 11538"/>
            </a:avLst>
          </a:prstGeom>
          <a:solidFill>
            <a:srgbClr val="8F969A"/>
          </a:solidFill>
          <a:ln/>
        </p:spPr>
      </p:sp>
      <p:sp>
        <p:nvSpPr>
          <p:cNvPr id="39" name="Shape 34"/>
          <p:cNvSpPr/>
          <p:nvPr/>
        </p:nvSpPr>
        <p:spPr>
          <a:xfrm>
            <a:off x="11872913" y="4318248"/>
            <a:ext cx="247650" cy="247650"/>
          </a:xfrm>
          <a:prstGeom prst="roundRect">
            <a:avLst>
              <a:gd name="adj" fmla="val 11538"/>
            </a:avLst>
          </a:prstGeom>
          <a:solidFill>
            <a:srgbClr val="8F969A"/>
          </a:solidFill>
          <a:ln/>
        </p:spPr>
      </p:sp>
      <p:sp>
        <p:nvSpPr>
          <p:cNvPr id="40" name="Text 35"/>
          <p:cNvSpPr/>
          <p:nvPr/>
        </p:nvSpPr>
        <p:spPr>
          <a:xfrm>
            <a:off x="9972675" y="4718298"/>
            <a:ext cx="2524125" cy="657225"/>
          </a:xfrm>
          <a:prstGeom prst="rect">
            <a:avLst/>
          </a:prstGeom>
          <a:noFill/>
          <a:ln/>
        </p:spPr>
        <p:txBody>
          <a:bodyPr wrap="square" lIns="25400" tIns="25400" rIns="25400" bIns="25400" rtlCol="0" anchor="t">
            <a:normAutofit/>
          </a:bodyPr>
          <a:lstStyle/>
          <a:p>
            <a:pPr algn="ctr" indent="0" marL="0">
              <a:lnSpc>
                <a:spcPct val="90278"/>
              </a:lnSpc>
              <a:buNone/>
            </a:pPr>
            <a:r>
              <a:rPr lang="en-US" sz="1950" b="1" dirty="0">
                <a:solidFill>
                  <a:srgbClr val="C8C8D0"/>
                </a:solidFill>
                <a:latin typeface="NotoSans" pitchFamily="34" charset="0"/>
                <a:ea typeface="NotoSans" pitchFamily="34" charset="-122"/>
                <a:cs typeface="NotoSans" pitchFamily="34" charset="-120"/>
              </a:rPr>
              <a:t>Large, full-precision weights</a:t>
            </a:r>
            <a:endParaRPr lang="en-US" sz="1950" dirty="0"/>
          </a:p>
        </p:txBody>
      </p:sp>
      <p:pic>
        <p:nvPicPr>
          <p:cNvPr id="4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011150" y="3956298"/>
            <a:ext cx="457200" cy="457200"/>
          </a:xfrm>
          <a:prstGeom prst="rect">
            <a:avLst/>
          </a:prstGeom>
        </p:spPr>
      </p:pic>
      <p:sp>
        <p:nvSpPr>
          <p:cNvPr id="42" name="Text 36"/>
          <p:cNvSpPr/>
          <p:nvPr/>
        </p:nvSpPr>
        <p:spPr>
          <a:xfrm>
            <a:off x="12703820" y="4470648"/>
            <a:ext cx="1148209" cy="3524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A78BFA"/>
                </a:solidFill>
                <a:latin typeface="NotoSans" pitchFamily="34" charset="0"/>
                <a:ea typeface="NotoSans" pitchFamily="34" charset="-122"/>
                <a:cs typeface="NotoSans" pitchFamily="34" charset="-120"/>
              </a:rPr>
              <a:t>quantize</a:t>
            </a:r>
            <a:endParaRPr lang="en-US" sz="1800" dirty="0"/>
          </a:p>
        </p:txBody>
      </p:sp>
      <p:sp>
        <p:nvSpPr>
          <p:cNvPr id="43" name="Shape 37"/>
          <p:cNvSpPr/>
          <p:nvPr/>
        </p:nvSpPr>
        <p:spPr>
          <a:xfrm>
            <a:off x="13763625" y="3146673"/>
            <a:ext cx="2962275" cy="2447925"/>
          </a:xfrm>
          <a:prstGeom prst="roundRect">
            <a:avLst>
              <a:gd name="adj" fmla="val 3113"/>
            </a:avLst>
          </a:prstGeom>
          <a:solidFill>
            <a:srgbClr val="41EBA4">
              <a:alpha val="12000"/>
            </a:srgbClr>
          </a:solidFill>
          <a:ln w="28575">
            <a:solidFill>
              <a:srgbClr val="41EBA4"/>
            </a:solidFill>
            <a:prstDash val="solid"/>
          </a:ln>
        </p:spPr>
      </p:sp>
      <p:sp>
        <p:nvSpPr>
          <p:cNvPr id="44" name="Shape 38"/>
          <p:cNvSpPr/>
          <p:nvPr/>
        </p:nvSpPr>
        <p:spPr>
          <a:xfrm>
            <a:off x="14968538" y="3708648"/>
            <a:ext cx="247650" cy="247650"/>
          </a:xfrm>
          <a:prstGeom prst="roundRect">
            <a:avLst>
              <a:gd name="adj" fmla="val 11538"/>
            </a:avLst>
          </a:prstGeom>
          <a:solidFill>
            <a:srgbClr val="41EBA4"/>
          </a:solidFill>
          <a:ln/>
        </p:spPr>
      </p:sp>
      <p:sp>
        <p:nvSpPr>
          <p:cNvPr id="45" name="Shape 39"/>
          <p:cNvSpPr/>
          <p:nvPr/>
        </p:nvSpPr>
        <p:spPr>
          <a:xfrm>
            <a:off x="15273338" y="3708648"/>
            <a:ext cx="247650" cy="247650"/>
          </a:xfrm>
          <a:prstGeom prst="roundRect">
            <a:avLst>
              <a:gd name="adj" fmla="val 11538"/>
            </a:avLst>
          </a:prstGeom>
          <a:solidFill>
            <a:srgbClr val="41EBA4"/>
          </a:solidFill>
          <a:ln/>
        </p:spPr>
      </p:sp>
      <p:sp>
        <p:nvSpPr>
          <p:cNvPr id="46" name="Shape 40"/>
          <p:cNvSpPr/>
          <p:nvPr/>
        </p:nvSpPr>
        <p:spPr>
          <a:xfrm>
            <a:off x="14968538" y="4013448"/>
            <a:ext cx="247650" cy="247650"/>
          </a:xfrm>
          <a:prstGeom prst="roundRect">
            <a:avLst>
              <a:gd name="adj" fmla="val 11538"/>
            </a:avLst>
          </a:prstGeom>
          <a:solidFill>
            <a:srgbClr val="41EBA4"/>
          </a:solidFill>
          <a:ln/>
        </p:spPr>
      </p:sp>
      <p:sp>
        <p:nvSpPr>
          <p:cNvPr id="47" name="Shape 41"/>
          <p:cNvSpPr/>
          <p:nvPr/>
        </p:nvSpPr>
        <p:spPr>
          <a:xfrm>
            <a:off x="15273338" y="4013448"/>
            <a:ext cx="247650" cy="247650"/>
          </a:xfrm>
          <a:prstGeom prst="roundRect">
            <a:avLst>
              <a:gd name="adj" fmla="val 11538"/>
            </a:avLst>
          </a:prstGeom>
          <a:solidFill>
            <a:srgbClr val="41EBA4"/>
          </a:solidFill>
          <a:ln/>
        </p:spPr>
      </p:sp>
      <p:sp>
        <p:nvSpPr>
          <p:cNvPr id="48" name="Text 42"/>
          <p:cNvSpPr/>
          <p:nvPr/>
        </p:nvSpPr>
        <p:spPr>
          <a:xfrm>
            <a:off x="13982700" y="4718298"/>
            <a:ext cx="2524125" cy="657225"/>
          </a:xfrm>
          <a:prstGeom prst="rect">
            <a:avLst/>
          </a:prstGeom>
          <a:noFill/>
          <a:ln/>
        </p:spPr>
        <p:txBody>
          <a:bodyPr wrap="square" lIns="25400" tIns="25400" rIns="25400" bIns="25400" rtlCol="0" anchor="t">
            <a:normAutofit/>
          </a:bodyPr>
          <a:lstStyle/>
          <a:p>
            <a:pPr algn="ctr" indent="0" marL="0">
              <a:lnSpc>
                <a:spcPct val="90278"/>
              </a:lnSpc>
              <a:buNone/>
            </a:pPr>
            <a:r>
              <a:rPr lang="en-US" sz="1950" b="1" dirty="0">
                <a:solidFill>
                  <a:srgbClr val="D6FBE9"/>
                </a:solidFill>
                <a:latin typeface="NotoSans" pitchFamily="34" charset="0"/>
                <a:ea typeface="NotoSans" pitchFamily="34" charset="-122"/>
                <a:cs typeface="NotoSans" pitchFamily="34" charset="-120"/>
              </a:rPr>
              <a:t>Small, dense weights</a:t>
            </a:r>
            <a:endParaRPr lang="en-US" sz="1950" dirty="0"/>
          </a:p>
        </p:txBody>
      </p:sp>
      <p:pic>
        <p:nvPicPr>
          <p:cNvPr id="4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53600" y="5770811"/>
            <a:ext cx="266700" cy="266700"/>
          </a:xfrm>
          <a:prstGeom prst="rect">
            <a:avLst/>
          </a:prstGeom>
        </p:spPr>
      </p:pic>
      <p:sp>
        <p:nvSpPr>
          <p:cNvPr id="50" name="Text 43"/>
          <p:cNvSpPr/>
          <p:nvPr/>
        </p:nvSpPr>
        <p:spPr>
          <a:xfrm>
            <a:off x="10134600" y="5746998"/>
            <a:ext cx="2467719" cy="352425"/>
          </a:xfrm>
          <a:prstGeom prst="rect">
            <a:avLst/>
          </a:prstGeom>
          <a:noFill/>
          <a:ln/>
        </p:spPr>
        <p:txBody>
          <a:bodyPr wrap="square" lIns="0" tIns="0" rIns="0" bIns="0" rtlCol="0" anchor="t">
            <a:normAutofit/>
          </a:bodyPr>
          <a:lstStyle/>
          <a:p>
            <a:pPr algn="l" indent="0" marL="0">
              <a:buNone/>
            </a:pPr>
            <a:r>
              <a:rPr lang="en-US" sz="1800" b="1" spc="108" kern="0" dirty="0">
                <a:solidFill>
                  <a:srgbClr val="A78BFA"/>
                </a:solidFill>
                <a:latin typeface="NotoSans" pitchFamily="34" charset="0"/>
                <a:ea typeface="NotoSans" pitchFamily="34" charset="-122"/>
                <a:cs typeface="NotoSans" pitchFamily="34" charset="-120"/>
              </a:rPr>
              <a:t>REQUIRED SILICON</a:t>
            </a:r>
            <a:endParaRPr lang="en-US" sz="1800" dirty="0"/>
          </a:p>
        </p:txBody>
      </p:sp>
      <p:sp>
        <p:nvSpPr>
          <p:cNvPr id="51" name="Shape 44"/>
          <p:cNvSpPr/>
          <p:nvPr/>
        </p:nvSpPr>
        <p:spPr>
          <a:xfrm>
            <a:off x="9753600" y="6213723"/>
            <a:ext cx="2962275" cy="2447925"/>
          </a:xfrm>
          <a:prstGeom prst="roundRect">
            <a:avLst>
              <a:gd name="adj" fmla="val 3113"/>
            </a:avLst>
          </a:prstGeom>
          <a:solidFill>
            <a:srgbClr val="FFFFFF">
              <a:alpha val="6000"/>
            </a:srgbClr>
          </a:solidFill>
          <a:ln w="28575">
            <a:solidFill>
              <a:srgbClr val="8F969A"/>
            </a:solidFill>
            <a:prstDash val="solid"/>
          </a:ln>
        </p:spPr>
      </p:sp>
      <p:pic>
        <p:nvPicPr>
          <p:cNvPr id="5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72763" y="6804273"/>
            <a:ext cx="495300" cy="495300"/>
          </a:xfrm>
          <a:prstGeom prst="rect">
            <a:avLst/>
          </a:prstGeom>
        </p:spPr>
      </p:pic>
      <p:pic>
        <p:nvPicPr>
          <p:cNvPr id="5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301413" y="6804273"/>
            <a:ext cx="495300" cy="495300"/>
          </a:xfrm>
          <a:prstGeom prst="rect">
            <a:avLst/>
          </a:prstGeom>
        </p:spPr>
      </p:pic>
      <p:sp>
        <p:nvSpPr>
          <p:cNvPr id="54" name="Text 45"/>
          <p:cNvSpPr/>
          <p:nvPr/>
        </p:nvSpPr>
        <p:spPr>
          <a:xfrm>
            <a:off x="9972675" y="7451973"/>
            <a:ext cx="2524125" cy="657225"/>
          </a:xfrm>
          <a:prstGeom prst="rect">
            <a:avLst/>
          </a:prstGeom>
          <a:noFill/>
          <a:ln/>
        </p:spPr>
        <p:txBody>
          <a:bodyPr wrap="square" lIns="25400" tIns="25400" rIns="25400" bIns="25400" rtlCol="0" anchor="t">
            <a:normAutofit/>
          </a:bodyPr>
          <a:lstStyle/>
          <a:p>
            <a:pPr algn="ctr" indent="0" marL="0">
              <a:lnSpc>
                <a:spcPct val="90278"/>
              </a:lnSpc>
              <a:buNone/>
            </a:pPr>
            <a:r>
              <a:rPr lang="en-US" sz="1950" b="1" dirty="0">
                <a:solidFill>
                  <a:srgbClr val="C8C8D0"/>
                </a:solidFill>
                <a:latin typeface="NotoSans" pitchFamily="34" charset="0"/>
                <a:ea typeface="NotoSans" pitchFamily="34" charset="-122"/>
                <a:cs typeface="NotoSans" pitchFamily="34" charset="-120"/>
              </a:rPr>
              <a:t>GPU / NPU accelerator</a:t>
            </a:r>
            <a:endParaRPr lang="en-US" sz="1950" dirty="0"/>
          </a:p>
        </p:txBody>
      </p:sp>
      <p:pic>
        <p:nvPicPr>
          <p:cNvPr id="5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011150" y="7209086"/>
            <a:ext cx="457200" cy="457200"/>
          </a:xfrm>
          <a:prstGeom prst="rect">
            <a:avLst/>
          </a:prstGeom>
        </p:spPr>
      </p:pic>
      <p:sp>
        <p:nvSpPr>
          <p:cNvPr id="56" name="Shape 46"/>
          <p:cNvSpPr/>
          <p:nvPr/>
        </p:nvSpPr>
        <p:spPr>
          <a:xfrm>
            <a:off x="13763625" y="6213723"/>
            <a:ext cx="2962275" cy="2447925"/>
          </a:xfrm>
          <a:prstGeom prst="roundRect">
            <a:avLst>
              <a:gd name="adj" fmla="val 3113"/>
            </a:avLst>
          </a:prstGeom>
          <a:solidFill>
            <a:srgbClr val="41EBA4">
              <a:alpha val="12000"/>
            </a:srgbClr>
          </a:solidFill>
          <a:ln w="28575">
            <a:solidFill>
              <a:srgbClr val="41EBA4"/>
            </a:solidFill>
            <a:prstDash val="solid"/>
          </a:ln>
        </p:spPr>
      </p:sp>
      <p:pic>
        <p:nvPicPr>
          <p:cNvPr id="57"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682788" y="6804273"/>
            <a:ext cx="495300" cy="495300"/>
          </a:xfrm>
          <a:prstGeom prst="rect">
            <a:avLst/>
          </a:prstGeom>
        </p:spPr>
      </p:pic>
      <p:pic>
        <p:nvPicPr>
          <p:cNvPr id="58"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311438" y="6804273"/>
            <a:ext cx="495300" cy="495300"/>
          </a:xfrm>
          <a:prstGeom prst="rect">
            <a:avLst/>
          </a:prstGeom>
        </p:spPr>
      </p:pic>
      <p:sp>
        <p:nvSpPr>
          <p:cNvPr id="59" name="Text 47"/>
          <p:cNvSpPr/>
          <p:nvPr/>
        </p:nvSpPr>
        <p:spPr>
          <a:xfrm>
            <a:off x="13982700" y="7451973"/>
            <a:ext cx="2524125" cy="657225"/>
          </a:xfrm>
          <a:prstGeom prst="rect">
            <a:avLst/>
          </a:prstGeom>
          <a:noFill/>
          <a:ln/>
        </p:spPr>
        <p:txBody>
          <a:bodyPr wrap="square" lIns="25400" tIns="25400" rIns="25400" bIns="25400" rtlCol="0" anchor="t">
            <a:normAutofit/>
          </a:bodyPr>
          <a:lstStyle/>
          <a:p>
            <a:pPr algn="ctr" indent="0" marL="0">
              <a:lnSpc>
                <a:spcPct val="90278"/>
              </a:lnSpc>
              <a:buNone/>
            </a:pPr>
            <a:r>
              <a:rPr lang="en-US" sz="1950" b="1" dirty="0">
                <a:solidFill>
                  <a:srgbClr val="D6FBE9"/>
                </a:solidFill>
                <a:latin typeface="NotoSans" pitchFamily="34" charset="0"/>
                <a:ea typeface="NotoSans" pitchFamily="34" charset="-122"/>
                <a:cs typeface="NotoSans" pitchFamily="34" charset="-120"/>
              </a:rPr>
              <a:t>General-purpose CPU loop</a:t>
            </a:r>
            <a:endParaRPr lang="en-US" sz="1950" dirty="0"/>
          </a:p>
        </p:txBody>
      </p:sp>
      <p:sp>
        <p:nvSpPr>
          <p:cNvPr id="60" name="Shape 48"/>
          <p:cNvSpPr/>
          <p:nvPr/>
        </p:nvSpPr>
        <p:spPr>
          <a:xfrm>
            <a:off x="1143000" y="9344025"/>
            <a:ext cx="16002000" cy="19050"/>
          </a:xfrm>
          <a:prstGeom prst="rect">
            <a:avLst/>
          </a:prstGeom>
          <a:solidFill>
            <a:srgbClr val="E2E5ED"/>
          </a:solidFill>
          <a:ln/>
        </p:spPr>
      </p:sp>
      <p:sp>
        <p:nvSpPr>
          <p:cNvPr id="61" name="Text 49"/>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62" name="Text 50"/>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457200"/>
            <a:ext cx="17602200" cy="635496"/>
          </a:xfrm>
          <a:prstGeom prst="rect">
            <a:avLst/>
          </a:prstGeom>
          <a:noFill/>
          <a:ln/>
        </p:spPr>
        <p:txBody>
          <a:bodyPr wrap="square" lIns="25400" tIns="25400" rIns="25400" bIns="25400" rtlCol="0" anchor="t">
            <a:normAutofit/>
          </a:bodyPr>
          <a:lstStyle/>
          <a:p>
            <a:pPr algn="l" indent="0" marL="0">
              <a:lnSpc>
                <a:spcPct val="82526"/>
              </a:lnSpc>
              <a:buNone/>
            </a:pPr>
            <a:r>
              <a:rPr lang="en-US" sz="4200" b="1" spc="-42" kern="0" dirty="0">
                <a:solidFill>
                  <a:srgbClr val="1C2B34">
                    <a:alpha val="98000"/>
                  </a:srgbClr>
                </a:solidFill>
                <a:latin typeface="NotoSans" pitchFamily="34" charset="0"/>
                <a:ea typeface="NotoSans" pitchFamily="34" charset="-122"/>
                <a:cs typeface="NotoSans" pitchFamily="34" charset="-120"/>
              </a:rPr>
              <a:t>Visualizing the Compute Spectrum</a:t>
            </a:r>
            <a:pPr algn="l" indent="0" marL="0">
              <a:lnSpc>
                <a:spcPct val="82526"/>
              </a:lnSpc>
              <a:buNone/>
            </a:pPr>
            <a:r>
              <a:rPr lang="en-US" sz="4200" b="1" spc="-42" kern="0" dirty="0">
                <a:solidFill>
                  <a:srgbClr val="1C2B34">
                    <a:alpha val="50000"/>
                  </a:srgbClr>
                </a:solidFill>
                <a:latin typeface="NotoSans" pitchFamily="34" charset="0"/>
                <a:ea typeface="NotoSans" pitchFamily="34" charset="-122"/>
                <a:cs typeface="NotoSans" pitchFamily="34" charset="-120"/>
              </a:rPr>
              <a:t>*</a:t>
            </a:r>
            <a:endParaRPr lang="en-US" sz="4200" dirty="0"/>
          </a:p>
        </p:txBody>
      </p:sp>
      <p:pic>
        <p:nvPicPr>
          <p:cNvPr id="3" name="Image 0" descr="preencoded.png">    </p:cNvPr>
          <p:cNvPicPr>
            <a:picLocks noChangeAspect="1"/>
          </p:cNvPicPr>
          <p:nvPr/>
        </p:nvPicPr>
        <p:blipFill>
          <a:blip r:embed="rId1"/>
          <a:srcRect l="-7889" r="-7889" t="0" b="0"/>
          <a:stretch/>
        </p:blipFill>
        <p:spPr>
          <a:xfrm>
            <a:off x="1143000" y="1168896"/>
            <a:ext cx="16002000" cy="7714208"/>
          </a:xfrm>
          <a:prstGeom prst="rect">
            <a:avLst/>
          </a:prstGeom>
        </p:spPr>
      </p:pic>
      <p:sp>
        <p:nvSpPr>
          <p:cNvPr id="4" name="Text 1"/>
          <p:cNvSpPr/>
          <p:nvPr/>
        </p:nvSpPr>
        <p:spPr>
          <a:xfrm>
            <a:off x="342900" y="8997404"/>
            <a:ext cx="17602200" cy="384721"/>
          </a:xfrm>
          <a:prstGeom prst="rect">
            <a:avLst/>
          </a:prstGeom>
          <a:noFill/>
          <a:ln/>
        </p:spPr>
        <p:txBody>
          <a:bodyPr wrap="square" lIns="25400" tIns="25400" rIns="25400" bIns="25400" rtlCol="0" anchor="t">
            <a:normAutofit/>
          </a:bodyPr>
          <a:lstStyle/>
          <a:p>
            <a:pPr algn="ctr" indent="0" marL="0">
              <a:lnSpc>
                <a:spcPct val="95789"/>
              </a:lnSpc>
              <a:buNone/>
            </a:pPr>
            <a:r>
              <a:rPr lang="en-US" sz="2100" i="1" dirty="0">
                <a:solidFill>
                  <a:srgbClr val="1C2B34">
                    <a:alpha val="98000"/>
                  </a:srgbClr>
                </a:solidFill>
                <a:latin typeface="NotoSans" pitchFamily="34" charset="0"/>
                <a:ea typeface="NotoSans" pitchFamily="34" charset="-122"/>
                <a:cs typeface="NotoSans" pitchFamily="34" charset="-120"/>
              </a:rPr>
              <a:t>"If a small LLM reasons successfully on an unassisted Pi CPU, it can run effortlessly on consumer smartphones."</a:t>
            </a:r>
            <a:endParaRPr lang="en-US" sz="2100" dirty="0"/>
          </a:p>
        </p:txBody>
      </p:sp>
      <p:sp>
        <p:nvSpPr>
          <p:cNvPr id="5" name="Shape 2"/>
          <p:cNvSpPr/>
          <p:nvPr/>
        </p:nvSpPr>
        <p:spPr>
          <a:xfrm>
            <a:off x="1143000" y="9458325"/>
            <a:ext cx="16002000" cy="19050"/>
          </a:xfrm>
          <a:prstGeom prst="rect">
            <a:avLst/>
          </a:prstGeom>
          <a:solidFill>
            <a:srgbClr val="E2E5ED"/>
          </a:solidFill>
          <a:ln/>
        </p:spPr>
      </p:sp>
      <p:sp>
        <p:nvSpPr>
          <p:cNvPr id="6" name="Text 3"/>
          <p:cNvSpPr/>
          <p:nvPr/>
        </p:nvSpPr>
        <p:spPr>
          <a:xfrm>
            <a:off x="1143000" y="9591675"/>
            <a:ext cx="4539213" cy="352425"/>
          </a:xfrm>
          <a:prstGeom prst="rect">
            <a:avLst/>
          </a:prstGeom>
          <a:noFill/>
          <a:ln/>
        </p:spPr>
        <p:txBody>
          <a:bodyPr wrap="non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7" name="Text 4"/>
          <p:cNvSpPr/>
          <p:nvPr/>
        </p:nvSpPr>
        <p:spPr>
          <a:xfrm>
            <a:off x="6655028" y="9605963"/>
            <a:ext cx="8843010" cy="323850"/>
          </a:xfrm>
          <a:prstGeom prst="rect">
            <a:avLst/>
          </a:prstGeom>
          <a:noFill/>
          <a:ln/>
        </p:spPr>
        <p:txBody>
          <a:bodyPr wrap="square" lIns="25400" tIns="25400" rIns="25400" bIns="25400" rtlCol="0" anchor="t">
            <a:normAutofit/>
          </a:bodyPr>
          <a:lstStyle/>
          <a:p>
            <a:pPr algn="ctr" indent="0" marL="0">
              <a:buNone/>
            </a:pPr>
            <a:r>
              <a:rPr lang="en-US" sz="1650" dirty="0">
                <a:solidFill>
                  <a:srgbClr val="1C2B34">
                    <a:alpha val="50000"/>
                  </a:srgbClr>
                </a:solidFill>
                <a:latin typeface="NotoSans" pitchFamily="34" charset="0"/>
                <a:ea typeface="NotoSans" pitchFamily="34" charset="-122"/>
                <a:cs typeface="NotoSans" pitchFamily="34" charset="-120"/>
              </a:rPr>
              <a:t>*Sources: Apple A18 Pro Neural Engine, 35 TOPS (Apple); Pi 4 2GB, $55 (PiShop.us)</a:t>
            </a:r>
            <a:endParaRPr lang="en-US" sz="1650" dirty="0"/>
          </a:p>
        </p:txBody>
      </p:sp>
      <p:sp>
        <p:nvSpPr>
          <p:cNvPr id="8" name="Text 5"/>
          <p:cNvSpPr/>
          <p:nvPr/>
        </p:nvSpPr>
        <p:spPr>
          <a:xfrm>
            <a:off x="16883360" y="95916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3946327"/>
            <a:ext cx="16482060" cy="2118122"/>
          </a:xfrm>
          <a:prstGeom prst="rect">
            <a:avLst/>
          </a:prstGeom>
          <a:noFill/>
          <a:ln/>
        </p:spPr>
        <p:txBody>
          <a:bodyPr wrap="square" lIns="25400" tIns="25400" rIns="25400" bIns="25400" rtlCol="0" anchor="t">
            <a:normAutofit/>
          </a:bodyPr>
          <a:lstStyle/>
          <a:p>
            <a:pPr algn="l" indent="0" marL="0">
              <a:lnSpc>
                <a:spcPct val="77447"/>
              </a:lnSpc>
              <a:buNone/>
            </a:pPr>
            <a:r>
              <a:rPr lang="en-US" sz="7800" b="1" spc="-156" kern="0" dirty="0">
                <a:solidFill>
                  <a:srgbClr val="FFFFFF"/>
                </a:solidFill>
                <a:latin typeface="NotoSans" pitchFamily="34" charset="0"/>
                <a:ea typeface="NotoSans" pitchFamily="34" charset="-122"/>
                <a:cs typeface="NotoSans" pitchFamily="34" charset="-120"/>
              </a:rPr>
              <a:t>The Solution Architecture &amp; Apache Pulsar</a:t>
            </a:r>
            <a:endParaRPr lang="en-US" sz="7800" dirty="0"/>
          </a:p>
        </p:txBody>
      </p:sp>
      <p:sp>
        <p:nvSpPr>
          <p:cNvPr id="8" name="Text 6"/>
          <p:cNvSpPr/>
          <p:nvPr/>
        </p:nvSpPr>
        <p:spPr>
          <a:xfrm>
            <a:off x="1143000" y="88296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Edge Intelligence for Connected Fleets</a:t>
            </a:r>
            <a:endParaRPr lang="en-US" sz="1800" dirty="0"/>
          </a:p>
        </p:txBody>
      </p:sp>
      <p:sp>
        <p:nvSpPr>
          <p:cNvPr id="9" name="Text 7"/>
          <p:cNvSpPr/>
          <p:nvPr/>
        </p:nvSpPr>
        <p:spPr>
          <a:xfrm>
            <a:off x="16883360" y="88296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35496"/>
          </a:xfrm>
          <a:prstGeom prst="rect">
            <a:avLst/>
          </a:prstGeom>
          <a:noFill/>
          <a:ln/>
        </p:spPr>
        <p:txBody>
          <a:bodyPr wrap="square" lIns="25400" tIns="25400" rIns="25400" bIns="25400" rtlCol="0" anchor="t">
            <a:normAutofit/>
          </a:bodyPr>
          <a:lstStyle/>
          <a:p>
            <a:pPr algn="l" indent="0" marL="0">
              <a:lnSpc>
                <a:spcPct val="82526"/>
              </a:lnSpc>
              <a:buNone/>
            </a:pPr>
            <a:r>
              <a:rPr lang="en-US" sz="4200" b="1" spc="-42" kern="0" dirty="0">
                <a:solidFill>
                  <a:srgbClr val="1C2B34">
                    <a:alpha val="98000"/>
                  </a:srgbClr>
                </a:solidFill>
                <a:latin typeface="NotoSans" pitchFamily="34" charset="0"/>
                <a:ea typeface="NotoSans" pitchFamily="34" charset="-122"/>
                <a:cs typeface="NotoSans" pitchFamily="34" charset="-120"/>
              </a:rPr>
              <a:t>What are Apache Pulsar Functions?</a:t>
            </a:r>
            <a:endParaRPr lang="en-US" sz="4200" dirty="0"/>
          </a:p>
        </p:txBody>
      </p:sp>
      <p:sp>
        <p:nvSpPr>
          <p:cNvPr id="3" name="Shape 1"/>
          <p:cNvSpPr/>
          <p:nvPr/>
        </p:nvSpPr>
        <p:spPr>
          <a:xfrm>
            <a:off x="1143000" y="2646611"/>
            <a:ext cx="5130701" cy="5486400"/>
          </a:xfrm>
          <a:prstGeom prst="roundRect">
            <a:avLst>
              <a:gd name="adj" fmla="val 1485"/>
            </a:avLst>
          </a:prstGeom>
          <a:ln w="19050">
            <a:solidFill>
              <a:srgbClr val="D1D6E6"/>
            </a:solidFill>
            <a:prstDash val="solid"/>
          </a:ln>
        </p:spPr>
      </p:sp>
      <p:sp>
        <p:nvSpPr>
          <p:cNvPr id="4" name="Shape 2"/>
          <p:cNvSpPr/>
          <p:nvPr/>
        </p:nvSpPr>
        <p:spPr>
          <a:xfrm>
            <a:off x="1543050" y="3046661"/>
            <a:ext cx="762000" cy="762000"/>
          </a:xfrm>
          <a:prstGeom prst="roundRect">
            <a:avLst>
              <a:gd name="adj" fmla="val 10000"/>
            </a:avLst>
          </a:prstGeom>
          <a:solidFill>
            <a:srgbClr val="F2ECFC"/>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04975" y="3208586"/>
            <a:ext cx="438150" cy="438150"/>
          </a:xfrm>
          <a:prstGeom prst="rect">
            <a:avLst/>
          </a:prstGeom>
        </p:spPr>
      </p:pic>
      <p:sp>
        <p:nvSpPr>
          <p:cNvPr id="6" name="Text 3"/>
          <p:cNvSpPr/>
          <p:nvPr/>
        </p:nvSpPr>
        <p:spPr>
          <a:xfrm>
            <a:off x="1543050" y="4037261"/>
            <a:ext cx="4763661" cy="476250"/>
          </a:xfrm>
          <a:prstGeom prst="rect">
            <a:avLst/>
          </a:prstGeom>
          <a:noFill/>
          <a:ln/>
        </p:spPr>
        <p:txBody>
          <a:bodyPr wrap="square" lIns="25400" tIns="25400" rIns="25400" bIns="25400" rtlCol="0" anchor="t">
            <a:normAutofit/>
          </a:bodyPr>
          <a:lstStyle/>
          <a:p>
            <a:pPr algn="l" indent="0" marL="0">
              <a:lnSpc>
                <a:spcPct val="83636"/>
              </a:lnSpc>
              <a:buNone/>
            </a:pPr>
            <a:r>
              <a:rPr lang="en-US" sz="3000" b="1" dirty="0">
                <a:solidFill>
                  <a:srgbClr val="1C2B34">
                    <a:alpha val="98000"/>
                  </a:srgbClr>
                </a:solidFill>
                <a:latin typeface="NotoSans" pitchFamily="34" charset="0"/>
                <a:ea typeface="NotoSans" pitchFamily="34" charset="-122"/>
                <a:cs typeface="NotoSans" pitchFamily="34" charset="-120"/>
              </a:rPr>
              <a:t>Zero-Infra Compute</a:t>
            </a:r>
            <a:endParaRPr lang="en-US" sz="3000" dirty="0"/>
          </a:p>
        </p:txBody>
      </p:sp>
      <p:sp>
        <p:nvSpPr>
          <p:cNvPr id="7" name="Text 4"/>
          <p:cNvSpPr/>
          <p:nvPr/>
        </p:nvSpPr>
        <p:spPr>
          <a:xfrm>
            <a:off x="1543050" y="4704011"/>
            <a:ext cx="4460519" cy="2076450"/>
          </a:xfrm>
          <a:prstGeom prst="rect">
            <a:avLst/>
          </a:prstGeom>
          <a:noFill/>
          <a:ln/>
        </p:spPr>
        <p:txBody>
          <a:bodyPr wrap="square" lIns="25400" tIns="25400" rIns="25400" bIns="25400" rtlCol="0" anchor="t">
            <a:normAutofit/>
          </a:bodyPr>
          <a:lstStyle/>
          <a:p>
            <a:pPr algn="l" indent="0" marL="0">
              <a:lnSpc>
                <a:spcPct val="110526"/>
              </a:lnSpc>
              <a:buNone/>
            </a:pPr>
            <a:r>
              <a:rPr lang="en-US" sz="2100" dirty="0">
                <a:solidFill>
                  <a:srgbClr val="1C2B34">
                    <a:alpha val="68000"/>
                  </a:srgbClr>
                </a:solidFill>
                <a:latin typeface="NotoSans" pitchFamily="34" charset="0"/>
                <a:ea typeface="NotoSans" pitchFamily="34" charset="-122"/>
                <a:cs typeface="NotoSans" pitchFamily="34" charset="-120"/>
              </a:rPr>
              <a:t>Lambda-style serverless compute loops running directly inside the messaging broker layer.</a:t>
            </a:r>
            <a:endParaRPr lang="en-US" sz="2100" dirty="0"/>
          </a:p>
        </p:txBody>
      </p:sp>
      <p:sp>
        <p:nvSpPr>
          <p:cNvPr id="8" name="Shape 5"/>
          <p:cNvSpPr/>
          <p:nvPr/>
        </p:nvSpPr>
        <p:spPr>
          <a:xfrm>
            <a:off x="1543050" y="6970961"/>
            <a:ext cx="4330601" cy="762000"/>
          </a:xfrm>
          <a:prstGeom prst="roundRect">
            <a:avLst>
              <a:gd name="adj" fmla="val 10000"/>
            </a:avLst>
          </a:prstGeom>
          <a:solidFill>
            <a:srgbClr val="F9FAFB"/>
          </a:solidFill>
          <a:ln/>
        </p:spPr>
      </p:sp>
      <p:sp>
        <p:nvSpPr>
          <p:cNvPr id="9" name="Shape 6"/>
          <p:cNvSpPr/>
          <p:nvPr/>
        </p:nvSpPr>
        <p:spPr>
          <a:xfrm>
            <a:off x="1714500" y="7142411"/>
            <a:ext cx="1089868" cy="419100"/>
          </a:xfrm>
          <a:prstGeom prst="roundRect">
            <a:avLst>
              <a:gd name="adj" fmla="val 9091"/>
            </a:avLst>
          </a:prstGeom>
          <a:solidFill>
            <a:srgbClr val="FFFFFF"/>
          </a:solidFill>
          <a:ln w="19050">
            <a:solidFill>
              <a:srgbClr val="B4BCD4"/>
            </a:solidFill>
            <a:prstDash val="solid"/>
          </a:ln>
        </p:spPr>
      </p:sp>
      <p:sp>
        <p:nvSpPr>
          <p:cNvPr id="10" name="Text 7"/>
          <p:cNvSpPr/>
          <p:nvPr/>
        </p:nvSpPr>
        <p:spPr>
          <a:xfrm>
            <a:off x="1847850" y="7161461"/>
            <a:ext cx="899368" cy="419100"/>
          </a:xfrm>
          <a:prstGeom prst="rect">
            <a:avLst/>
          </a:prstGeom>
          <a:noFill/>
          <a:ln/>
        </p:spPr>
        <p:txBody>
          <a:bodyPr wrap="square" lIns="25400" tIns="25400" rIns="25400" bIns="25400" rtlCol="0" anchor="ctr">
            <a:normAutofit/>
          </a:bodyPr>
          <a:lstStyle/>
          <a:p>
            <a:pPr algn="l" indent="0" marL="0">
              <a:buNone/>
            </a:pPr>
            <a:r>
              <a:rPr lang="en-US" sz="1800" dirty="0">
                <a:solidFill>
                  <a:srgbClr val="1C2B34">
                    <a:alpha val="68000"/>
                  </a:srgbClr>
                </a:solidFill>
                <a:latin typeface="Roboto Mono" pitchFamily="34" charset="0"/>
                <a:ea typeface="Roboto Mono" pitchFamily="34" charset="-122"/>
                <a:cs typeface="Roboto Mono" pitchFamily="34" charset="-120"/>
              </a:rPr>
              <a:t>broker</a:t>
            </a:r>
            <a:endParaRPr lang="en-US" sz="1800" dirty="0"/>
          </a:p>
        </p:txBody>
      </p:sp>
      <p:sp>
        <p:nvSpPr>
          <p:cNvPr id="11" name="Shape 8"/>
          <p:cNvSpPr/>
          <p:nvPr/>
        </p:nvSpPr>
        <p:spPr>
          <a:xfrm>
            <a:off x="2899618" y="7161461"/>
            <a:ext cx="777329" cy="381000"/>
          </a:xfrm>
          <a:prstGeom prst="roundRect">
            <a:avLst>
              <a:gd name="adj" fmla="val 10000"/>
            </a:avLst>
          </a:prstGeom>
          <a:solidFill>
            <a:srgbClr val="632CA6"/>
          </a:solidFill>
          <a:ln/>
        </p:spPr>
      </p:sp>
      <p:sp>
        <p:nvSpPr>
          <p:cNvPr id="12" name="Text 9"/>
          <p:cNvSpPr/>
          <p:nvPr/>
        </p:nvSpPr>
        <p:spPr>
          <a:xfrm>
            <a:off x="3013918" y="7161461"/>
            <a:ext cx="624929" cy="419100"/>
          </a:xfrm>
          <a:prstGeom prst="rect">
            <a:avLst/>
          </a:prstGeom>
          <a:noFill/>
          <a:ln/>
        </p:spPr>
        <p:txBody>
          <a:bodyPr wrap="square" lIns="25400" tIns="25400" rIns="25400" bIns="25400" rtlCol="0" anchor="ctr">
            <a:normAutofit/>
          </a:bodyPr>
          <a:lstStyle/>
          <a:p>
            <a:pPr algn="l" indent="0" marL="0">
              <a:buNone/>
            </a:pPr>
            <a:r>
              <a:rPr lang="en-US" sz="1800" dirty="0">
                <a:solidFill>
                  <a:srgbClr val="FFFFFF"/>
                </a:solidFill>
                <a:latin typeface="Roboto Mono" pitchFamily="34" charset="0"/>
                <a:ea typeface="Roboto Mono" pitchFamily="34" charset="-122"/>
                <a:cs typeface="Roboto Mono" pitchFamily="34" charset="-120"/>
              </a:rPr>
              <a:t>ƒ(x)</a:t>
            </a:r>
            <a:endParaRPr lang="en-US" sz="1800" dirty="0"/>
          </a:p>
        </p:txBody>
      </p:sp>
      <p:sp>
        <p:nvSpPr>
          <p:cNvPr id="13" name="Shape 10"/>
          <p:cNvSpPr/>
          <p:nvPr/>
        </p:nvSpPr>
        <p:spPr>
          <a:xfrm>
            <a:off x="6578501" y="2646611"/>
            <a:ext cx="5130850" cy="5486400"/>
          </a:xfrm>
          <a:prstGeom prst="roundRect">
            <a:avLst>
              <a:gd name="adj" fmla="val 1485"/>
            </a:avLst>
          </a:prstGeom>
          <a:ln w="19050">
            <a:solidFill>
              <a:srgbClr val="D1D6E6"/>
            </a:solidFill>
            <a:prstDash val="solid"/>
          </a:ln>
        </p:spPr>
      </p:sp>
      <p:sp>
        <p:nvSpPr>
          <p:cNvPr id="14" name="Shape 11"/>
          <p:cNvSpPr/>
          <p:nvPr/>
        </p:nvSpPr>
        <p:spPr>
          <a:xfrm>
            <a:off x="6978551" y="3046661"/>
            <a:ext cx="762000" cy="762000"/>
          </a:xfrm>
          <a:prstGeom prst="roundRect">
            <a:avLst>
              <a:gd name="adj" fmla="val 10000"/>
            </a:avLst>
          </a:prstGeom>
          <a:solidFill>
            <a:srgbClr val="F2ECFC"/>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40476" y="3208586"/>
            <a:ext cx="438150" cy="438150"/>
          </a:xfrm>
          <a:prstGeom prst="rect">
            <a:avLst/>
          </a:prstGeom>
        </p:spPr>
      </p:pic>
      <p:sp>
        <p:nvSpPr>
          <p:cNvPr id="16" name="Text 12"/>
          <p:cNvSpPr/>
          <p:nvPr/>
        </p:nvSpPr>
        <p:spPr>
          <a:xfrm>
            <a:off x="6978551" y="4037261"/>
            <a:ext cx="4460672" cy="914400"/>
          </a:xfrm>
          <a:prstGeom prst="rect">
            <a:avLst/>
          </a:prstGeom>
          <a:noFill/>
          <a:ln/>
        </p:spPr>
        <p:txBody>
          <a:bodyPr wrap="square" lIns="25400" tIns="25400" rIns="25400" bIns="25400" rtlCol="0" anchor="t">
            <a:normAutofit/>
          </a:bodyPr>
          <a:lstStyle/>
          <a:p>
            <a:pPr algn="l" indent="0" marL="0">
              <a:lnSpc>
                <a:spcPct val="83636"/>
              </a:lnSpc>
              <a:buNone/>
            </a:pPr>
            <a:r>
              <a:rPr lang="en-US" sz="3000" b="1" dirty="0">
                <a:solidFill>
                  <a:srgbClr val="1C2B34">
                    <a:alpha val="98000"/>
                  </a:srgbClr>
                </a:solidFill>
                <a:latin typeface="NotoSans" pitchFamily="34" charset="0"/>
                <a:ea typeface="NotoSans" pitchFamily="34" charset="-122"/>
                <a:cs typeface="NotoSans" pitchFamily="34" charset="-120"/>
              </a:rPr>
              <a:t>Native Stream Processing</a:t>
            </a:r>
            <a:endParaRPr lang="en-US" sz="3000" dirty="0"/>
          </a:p>
        </p:txBody>
      </p:sp>
      <p:sp>
        <p:nvSpPr>
          <p:cNvPr id="17" name="Text 13"/>
          <p:cNvSpPr/>
          <p:nvPr/>
        </p:nvSpPr>
        <p:spPr>
          <a:xfrm>
            <a:off x="6978551" y="5142161"/>
            <a:ext cx="4460672" cy="1638300"/>
          </a:xfrm>
          <a:prstGeom prst="rect">
            <a:avLst/>
          </a:prstGeom>
          <a:noFill/>
          <a:ln/>
        </p:spPr>
        <p:txBody>
          <a:bodyPr wrap="square" lIns="25400" tIns="25400" rIns="25400" bIns="25400" rtlCol="0" anchor="t">
            <a:normAutofit/>
          </a:bodyPr>
          <a:lstStyle/>
          <a:p>
            <a:pPr algn="l" indent="0" marL="0">
              <a:lnSpc>
                <a:spcPct val="110526"/>
              </a:lnSpc>
              <a:buNone/>
            </a:pPr>
            <a:r>
              <a:rPr lang="en-US" sz="2100" dirty="0">
                <a:solidFill>
                  <a:srgbClr val="1C2B34">
                    <a:alpha val="68000"/>
                  </a:srgbClr>
                </a:solidFill>
                <a:latin typeface="NotoSans" pitchFamily="34" charset="0"/>
                <a:ea typeface="NotoSans" pitchFamily="34" charset="-122"/>
                <a:cs typeface="NotoSans" pitchFamily="34" charset="-120"/>
              </a:rPr>
              <a:t>Intercepts incoming telemetry topics, evaluates local state, and routes alerts instantly without external streaming engines.</a:t>
            </a:r>
            <a:endParaRPr lang="en-US" sz="2100" dirty="0"/>
          </a:p>
        </p:txBody>
      </p:sp>
      <p:sp>
        <p:nvSpPr>
          <p:cNvPr id="18" name="Shape 14"/>
          <p:cNvSpPr/>
          <p:nvPr/>
        </p:nvSpPr>
        <p:spPr>
          <a:xfrm>
            <a:off x="6978551" y="6970961"/>
            <a:ext cx="4330750" cy="762000"/>
          </a:xfrm>
          <a:prstGeom prst="roundRect">
            <a:avLst>
              <a:gd name="adj" fmla="val 10000"/>
            </a:avLst>
          </a:prstGeom>
          <a:solidFill>
            <a:srgbClr val="F9FAFB"/>
          </a:solidFill>
          <a:ln/>
        </p:spPr>
      </p:sp>
      <p:sp>
        <p:nvSpPr>
          <p:cNvPr id="19" name="Shape 15"/>
          <p:cNvSpPr/>
          <p:nvPr/>
        </p:nvSpPr>
        <p:spPr>
          <a:xfrm>
            <a:off x="7150001" y="7142411"/>
            <a:ext cx="952649" cy="419100"/>
          </a:xfrm>
          <a:prstGeom prst="roundRect">
            <a:avLst>
              <a:gd name="adj" fmla="val 9091"/>
            </a:avLst>
          </a:prstGeom>
          <a:solidFill>
            <a:srgbClr val="FFFFFF"/>
          </a:solidFill>
          <a:ln w="19050">
            <a:solidFill>
              <a:srgbClr val="B4BCD4"/>
            </a:solidFill>
            <a:prstDash val="solid"/>
          </a:ln>
        </p:spPr>
      </p:sp>
      <p:sp>
        <p:nvSpPr>
          <p:cNvPr id="20" name="Text 16"/>
          <p:cNvSpPr/>
          <p:nvPr/>
        </p:nvSpPr>
        <p:spPr>
          <a:xfrm>
            <a:off x="7283351" y="7161461"/>
            <a:ext cx="762149" cy="419100"/>
          </a:xfrm>
          <a:prstGeom prst="rect">
            <a:avLst/>
          </a:prstGeom>
          <a:noFill/>
          <a:ln/>
        </p:spPr>
        <p:txBody>
          <a:bodyPr wrap="square" lIns="25400" tIns="25400" rIns="25400" bIns="25400" rtlCol="0" anchor="ctr">
            <a:normAutofit/>
          </a:bodyPr>
          <a:lstStyle/>
          <a:p>
            <a:pPr algn="l" indent="0" marL="0">
              <a:buNone/>
            </a:pPr>
            <a:r>
              <a:rPr lang="en-US" sz="1800" dirty="0">
                <a:solidFill>
                  <a:srgbClr val="1C2B34">
                    <a:alpha val="68000"/>
                  </a:srgbClr>
                </a:solidFill>
                <a:latin typeface="Roboto Mono" pitchFamily="34" charset="0"/>
                <a:ea typeface="Roboto Mono" pitchFamily="34" charset="-122"/>
                <a:cs typeface="Roboto Mono" pitchFamily="34" charset="-120"/>
              </a:rPr>
              <a:t>topic</a:t>
            </a:r>
            <a:endParaRPr lang="en-US" sz="180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7900" y="7228136"/>
            <a:ext cx="247650" cy="247650"/>
          </a:xfrm>
          <a:prstGeom prst="rect">
            <a:avLst/>
          </a:prstGeom>
        </p:spPr>
      </p:pic>
      <p:sp>
        <p:nvSpPr>
          <p:cNvPr id="22" name="Shape 17"/>
          <p:cNvSpPr/>
          <p:nvPr/>
        </p:nvSpPr>
        <p:spPr>
          <a:xfrm>
            <a:off x="8540800" y="7161461"/>
            <a:ext cx="777329" cy="381000"/>
          </a:xfrm>
          <a:prstGeom prst="roundRect">
            <a:avLst>
              <a:gd name="adj" fmla="val 10000"/>
            </a:avLst>
          </a:prstGeom>
          <a:solidFill>
            <a:srgbClr val="632CA6"/>
          </a:solidFill>
          <a:ln/>
        </p:spPr>
      </p:sp>
      <p:sp>
        <p:nvSpPr>
          <p:cNvPr id="23" name="Text 18"/>
          <p:cNvSpPr/>
          <p:nvPr/>
        </p:nvSpPr>
        <p:spPr>
          <a:xfrm>
            <a:off x="8655100" y="7161461"/>
            <a:ext cx="624929" cy="419100"/>
          </a:xfrm>
          <a:prstGeom prst="rect">
            <a:avLst/>
          </a:prstGeom>
          <a:noFill/>
          <a:ln/>
        </p:spPr>
        <p:txBody>
          <a:bodyPr wrap="square" lIns="25400" tIns="25400" rIns="25400" bIns="25400" rtlCol="0" anchor="ctr">
            <a:normAutofit/>
          </a:bodyPr>
          <a:lstStyle/>
          <a:p>
            <a:pPr algn="l" indent="0" marL="0">
              <a:buNone/>
            </a:pPr>
            <a:r>
              <a:rPr lang="en-US" sz="1800" dirty="0">
                <a:solidFill>
                  <a:srgbClr val="FFFFFF"/>
                </a:solidFill>
                <a:latin typeface="Roboto Mono" pitchFamily="34" charset="0"/>
                <a:ea typeface="Roboto Mono" pitchFamily="34" charset="-122"/>
                <a:cs typeface="Roboto Mono" pitchFamily="34" charset="-120"/>
              </a:rPr>
              <a:t>ƒ(x)</a:t>
            </a:r>
            <a:endParaRPr lang="en-US" sz="1800" dirty="0"/>
          </a:p>
        </p:txBody>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13379" y="7228136"/>
            <a:ext cx="247650" cy="247650"/>
          </a:xfrm>
          <a:prstGeom prst="rect">
            <a:avLst/>
          </a:prstGeom>
        </p:spPr>
      </p:pic>
      <p:sp>
        <p:nvSpPr>
          <p:cNvPr id="25" name="Shape 19"/>
          <p:cNvSpPr/>
          <p:nvPr/>
        </p:nvSpPr>
        <p:spPr>
          <a:xfrm>
            <a:off x="9756279" y="7142411"/>
            <a:ext cx="952649" cy="419100"/>
          </a:xfrm>
          <a:prstGeom prst="roundRect">
            <a:avLst>
              <a:gd name="adj" fmla="val 9091"/>
            </a:avLst>
          </a:prstGeom>
          <a:solidFill>
            <a:srgbClr val="FFFFFF"/>
          </a:solidFill>
          <a:ln w="19050">
            <a:solidFill>
              <a:srgbClr val="B4BCD4"/>
            </a:solidFill>
            <a:prstDash val="solid"/>
          </a:ln>
        </p:spPr>
      </p:sp>
      <p:sp>
        <p:nvSpPr>
          <p:cNvPr id="26" name="Text 20"/>
          <p:cNvSpPr/>
          <p:nvPr/>
        </p:nvSpPr>
        <p:spPr>
          <a:xfrm>
            <a:off x="9889629" y="7161461"/>
            <a:ext cx="762149" cy="419100"/>
          </a:xfrm>
          <a:prstGeom prst="rect">
            <a:avLst/>
          </a:prstGeom>
          <a:noFill/>
          <a:ln/>
        </p:spPr>
        <p:txBody>
          <a:bodyPr wrap="square" lIns="25400" tIns="25400" rIns="25400" bIns="25400" rtlCol="0" anchor="ctr">
            <a:normAutofit/>
          </a:bodyPr>
          <a:lstStyle/>
          <a:p>
            <a:pPr algn="l" indent="0" marL="0">
              <a:buNone/>
            </a:pPr>
            <a:r>
              <a:rPr lang="en-US" sz="1800" dirty="0">
                <a:solidFill>
                  <a:srgbClr val="1C2B34">
                    <a:alpha val="68000"/>
                  </a:srgbClr>
                </a:solidFill>
                <a:latin typeface="Roboto Mono" pitchFamily="34" charset="0"/>
                <a:ea typeface="Roboto Mono" pitchFamily="34" charset="-122"/>
                <a:cs typeface="Roboto Mono" pitchFamily="34" charset="-120"/>
              </a:rPr>
              <a:t>alert</a:t>
            </a:r>
            <a:endParaRPr lang="en-US" sz="1800" dirty="0"/>
          </a:p>
        </p:txBody>
      </p:sp>
      <p:sp>
        <p:nvSpPr>
          <p:cNvPr id="27" name="Shape 21"/>
          <p:cNvSpPr/>
          <p:nvPr/>
        </p:nvSpPr>
        <p:spPr>
          <a:xfrm>
            <a:off x="12014150" y="2646611"/>
            <a:ext cx="5130850" cy="5486400"/>
          </a:xfrm>
          <a:prstGeom prst="roundRect">
            <a:avLst>
              <a:gd name="adj" fmla="val 1485"/>
            </a:avLst>
          </a:prstGeom>
          <a:ln w="19050">
            <a:solidFill>
              <a:srgbClr val="D1D6E6"/>
            </a:solidFill>
            <a:prstDash val="solid"/>
          </a:ln>
        </p:spPr>
      </p:sp>
      <p:sp>
        <p:nvSpPr>
          <p:cNvPr id="28" name="Shape 22"/>
          <p:cNvSpPr/>
          <p:nvPr/>
        </p:nvSpPr>
        <p:spPr>
          <a:xfrm>
            <a:off x="12414200" y="3046661"/>
            <a:ext cx="762000" cy="762000"/>
          </a:xfrm>
          <a:prstGeom prst="roundRect">
            <a:avLst>
              <a:gd name="adj" fmla="val 10000"/>
            </a:avLst>
          </a:prstGeom>
          <a:solidFill>
            <a:srgbClr val="F2ECFC"/>
          </a:solidFill>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576125" y="3208586"/>
            <a:ext cx="438150" cy="438150"/>
          </a:xfrm>
          <a:prstGeom prst="rect">
            <a:avLst/>
          </a:prstGeom>
        </p:spPr>
      </p:pic>
      <p:sp>
        <p:nvSpPr>
          <p:cNvPr id="30" name="Text 23"/>
          <p:cNvSpPr/>
          <p:nvPr/>
        </p:nvSpPr>
        <p:spPr>
          <a:xfrm>
            <a:off x="12414200" y="4037261"/>
            <a:ext cx="4763825" cy="476250"/>
          </a:xfrm>
          <a:prstGeom prst="rect">
            <a:avLst/>
          </a:prstGeom>
          <a:noFill/>
          <a:ln/>
        </p:spPr>
        <p:txBody>
          <a:bodyPr wrap="square" lIns="25400" tIns="25400" rIns="25400" bIns="25400" rtlCol="0" anchor="t">
            <a:normAutofit/>
          </a:bodyPr>
          <a:lstStyle/>
          <a:p>
            <a:pPr algn="l" indent="0" marL="0">
              <a:lnSpc>
                <a:spcPct val="83636"/>
              </a:lnSpc>
              <a:buNone/>
            </a:pPr>
            <a:r>
              <a:rPr lang="en-US" sz="3000" b="1" dirty="0">
                <a:solidFill>
                  <a:srgbClr val="1C2B34">
                    <a:alpha val="98000"/>
                  </a:srgbClr>
                </a:solidFill>
                <a:latin typeface="NotoSans" pitchFamily="34" charset="0"/>
                <a:ea typeface="NotoSans" pitchFamily="34" charset="-122"/>
                <a:cs typeface="NotoSans" pitchFamily="34" charset="-120"/>
              </a:rPr>
              <a:t>Lightweight Footprint</a:t>
            </a:r>
            <a:endParaRPr lang="en-US" sz="3000" dirty="0"/>
          </a:p>
        </p:txBody>
      </p:sp>
      <p:sp>
        <p:nvSpPr>
          <p:cNvPr id="31" name="Text 24"/>
          <p:cNvSpPr/>
          <p:nvPr/>
        </p:nvSpPr>
        <p:spPr>
          <a:xfrm>
            <a:off x="12414200" y="4704011"/>
            <a:ext cx="4460672" cy="1800225"/>
          </a:xfrm>
          <a:prstGeom prst="rect">
            <a:avLst/>
          </a:prstGeom>
          <a:noFill/>
          <a:ln/>
        </p:spPr>
        <p:txBody>
          <a:bodyPr wrap="square" lIns="25400" tIns="25400" rIns="25400" bIns="25400" rtlCol="0" anchor="t">
            <a:normAutofit/>
          </a:bodyPr>
          <a:lstStyle/>
          <a:p>
            <a:pPr algn="l" indent="0" marL="0">
              <a:lnSpc>
                <a:spcPct val="110526"/>
              </a:lnSpc>
              <a:buNone/>
            </a:pPr>
            <a:r>
              <a:rPr lang="en-US" sz="2100" dirty="0">
                <a:solidFill>
                  <a:srgbClr val="1C2B34">
                    <a:alpha val="68000"/>
                  </a:srgbClr>
                </a:solidFill>
                <a:latin typeface="NotoSans" pitchFamily="34" charset="0"/>
                <a:ea typeface="NotoSans" pitchFamily="34" charset="-122"/>
                <a:cs typeface="NotoSans" pitchFamily="34" charset="-120"/>
              </a:rPr>
              <a:t>Highly isolated, sub-millisecond execution thread tailored for resource-constrained embedded nodes.</a:t>
            </a:r>
            <a:endParaRPr lang="en-US" sz="2100" dirty="0"/>
          </a:p>
        </p:txBody>
      </p:sp>
      <p:sp>
        <p:nvSpPr>
          <p:cNvPr id="32" name="Shape 25"/>
          <p:cNvSpPr/>
          <p:nvPr/>
        </p:nvSpPr>
        <p:spPr>
          <a:xfrm>
            <a:off x="12414200" y="6694736"/>
            <a:ext cx="4330750" cy="1038225"/>
          </a:xfrm>
          <a:prstGeom prst="roundRect">
            <a:avLst>
              <a:gd name="adj" fmla="val 7339"/>
            </a:avLst>
          </a:prstGeom>
          <a:solidFill>
            <a:srgbClr val="F9FAFB"/>
          </a:solidFill>
          <a:ln/>
        </p:spPr>
      </p:sp>
      <p:pic>
        <p:nvPicPr>
          <p:cNvPr id="3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585650" y="6866186"/>
            <a:ext cx="285750" cy="285750"/>
          </a:xfrm>
          <a:prstGeom prst="rect">
            <a:avLst/>
          </a:prstGeom>
        </p:spPr>
      </p:pic>
      <p:sp>
        <p:nvSpPr>
          <p:cNvPr id="34" name="Text 26"/>
          <p:cNvSpPr/>
          <p:nvPr/>
        </p:nvSpPr>
        <p:spPr>
          <a:xfrm>
            <a:off x="12585650" y="7247186"/>
            <a:ext cx="404611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68000"/>
                  </a:srgbClr>
                </a:solidFill>
                <a:latin typeface="NotoSans" pitchFamily="34" charset="0"/>
                <a:ea typeface="NotoSans" pitchFamily="34" charset="-122"/>
                <a:cs typeface="NotoSans" pitchFamily="34" charset="-120"/>
              </a:rPr>
              <a:t>one thread on an embedded node</a:t>
            </a:r>
            <a:endParaRPr lang="en-US" sz="1800" dirty="0"/>
          </a:p>
        </p:txBody>
      </p:sp>
      <p:sp>
        <p:nvSpPr>
          <p:cNvPr id="35" name="Shape 27"/>
          <p:cNvSpPr/>
          <p:nvPr/>
        </p:nvSpPr>
        <p:spPr>
          <a:xfrm>
            <a:off x="1143000" y="9344025"/>
            <a:ext cx="16002000" cy="19050"/>
          </a:xfrm>
          <a:prstGeom prst="rect">
            <a:avLst/>
          </a:prstGeom>
          <a:solidFill>
            <a:srgbClr val="E2E5ED"/>
          </a:solidFill>
          <a:ln/>
        </p:spPr>
      </p:sp>
      <p:sp>
        <p:nvSpPr>
          <p:cNvPr id="36" name="Text 28"/>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37" name="Text 29"/>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35496"/>
          </a:xfrm>
          <a:prstGeom prst="rect">
            <a:avLst/>
          </a:prstGeom>
          <a:noFill/>
          <a:ln/>
        </p:spPr>
        <p:txBody>
          <a:bodyPr wrap="square" lIns="25400" tIns="25400" rIns="25400" bIns="25400" rtlCol="0" anchor="t">
            <a:normAutofit/>
          </a:bodyPr>
          <a:lstStyle/>
          <a:p>
            <a:pPr algn="l" indent="0" marL="0">
              <a:lnSpc>
                <a:spcPct val="82526"/>
              </a:lnSpc>
              <a:buNone/>
            </a:pPr>
            <a:r>
              <a:rPr lang="en-US" sz="4200" b="1" spc="-42" kern="0" dirty="0">
                <a:solidFill>
                  <a:srgbClr val="1C2B34">
                    <a:alpha val="98000"/>
                  </a:srgbClr>
                </a:solidFill>
                <a:latin typeface="NotoSans" pitchFamily="34" charset="0"/>
                <a:ea typeface="NotoSans" pitchFamily="34" charset="-122"/>
                <a:cs typeface="NotoSans" pitchFamily="34" charset="-120"/>
              </a:rPr>
              <a:t>Embedded System Architecture Blueprint</a:t>
            </a:r>
            <a:endParaRPr lang="en-US" sz="42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3417987"/>
            <a:ext cx="285750" cy="285750"/>
          </a:xfrm>
          <a:prstGeom prst="rect">
            <a:avLst/>
          </a:prstGeom>
        </p:spPr>
      </p:pic>
      <p:sp>
        <p:nvSpPr>
          <p:cNvPr id="4" name="Text 1"/>
          <p:cNvSpPr/>
          <p:nvPr/>
        </p:nvSpPr>
        <p:spPr>
          <a:xfrm>
            <a:off x="1543050" y="3403699"/>
            <a:ext cx="2069455" cy="352425"/>
          </a:xfrm>
          <a:prstGeom prst="rect">
            <a:avLst/>
          </a:prstGeom>
          <a:noFill/>
          <a:ln/>
        </p:spPr>
        <p:txBody>
          <a:bodyPr wrap="square" lIns="0" tIns="0" rIns="0" bIns="0" rtlCol="0" anchor="t">
            <a:normAutofit/>
          </a:bodyPr>
          <a:lstStyle/>
          <a:p>
            <a:pPr algn="l" indent="0" marL="0">
              <a:buNone/>
            </a:pPr>
            <a:r>
              <a:rPr lang="en-US" sz="1800" b="1" spc="72" kern="0" dirty="0">
                <a:solidFill>
                  <a:srgbClr val="1C2B34">
                    <a:alpha val="68000"/>
                  </a:srgbClr>
                </a:solidFill>
                <a:latin typeface="NotoSans" pitchFamily="34" charset="0"/>
                <a:ea typeface="NotoSans" pitchFamily="34" charset="-122"/>
                <a:cs typeface="NotoSans" pitchFamily="34" charset="-120"/>
              </a:rPr>
              <a:t>ON THE VEHICLE</a:t>
            </a:r>
            <a:endParaRPr lang="en-US" sz="1800" dirty="0"/>
          </a:p>
        </p:txBody>
      </p:sp>
      <p:sp>
        <p:nvSpPr>
          <p:cNvPr id="5" name="Shape 2"/>
          <p:cNvSpPr/>
          <p:nvPr/>
        </p:nvSpPr>
        <p:spPr>
          <a:xfrm>
            <a:off x="1143000" y="3851374"/>
            <a:ext cx="12769007" cy="3524548"/>
          </a:xfrm>
          <a:prstGeom prst="roundRect">
            <a:avLst>
              <a:gd name="adj" fmla="val 2162"/>
            </a:avLst>
          </a:prstGeom>
          <a:ln w="28575">
            <a:solidFill>
              <a:srgbClr val="9DA4B9"/>
            </a:solidFill>
            <a:prstDash val="dash"/>
          </a:ln>
        </p:spPr>
      </p:sp>
      <p:sp>
        <p:nvSpPr>
          <p:cNvPr id="6" name="Shape 3"/>
          <p:cNvSpPr/>
          <p:nvPr/>
        </p:nvSpPr>
        <p:spPr>
          <a:xfrm>
            <a:off x="1362075" y="4490145"/>
            <a:ext cx="2735014" cy="2246858"/>
          </a:xfrm>
          <a:prstGeom prst="roundRect">
            <a:avLst>
              <a:gd name="adj" fmla="val 3391"/>
            </a:avLst>
          </a:prstGeom>
          <a:solidFill>
            <a:srgbClr val="FFFFFF"/>
          </a:solidFill>
          <a:ln w="19050">
            <a:solidFill>
              <a:srgbClr val="B4BCD4"/>
            </a:solidFill>
            <a:prstDash val="solid"/>
          </a:ln>
        </p:spPr>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9958" y="4775895"/>
            <a:ext cx="419100" cy="419100"/>
          </a:xfrm>
          <a:prstGeom prst="rect">
            <a:avLst/>
          </a:prstGeom>
        </p:spPr>
      </p:pic>
      <p:sp>
        <p:nvSpPr>
          <p:cNvPr id="8" name="Text 4"/>
          <p:cNvSpPr/>
          <p:nvPr/>
        </p:nvSpPr>
        <p:spPr>
          <a:xfrm>
            <a:off x="1552575" y="5347395"/>
            <a:ext cx="2354014" cy="681038"/>
          </a:xfrm>
          <a:prstGeom prst="rect">
            <a:avLst/>
          </a:prstGeom>
          <a:noFill/>
          <a:ln/>
        </p:spPr>
        <p:txBody>
          <a:bodyPr wrap="square" lIns="25400" tIns="25400" rIns="25400" bIns="25400" rtlCol="0" anchor="t">
            <a:normAutofit/>
          </a:bodyPr>
          <a:lstStyle/>
          <a:p>
            <a:pPr algn="ctr" indent="0" marL="0">
              <a:lnSpc>
                <a:spcPct val="91216"/>
              </a:lnSpc>
              <a:buNone/>
            </a:pPr>
            <a:r>
              <a:rPr lang="en-US" sz="2025" b="1" dirty="0">
                <a:solidFill>
                  <a:srgbClr val="1C2B34">
                    <a:alpha val="98000"/>
                  </a:srgbClr>
                </a:solidFill>
                <a:latin typeface="NotoSans" pitchFamily="34" charset="0"/>
                <a:ea typeface="NotoSans" pitchFamily="34" charset="-122"/>
                <a:cs typeface="NotoSans" pitchFamily="34" charset="-120"/>
              </a:rPr>
              <a:t>Vehicle CAN Bus Sensors</a:t>
            </a:r>
            <a:endParaRPr lang="en-US" sz="2025" dirty="0"/>
          </a:p>
        </p:txBody>
      </p:sp>
      <p:sp>
        <p:nvSpPr>
          <p:cNvPr id="9" name="Text 5"/>
          <p:cNvSpPr/>
          <p:nvPr/>
        </p:nvSpPr>
        <p:spPr>
          <a:xfrm>
            <a:off x="1962187" y="6142732"/>
            <a:ext cx="1534790" cy="346621"/>
          </a:xfrm>
          <a:prstGeom prst="rect">
            <a:avLst/>
          </a:prstGeom>
          <a:noFill/>
          <a:ln/>
        </p:spPr>
        <p:txBody>
          <a:bodyPr wrap="square" lIns="25400" tIns="25400" rIns="25400" bIns="25400" rtlCol="0" anchor="t">
            <a:normAutofit/>
          </a:bodyPr>
          <a:lstStyle/>
          <a:p>
            <a:pPr algn="ctr" indent="0" marL="0">
              <a:lnSpc>
                <a:spcPct val="98182"/>
              </a:lnSpc>
              <a:buNone/>
            </a:pPr>
            <a:r>
              <a:rPr lang="en-US" sz="1800" dirty="0">
                <a:solidFill>
                  <a:srgbClr val="1C2B34">
                    <a:alpha val="68000"/>
                  </a:srgbClr>
                </a:solidFill>
                <a:latin typeface="NotoSans" pitchFamily="34" charset="0"/>
                <a:ea typeface="NotoSans" pitchFamily="34" charset="-122"/>
                <a:cs typeface="NotoSans" pitchFamily="34" charset="-120"/>
              </a:rPr>
              <a:t>raw readings</a:t>
            </a:r>
            <a:endParaRPr lang="en-US" sz="18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5189" y="5423148"/>
            <a:ext cx="381000" cy="381000"/>
          </a:xfrm>
          <a:prstGeom prst="rect">
            <a:avLst/>
          </a:prstGeom>
        </p:spPr>
      </p:pic>
      <p:sp>
        <p:nvSpPr>
          <p:cNvPr id="11" name="Shape 6"/>
          <p:cNvSpPr/>
          <p:nvPr/>
        </p:nvSpPr>
        <p:spPr>
          <a:xfrm>
            <a:off x="4554289" y="4329410"/>
            <a:ext cx="2735163" cy="2568327"/>
          </a:xfrm>
          <a:prstGeom prst="roundRect">
            <a:avLst>
              <a:gd name="adj" fmla="val 2967"/>
            </a:avLst>
          </a:prstGeom>
          <a:solidFill>
            <a:srgbClr val="FFFFFF"/>
          </a:solidFill>
          <a:ln w="19050">
            <a:solidFill>
              <a:srgbClr val="B4BCD4"/>
            </a:solidFill>
            <a:prstDash val="solid"/>
          </a:ln>
        </p:spPr>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12321" y="4615160"/>
            <a:ext cx="419100" cy="419100"/>
          </a:xfrm>
          <a:prstGeom prst="rect">
            <a:avLst/>
          </a:prstGeom>
        </p:spPr>
      </p:pic>
      <p:sp>
        <p:nvSpPr>
          <p:cNvPr id="13" name="Text 7"/>
          <p:cNvSpPr/>
          <p:nvPr/>
        </p:nvSpPr>
        <p:spPr>
          <a:xfrm>
            <a:off x="4744789" y="5186660"/>
            <a:ext cx="2354163" cy="1002506"/>
          </a:xfrm>
          <a:prstGeom prst="rect">
            <a:avLst/>
          </a:prstGeom>
          <a:noFill/>
          <a:ln/>
        </p:spPr>
        <p:txBody>
          <a:bodyPr wrap="square" lIns="25400" tIns="25400" rIns="25400" bIns="25400" rtlCol="0" anchor="t">
            <a:normAutofit/>
          </a:bodyPr>
          <a:lstStyle/>
          <a:p>
            <a:pPr algn="ctr" indent="0" marL="0">
              <a:lnSpc>
                <a:spcPct val="91216"/>
              </a:lnSpc>
              <a:buNone/>
            </a:pPr>
            <a:r>
              <a:rPr lang="en-US" sz="2025" b="1" dirty="0">
                <a:solidFill>
                  <a:srgbClr val="1C2B34">
                    <a:alpha val="98000"/>
                  </a:srgbClr>
                </a:solidFill>
                <a:latin typeface="NotoSans" pitchFamily="34" charset="0"/>
                <a:ea typeface="NotoSans" pitchFamily="34" charset="-122"/>
                <a:cs typeface="NotoSans" pitchFamily="34" charset="-120"/>
              </a:rPr>
              <a:t>Local Pulsar Broker Ingestion Topic</a:t>
            </a:r>
            <a:endParaRPr lang="en-US" sz="2025" dirty="0"/>
          </a:p>
        </p:txBody>
      </p:sp>
      <p:sp>
        <p:nvSpPr>
          <p:cNvPr id="14" name="Text 8"/>
          <p:cNvSpPr/>
          <p:nvPr/>
        </p:nvSpPr>
        <p:spPr>
          <a:xfrm>
            <a:off x="5209409" y="6303466"/>
            <a:ext cx="1424776" cy="346621"/>
          </a:xfrm>
          <a:prstGeom prst="rect">
            <a:avLst/>
          </a:prstGeom>
          <a:noFill/>
          <a:ln/>
        </p:spPr>
        <p:txBody>
          <a:bodyPr wrap="square" lIns="25400" tIns="25400" rIns="25400" bIns="25400" rtlCol="0" anchor="t">
            <a:normAutofit/>
          </a:bodyPr>
          <a:lstStyle/>
          <a:p>
            <a:pPr algn="ctr" indent="0" marL="0">
              <a:lnSpc>
                <a:spcPct val="98182"/>
              </a:lnSpc>
              <a:buNone/>
            </a:pPr>
            <a:r>
              <a:rPr lang="en-US" sz="1800" dirty="0">
                <a:solidFill>
                  <a:srgbClr val="1C2B34">
                    <a:alpha val="68000"/>
                  </a:srgbClr>
                </a:solidFill>
                <a:latin typeface="NotoSans" pitchFamily="34" charset="0"/>
                <a:ea typeface="NotoSans" pitchFamily="34" charset="-122"/>
                <a:cs typeface="NotoSans" pitchFamily="34" charset="-120"/>
              </a:rPr>
              <a:t>telemetry in</a:t>
            </a:r>
            <a:endParaRPr lang="en-US" sz="18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27553" y="5423148"/>
            <a:ext cx="381000" cy="381000"/>
          </a:xfrm>
          <a:prstGeom prst="rect">
            <a:avLst/>
          </a:prstGeom>
        </p:spPr>
      </p:pic>
      <p:sp>
        <p:nvSpPr>
          <p:cNvPr id="16" name="Shape 9"/>
          <p:cNvSpPr/>
          <p:nvPr/>
        </p:nvSpPr>
        <p:spPr>
          <a:xfrm>
            <a:off x="7746653" y="4490145"/>
            <a:ext cx="2735014" cy="2246858"/>
          </a:xfrm>
          <a:prstGeom prst="roundRect">
            <a:avLst>
              <a:gd name="adj" fmla="val 3391"/>
            </a:avLst>
          </a:prstGeom>
          <a:solidFill>
            <a:srgbClr val="FFFFFF"/>
          </a:solidFill>
          <a:ln w="19050">
            <a:solidFill>
              <a:srgbClr val="B4BCD4"/>
            </a:solidFill>
            <a:prstDash val="solid"/>
          </a:ln>
        </p:spPr>
      </p:sp>
      <p:pic>
        <p:nvPicPr>
          <p:cNvPr id="1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04536" y="4775895"/>
            <a:ext cx="419100" cy="419100"/>
          </a:xfrm>
          <a:prstGeom prst="rect">
            <a:avLst/>
          </a:prstGeom>
        </p:spPr>
      </p:pic>
      <p:sp>
        <p:nvSpPr>
          <p:cNvPr id="18" name="Text 10"/>
          <p:cNvSpPr/>
          <p:nvPr/>
        </p:nvSpPr>
        <p:spPr>
          <a:xfrm>
            <a:off x="7937153" y="5347395"/>
            <a:ext cx="2354014" cy="681038"/>
          </a:xfrm>
          <a:prstGeom prst="rect">
            <a:avLst/>
          </a:prstGeom>
          <a:noFill/>
          <a:ln/>
        </p:spPr>
        <p:txBody>
          <a:bodyPr wrap="square" lIns="25400" tIns="25400" rIns="25400" bIns="25400" rtlCol="0" anchor="t">
            <a:normAutofit/>
          </a:bodyPr>
          <a:lstStyle/>
          <a:p>
            <a:pPr algn="ctr" indent="0" marL="0">
              <a:lnSpc>
                <a:spcPct val="91216"/>
              </a:lnSpc>
              <a:buNone/>
            </a:pPr>
            <a:r>
              <a:rPr lang="en-US" sz="2025" b="1" dirty="0">
                <a:solidFill>
                  <a:srgbClr val="1C2B34">
                    <a:alpha val="98000"/>
                  </a:srgbClr>
                </a:solidFill>
                <a:latin typeface="NotoSans" pitchFamily="34" charset="0"/>
                <a:ea typeface="NotoSans" pitchFamily="34" charset="-122"/>
                <a:cs typeface="NotoSans" pitchFamily="34" charset="-120"/>
              </a:rPr>
              <a:t>Anomalous Event Filtering Logic</a:t>
            </a:r>
            <a:endParaRPr lang="en-US" sz="2025" dirty="0"/>
          </a:p>
        </p:txBody>
      </p:sp>
      <p:sp>
        <p:nvSpPr>
          <p:cNvPr id="19" name="Text 11"/>
          <p:cNvSpPr/>
          <p:nvPr/>
        </p:nvSpPr>
        <p:spPr>
          <a:xfrm>
            <a:off x="8222672" y="6142732"/>
            <a:ext cx="1782976" cy="346621"/>
          </a:xfrm>
          <a:prstGeom prst="rect">
            <a:avLst/>
          </a:prstGeom>
          <a:noFill/>
          <a:ln/>
        </p:spPr>
        <p:txBody>
          <a:bodyPr wrap="square" lIns="25400" tIns="25400" rIns="25400" bIns="25400" rtlCol="0" anchor="t">
            <a:normAutofit/>
          </a:bodyPr>
          <a:lstStyle/>
          <a:p>
            <a:pPr algn="ctr" indent="0" marL="0">
              <a:lnSpc>
                <a:spcPct val="98182"/>
              </a:lnSpc>
              <a:buNone/>
            </a:pPr>
            <a:r>
              <a:rPr lang="en-US" sz="1800" dirty="0">
                <a:solidFill>
                  <a:srgbClr val="1C2B34">
                    <a:alpha val="68000"/>
                  </a:srgbClr>
                </a:solidFill>
                <a:latin typeface="NotoSans" pitchFamily="34" charset="0"/>
                <a:ea typeface="NotoSans" pitchFamily="34" charset="-122"/>
                <a:cs typeface="NotoSans" pitchFamily="34" charset="-120"/>
              </a:rPr>
              <a:t>anomalies only</a:t>
            </a:r>
            <a:endParaRPr lang="en-US" sz="1800" dirty="0"/>
          </a:p>
        </p:txBody>
      </p:sp>
      <p:pic>
        <p:nvPicPr>
          <p:cNvPr id="2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519767" y="5423148"/>
            <a:ext cx="381000" cy="381000"/>
          </a:xfrm>
          <a:prstGeom prst="rect">
            <a:avLst/>
          </a:prstGeom>
        </p:spPr>
      </p:pic>
      <p:sp>
        <p:nvSpPr>
          <p:cNvPr id="21" name="Shape 12"/>
          <p:cNvSpPr/>
          <p:nvPr/>
        </p:nvSpPr>
        <p:spPr>
          <a:xfrm>
            <a:off x="10938867" y="4146649"/>
            <a:ext cx="2754064" cy="2933998"/>
          </a:xfrm>
          <a:prstGeom prst="roundRect">
            <a:avLst>
              <a:gd name="adj" fmla="val 2767"/>
            </a:avLst>
          </a:prstGeom>
          <a:gradFill rotWithShape="1">
            <a:gsLst>
              <a:gs pos="0">
                <a:srgbClr val="FFF7E0">
                  <a:alpha val="100000"/>
                </a:srgbClr>
              </a:gs>
              <a:gs pos="100000">
                <a:srgbClr val="E3F6F4">
                  <a:alpha val="100000"/>
                </a:srgbClr>
              </a:gs>
            </a:gsLst>
            <a:lin ang="4200000" scaled="0"/>
          </a:gradFill>
          <a:ln w="28575">
            <a:solidFill>
              <a:srgbClr val="E0A100"/>
            </a:solidFill>
            <a:prstDash val="solid"/>
          </a:ln>
          <a:effectLst>
            <a:outerShdw sx="100000" sy="100000" kx="0" ky="0" algn="bl" rotWithShape="0" blurRad="101600" dist="50800" dir="16200000">
              <a:srgbClr val="FFB84D">
                <a:alpha val="25000"/>
              </a:srgbClr>
            </a:outerShdw>
          </a:effectLst>
        </p:spPr>
      </p:sp>
      <p:pic>
        <p:nvPicPr>
          <p:cNvPr id="22"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087225" y="4441924"/>
            <a:ext cx="457200" cy="457200"/>
          </a:xfrm>
          <a:prstGeom prst="rect">
            <a:avLst/>
          </a:prstGeom>
        </p:spPr>
      </p:pic>
      <p:sp>
        <p:nvSpPr>
          <p:cNvPr id="23" name="Text 13"/>
          <p:cNvSpPr/>
          <p:nvPr/>
        </p:nvSpPr>
        <p:spPr>
          <a:xfrm>
            <a:off x="11138892" y="5051524"/>
            <a:ext cx="2354014" cy="1002506"/>
          </a:xfrm>
          <a:prstGeom prst="rect">
            <a:avLst/>
          </a:prstGeom>
          <a:noFill/>
          <a:ln/>
        </p:spPr>
        <p:txBody>
          <a:bodyPr wrap="square" lIns="25400" tIns="25400" rIns="25400" bIns="25400" rtlCol="0" anchor="t">
            <a:normAutofit/>
          </a:bodyPr>
          <a:lstStyle/>
          <a:p>
            <a:pPr algn="ctr" indent="0" marL="0">
              <a:lnSpc>
                <a:spcPct val="91216"/>
              </a:lnSpc>
              <a:buNone/>
            </a:pPr>
            <a:r>
              <a:rPr lang="en-US" sz="2025" b="1" dirty="0">
                <a:solidFill>
                  <a:srgbClr val="1C2B34">
                    <a:alpha val="98000"/>
                  </a:srgbClr>
                </a:solidFill>
                <a:latin typeface="NotoSans" pitchFamily="34" charset="0"/>
                <a:ea typeface="NotoSans" pitchFamily="34" charset="-122"/>
                <a:cs typeface="NotoSans" pitchFamily="34" charset="-120"/>
              </a:rPr>
              <a:t>Pulsar Function: LLM CPU Runtime Engine</a:t>
            </a:r>
            <a:endParaRPr lang="en-US" sz="2025" dirty="0"/>
          </a:p>
        </p:txBody>
      </p:sp>
      <p:sp>
        <p:nvSpPr>
          <p:cNvPr id="24" name="Text 14"/>
          <p:cNvSpPr/>
          <p:nvPr/>
        </p:nvSpPr>
        <p:spPr>
          <a:xfrm>
            <a:off x="11138892" y="6168330"/>
            <a:ext cx="2354014" cy="655141"/>
          </a:xfrm>
          <a:prstGeom prst="rect">
            <a:avLst/>
          </a:prstGeom>
          <a:noFill/>
          <a:ln/>
        </p:spPr>
        <p:txBody>
          <a:bodyPr wrap="square" lIns="25400" tIns="25400" rIns="25400" bIns="25400" rtlCol="0" anchor="t">
            <a:normAutofit/>
          </a:bodyPr>
          <a:lstStyle/>
          <a:p>
            <a:pPr algn="ctr" indent="0" marL="0">
              <a:lnSpc>
                <a:spcPct val="98182"/>
              </a:lnSpc>
              <a:buNone/>
            </a:pPr>
            <a:r>
              <a:rPr lang="en-US" sz="1800" dirty="0">
                <a:solidFill>
                  <a:srgbClr val="1C2B34">
                    <a:alpha val="68000"/>
                  </a:srgbClr>
                </a:solidFill>
                <a:latin typeface="NotoSans" pitchFamily="34" charset="0"/>
                <a:ea typeface="NotoSans" pitchFamily="34" charset="-122"/>
                <a:cs typeface="NotoSans" pitchFamily="34" charset="-120"/>
              </a:rPr>
              <a:t>stays in local CPU memory</a:t>
            </a:r>
            <a:endParaRPr lang="en-US" sz="1800" dirty="0"/>
          </a:p>
        </p:txBody>
      </p:sp>
      <p:pic>
        <p:nvPicPr>
          <p:cNvPr id="25"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950107" y="3403699"/>
            <a:ext cx="381000" cy="381000"/>
          </a:xfrm>
          <a:prstGeom prst="rect">
            <a:avLst/>
          </a:prstGeom>
        </p:spPr>
      </p:pic>
      <p:pic>
        <p:nvPicPr>
          <p:cNvPr id="26"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4369207" y="3417987"/>
            <a:ext cx="285750" cy="285750"/>
          </a:xfrm>
          <a:prstGeom prst="rect">
            <a:avLst/>
          </a:prstGeom>
        </p:spPr>
      </p:pic>
      <p:sp>
        <p:nvSpPr>
          <p:cNvPr id="27" name="Text 15"/>
          <p:cNvSpPr/>
          <p:nvPr/>
        </p:nvSpPr>
        <p:spPr>
          <a:xfrm>
            <a:off x="14769257" y="3403699"/>
            <a:ext cx="916186" cy="352425"/>
          </a:xfrm>
          <a:prstGeom prst="rect">
            <a:avLst/>
          </a:prstGeom>
          <a:noFill/>
          <a:ln/>
        </p:spPr>
        <p:txBody>
          <a:bodyPr wrap="square" lIns="0" tIns="0" rIns="0" bIns="0" rtlCol="0" anchor="t">
            <a:normAutofit/>
          </a:bodyPr>
          <a:lstStyle/>
          <a:p>
            <a:pPr algn="l" indent="0" marL="0">
              <a:buNone/>
            </a:pPr>
            <a:r>
              <a:rPr lang="en-US" sz="1800" b="1" spc="72" kern="0" dirty="0">
                <a:solidFill>
                  <a:srgbClr val="1C2B34">
                    <a:alpha val="68000"/>
                  </a:srgbClr>
                </a:solidFill>
                <a:latin typeface="NotoSans" pitchFamily="34" charset="0"/>
                <a:ea typeface="NotoSans" pitchFamily="34" charset="-122"/>
                <a:cs typeface="NotoSans" pitchFamily="34" charset="-120"/>
              </a:rPr>
              <a:t>CLOUD</a:t>
            </a:r>
            <a:endParaRPr lang="en-US" sz="1800" dirty="0"/>
          </a:p>
        </p:txBody>
      </p:sp>
      <p:sp>
        <p:nvSpPr>
          <p:cNvPr id="28" name="Shape 16"/>
          <p:cNvSpPr/>
          <p:nvPr/>
        </p:nvSpPr>
        <p:spPr>
          <a:xfrm>
            <a:off x="14369207" y="4118074"/>
            <a:ext cx="2775793" cy="2991148"/>
          </a:xfrm>
          <a:prstGeom prst="roundRect">
            <a:avLst>
              <a:gd name="adj" fmla="val 2745"/>
            </a:avLst>
          </a:prstGeom>
          <a:solidFill>
            <a:srgbClr val="FFFFFF"/>
          </a:solidFill>
          <a:ln w="19050">
            <a:solidFill>
              <a:srgbClr val="00847E"/>
            </a:solidFill>
            <a:prstDash val="solid"/>
          </a:ln>
        </p:spPr>
      </p:sp>
      <p:pic>
        <p:nvPicPr>
          <p:cNvPr id="29"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547479" y="4403824"/>
            <a:ext cx="419100" cy="419100"/>
          </a:xfrm>
          <a:prstGeom prst="rect">
            <a:avLst/>
          </a:prstGeom>
        </p:spPr>
      </p:pic>
      <p:sp>
        <p:nvSpPr>
          <p:cNvPr id="30" name="Text 17"/>
          <p:cNvSpPr/>
          <p:nvPr/>
        </p:nvSpPr>
        <p:spPr>
          <a:xfrm>
            <a:off x="14559707" y="4975324"/>
            <a:ext cx="2394793" cy="1002506"/>
          </a:xfrm>
          <a:prstGeom prst="rect">
            <a:avLst/>
          </a:prstGeom>
          <a:noFill/>
          <a:ln/>
        </p:spPr>
        <p:txBody>
          <a:bodyPr wrap="square" lIns="25400" tIns="25400" rIns="25400" bIns="25400" rtlCol="0" anchor="t">
            <a:normAutofit/>
          </a:bodyPr>
          <a:lstStyle/>
          <a:p>
            <a:pPr algn="ctr" indent="0" marL="0">
              <a:lnSpc>
                <a:spcPct val="91216"/>
              </a:lnSpc>
              <a:buNone/>
            </a:pPr>
            <a:r>
              <a:rPr lang="en-US" sz="2025" b="1" dirty="0">
                <a:solidFill>
                  <a:srgbClr val="1C2B34">
                    <a:alpha val="98000"/>
                  </a:srgbClr>
                </a:solidFill>
                <a:latin typeface="NotoSans" pitchFamily="34" charset="0"/>
                <a:ea typeface="NotoSans" pitchFamily="34" charset="-122"/>
                <a:cs typeface="NotoSans" pitchFamily="34" charset="-120"/>
              </a:rPr>
              <a:t>Filtered Egress Pipeline to Cloud Control Center</a:t>
            </a:r>
            <a:endParaRPr lang="en-US" sz="2025" dirty="0"/>
          </a:p>
        </p:txBody>
      </p:sp>
      <p:sp>
        <p:nvSpPr>
          <p:cNvPr id="31" name="Shape 18"/>
          <p:cNvSpPr/>
          <p:nvPr/>
        </p:nvSpPr>
        <p:spPr>
          <a:xfrm>
            <a:off x="1143000" y="9344025"/>
            <a:ext cx="16002000" cy="19050"/>
          </a:xfrm>
          <a:prstGeom prst="rect">
            <a:avLst/>
          </a:prstGeom>
          <a:solidFill>
            <a:srgbClr val="E2E5ED"/>
          </a:solidFill>
          <a:ln/>
        </p:spPr>
      </p:sp>
      <p:sp>
        <p:nvSpPr>
          <p:cNvPr id="32" name="Text 19"/>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33" name="Text 20"/>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4466332"/>
            <a:ext cx="17602200" cy="1078111"/>
          </a:xfrm>
          <a:prstGeom prst="rect">
            <a:avLst/>
          </a:prstGeom>
          <a:noFill/>
          <a:ln/>
        </p:spPr>
        <p:txBody>
          <a:bodyPr wrap="square" lIns="25400" tIns="25400" rIns="25400" bIns="25400" rtlCol="0" anchor="t">
            <a:normAutofit/>
          </a:bodyPr>
          <a:lstStyle/>
          <a:p>
            <a:pPr algn="l" indent="0" marL="0">
              <a:lnSpc>
                <a:spcPct val="77447"/>
              </a:lnSpc>
              <a:buNone/>
            </a:pPr>
            <a:r>
              <a:rPr lang="en-US" sz="7800" b="1" spc="-156" kern="0" dirty="0">
                <a:solidFill>
                  <a:srgbClr val="FFFFFF"/>
                </a:solidFill>
                <a:latin typeface="NotoSans" pitchFamily="34" charset="0"/>
                <a:ea typeface="NotoSans" pitchFamily="34" charset="-122"/>
                <a:cs typeface="NotoSans" pitchFamily="34" charset="-120"/>
              </a:rPr>
              <a:t>The Connected Fleet Use Case</a:t>
            </a:r>
            <a:endParaRPr lang="en-US" sz="7800" dirty="0"/>
          </a:p>
        </p:txBody>
      </p:sp>
      <p:sp>
        <p:nvSpPr>
          <p:cNvPr id="8" name="Text 6"/>
          <p:cNvSpPr/>
          <p:nvPr/>
        </p:nvSpPr>
        <p:spPr>
          <a:xfrm>
            <a:off x="1143000" y="88296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Edge Intelligence for Connected Fleets</a:t>
            </a:r>
            <a:endParaRPr lang="en-US" sz="1800" dirty="0"/>
          </a:p>
        </p:txBody>
      </p:sp>
      <p:sp>
        <p:nvSpPr>
          <p:cNvPr id="9" name="Text 7"/>
          <p:cNvSpPr/>
          <p:nvPr/>
        </p:nvSpPr>
        <p:spPr>
          <a:xfrm>
            <a:off x="16883360" y="88296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4293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7F7F7F">
              <a:alpha val="8000"/>
            </a:srgbClr>
          </a:solidFill>
          <a:ln/>
        </p:spPr>
      </p:sp>
      <p:pic>
        <p:nvPicPr>
          <p:cNvPr id="3" name="Image 0" descr="preencoded.png">    </p:cNvPr>
          <p:cNvPicPr>
            <a:picLocks noChangeAspect="1"/>
          </p:cNvPicPr>
          <p:nvPr/>
        </p:nvPicPr>
        <p:blipFill>
          <a:blip r:embed="rId1"/>
          <a:srcRect l="370" r="370" t="0" b="0"/>
          <a:stretch/>
        </p:blipFill>
        <p:spPr>
          <a:xfrm>
            <a:off x="0" y="0"/>
            <a:ext cx="18288000" cy="10287000"/>
          </a:xfrm>
          <a:prstGeom prst="rect">
            <a:avLst/>
          </a:prstGeom>
        </p:spPr>
      </p:pic>
      <p:sp>
        <p:nvSpPr>
          <p:cNvPr id="4" name="Shape 1"/>
          <p:cNvSpPr/>
          <p:nvPr/>
        </p:nvSpPr>
        <p:spPr>
          <a:xfrm>
            <a:off x="0" y="7734449"/>
            <a:ext cx="18288000" cy="2552551"/>
          </a:xfrm>
          <a:prstGeom prst="rect">
            <a:avLst/>
          </a:prstGeom>
          <a:solidFill>
            <a:srgbClr val="121216">
              <a:alpha val="86000"/>
            </a:srgbClr>
          </a:solidFill>
          <a:ln/>
        </p:spPr>
      </p:sp>
      <p:sp>
        <p:nvSpPr>
          <p:cNvPr id="5" name="Text 2"/>
          <p:cNvSpPr/>
          <p:nvPr/>
        </p:nvSpPr>
        <p:spPr>
          <a:xfrm>
            <a:off x="1143000" y="8191649"/>
            <a:ext cx="14668500" cy="708571"/>
          </a:xfrm>
          <a:prstGeom prst="rect">
            <a:avLst/>
          </a:prstGeom>
          <a:noFill/>
          <a:ln/>
        </p:spPr>
        <p:txBody>
          <a:bodyPr wrap="square" lIns="25400" tIns="25400" rIns="25400" bIns="25400" rtlCol="0" anchor="t">
            <a:normAutofit/>
          </a:bodyPr>
          <a:lstStyle/>
          <a:p>
            <a:pPr algn="l" indent="0" marL="0">
              <a:lnSpc>
                <a:spcPct val="80920"/>
              </a:lnSpc>
              <a:buNone/>
            </a:pPr>
            <a:r>
              <a:rPr lang="en-US" sz="4800" b="1" spc="-48" kern="0" dirty="0">
                <a:solidFill>
                  <a:srgbClr val="FFFFFF"/>
                </a:solidFill>
                <a:latin typeface="NotoSans" pitchFamily="34" charset="0"/>
                <a:ea typeface="NotoSans" pitchFamily="34" charset="-122"/>
                <a:cs typeface="NotoSans" pitchFamily="34" charset="-120"/>
              </a:rPr>
              <a:t>Watching the Whole Fleet</a:t>
            </a:r>
            <a:endParaRPr lang="en-US" sz="4800" dirty="0"/>
          </a:p>
        </p:txBody>
      </p:sp>
      <p:sp>
        <p:nvSpPr>
          <p:cNvPr id="6" name="Text 3"/>
          <p:cNvSpPr/>
          <p:nvPr/>
        </p:nvSpPr>
        <p:spPr>
          <a:xfrm>
            <a:off x="1143000" y="9014520"/>
            <a:ext cx="13735050" cy="891480"/>
          </a:xfrm>
          <a:prstGeom prst="rect">
            <a:avLst/>
          </a:prstGeom>
          <a:noFill/>
          <a:ln/>
        </p:spPr>
        <p:txBody>
          <a:bodyPr wrap="square" lIns="25400" tIns="25400" rIns="25400" bIns="25400" rtlCol="0" anchor="t">
            <a:normAutofit/>
          </a:bodyPr>
          <a:lstStyle/>
          <a:p>
            <a:pPr algn="l" indent="0" marL="0">
              <a:lnSpc>
                <a:spcPct val="104186"/>
              </a:lnSpc>
              <a:buNone/>
            </a:pPr>
            <a:r>
              <a:rPr lang="en-US" sz="2400" dirty="0">
                <a:solidFill>
                  <a:srgbClr val="E0E0E6"/>
                </a:solidFill>
                <a:latin typeface="NotoSans" pitchFamily="34" charset="0"/>
                <a:ea typeface="NotoSans" pitchFamily="34" charset="-122"/>
                <a:cs typeface="NotoSans" pitchFamily="34" charset="-120"/>
              </a:rPr>
              <a:t>A control center observes every class 8 truck at once. When one truck slows down, that becomes a signal for the rest of the fleet to reroute.</a:t>
            </a:r>
            <a:endParaRPr lang="en-US" sz="2400" dirty="0"/>
          </a:p>
        </p:txBody>
      </p:sp>
      <p:sp>
        <p:nvSpPr>
          <p:cNvPr id="7" name="Text 4"/>
          <p:cNvSpPr/>
          <p:nvPr/>
        </p:nvSpPr>
        <p:spPr>
          <a:xfrm>
            <a:off x="16883360" y="95535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C8C8D0"/>
                </a:solidFill>
                <a:latin typeface="NotoSans" pitchFamily="34" charset="0"/>
                <a:ea typeface="NotoSans" pitchFamily="34" charset="-122"/>
                <a:cs typeface="NotoSans" pitchFamily="34" charset="-120"/>
              </a:rPr>
              <a:t>01</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2931"/>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7F7F7F">
              <a:alpha val="8000"/>
            </a:srgbClr>
          </a:solidFill>
          <a:ln/>
        </p:spPr>
      </p:sp>
      <p:pic>
        <p:nvPicPr>
          <p:cNvPr id="3" name="Image 0" descr="preencoded.png">    </p:cNvPr>
          <p:cNvPicPr>
            <a:picLocks noChangeAspect="1"/>
          </p:cNvPicPr>
          <p:nvPr/>
        </p:nvPicPr>
        <p:blipFill>
          <a:blip r:embed="rId1"/>
          <a:srcRect l="370" r="370" t="0" b="0"/>
          <a:stretch/>
        </p:blipFill>
        <p:spPr>
          <a:xfrm>
            <a:off x="0" y="0"/>
            <a:ext cx="18288000" cy="10287000"/>
          </a:xfrm>
          <a:prstGeom prst="rect">
            <a:avLst/>
          </a:prstGeom>
        </p:spPr>
      </p:pic>
      <p:sp>
        <p:nvSpPr>
          <p:cNvPr id="4" name="Shape 1"/>
          <p:cNvSpPr/>
          <p:nvPr/>
        </p:nvSpPr>
        <p:spPr>
          <a:xfrm>
            <a:off x="0" y="7734449"/>
            <a:ext cx="18288000" cy="2552551"/>
          </a:xfrm>
          <a:prstGeom prst="rect">
            <a:avLst/>
          </a:prstGeom>
          <a:solidFill>
            <a:srgbClr val="121216">
              <a:alpha val="86000"/>
            </a:srgbClr>
          </a:solidFill>
          <a:ln/>
        </p:spPr>
      </p:sp>
      <p:sp>
        <p:nvSpPr>
          <p:cNvPr id="5" name="Text 2"/>
          <p:cNvSpPr/>
          <p:nvPr/>
        </p:nvSpPr>
        <p:spPr>
          <a:xfrm>
            <a:off x="1143000" y="8191649"/>
            <a:ext cx="14668500" cy="708571"/>
          </a:xfrm>
          <a:prstGeom prst="rect">
            <a:avLst/>
          </a:prstGeom>
          <a:noFill/>
          <a:ln/>
        </p:spPr>
        <p:txBody>
          <a:bodyPr wrap="square" lIns="25400" tIns="25400" rIns="25400" bIns="25400" rtlCol="0" anchor="t">
            <a:normAutofit/>
          </a:bodyPr>
          <a:lstStyle/>
          <a:p>
            <a:pPr algn="l" indent="0" marL="0">
              <a:lnSpc>
                <a:spcPct val="80920"/>
              </a:lnSpc>
              <a:buNone/>
            </a:pPr>
            <a:r>
              <a:rPr lang="en-US" sz="4800" b="1" spc="-48" kern="0" dirty="0">
                <a:solidFill>
                  <a:srgbClr val="FFFFFF"/>
                </a:solidFill>
                <a:latin typeface="NotoSans" pitchFamily="34" charset="0"/>
                <a:ea typeface="NotoSans" pitchFamily="34" charset="-122"/>
                <a:cs typeface="NotoSans" pitchFamily="34" charset="-120"/>
              </a:rPr>
              <a:t>Every Truck Reports In</a:t>
            </a:r>
            <a:endParaRPr lang="en-US" sz="4800" dirty="0"/>
          </a:p>
        </p:txBody>
      </p:sp>
      <p:sp>
        <p:nvSpPr>
          <p:cNvPr id="6" name="Text 3"/>
          <p:cNvSpPr/>
          <p:nvPr/>
        </p:nvSpPr>
        <p:spPr>
          <a:xfrm>
            <a:off x="1143000" y="9014520"/>
            <a:ext cx="13735050" cy="891480"/>
          </a:xfrm>
          <a:prstGeom prst="rect">
            <a:avLst/>
          </a:prstGeom>
          <a:noFill/>
          <a:ln/>
        </p:spPr>
        <p:txBody>
          <a:bodyPr wrap="square" lIns="25400" tIns="25400" rIns="25400" bIns="25400" rtlCol="0" anchor="t">
            <a:normAutofit/>
          </a:bodyPr>
          <a:lstStyle/>
          <a:p>
            <a:pPr algn="l" indent="0" marL="0">
              <a:lnSpc>
                <a:spcPct val="104186"/>
              </a:lnSpc>
              <a:buNone/>
            </a:pPr>
            <a:r>
              <a:rPr lang="en-US" sz="2400" dirty="0">
                <a:solidFill>
                  <a:srgbClr val="E0E0E6"/>
                </a:solidFill>
                <a:latin typeface="NotoSans" pitchFamily="34" charset="0"/>
                <a:ea typeface="NotoSans" pitchFamily="34" charset="-122"/>
                <a:cs typeface="NotoSans" pitchFamily="34" charset="-120"/>
              </a:rPr>
              <a:t>A small onboard computer collects sensor readings from across the rig and sends them back to the control center over cellular.</a:t>
            </a:r>
            <a:endParaRPr lang="en-US" sz="2400" dirty="0"/>
          </a:p>
        </p:txBody>
      </p:sp>
      <p:sp>
        <p:nvSpPr>
          <p:cNvPr id="7" name="Text 4"/>
          <p:cNvSpPr/>
          <p:nvPr/>
        </p:nvSpPr>
        <p:spPr>
          <a:xfrm>
            <a:off x="16883360" y="95535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C8C8D0"/>
                </a:solidFill>
                <a:latin typeface="NotoSans" pitchFamily="34" charset="0"/>
                <a:ea typeface="NotoSans" pitchFamily="34" charset="-122"/>
                <a:cs typeface="NotoSans" pitchFamily="34" charset="-120"/>
              </a:rPr>
              <a:t>02</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061"/>
          </a:xfrm>
          <a:prstGeom prst="rect">
            <a:avLst/>
          </a:prstGeom>
          <a:noFill/>
          <a:ln/>
        </p:spPr>
        <p:txBody>
          <a:bodyPr wrap="square" lIns="25400" tIns="25400" rIns="25400" bIns="25400" rtlCol="0" anchor="t">
            <a:normAutofit/>
          </a:bodyPr>
          <a:lstStyle/>
          <a:p>
            <a:pPr algn="l" indent="0" marL="0">
              <a:lnSpc>
                <a:spcPct val="81951"/>
              </a:lnSpc>
              <a:buNone/>
            </a:pPr>
            <a:r>
              <a:rPr lang="en-US" sz="4500" b="1" spc="-45" kern="0" dirty="0">
                <a:solidFill>
                  <a:srgbClr val="1C2B34">
                    <a:alpha val="98000"/>
                  </a:srgbClr>
                </a:solidFill>
                <a:latin typeface="NotoSans" pitchFamily="34" charset="0"/>
                <a:ea typeface="NotoSans" pitchFamily="34" charset="-122"/>
                <a:cs typeface="NotoSans" pitchFamily="34" charset="-120"/>
              </a:rPr>
              <a:t>What a Truck Senses: One Telemetry Event</a:t>
            </a:r>
            <a:endParaRPr lang="en-US" sz="4500" dirty="0"/>
          </a:p>
        </p:txBody>
      </p:sp>
      <p:sp>
        <p:nvSpPr>
          <p:cNvPr id="3" name="Shape 1"/>
          <p:cNvSpPr/>
          <p:nvPr/>
        </p:nvSpPr>
        <p:spPr>
          <a:xfrm>
            <a:off x="1143000" y="1582043"/>
            <a:ext cx="10363200" cy="7543800"/>
          </a:xfrm>
          <a:prstGeom prst="roundRect">
            <a:avLst>
              <a:gd name="adj" fmla="val 1010"/>
            </a:avLst>
          </a:prstGeom>
          <a:solidFill>
            <a:srgbClr val="242931"/>
          </a:solidFill>
          <a:ln/>
        </p:spPr>
      </p:sp>
      <p:sp>
        <p:nvSpPr>
          <p:cNvPr id="4" name="Text 2"/>
          <p:cNvSpPr/>
          <p:nvPr/>
        </p:nvSpPr>
        <p:spPr>
          <a:xfrm>
            <a:off x="1562100" y="1924943"/>
            <a:ext cx="9835896" cy="6896100"/>
          </a:xfrm>
          <a:prstGeom prst="rect">
            <a:avLst/>
          </a:prstGeom>
          <a:noFill/>
          <a:ln/>
        </p:spPr>
        <p:txBody>
          <a:bodyPr wrap="none" lIns="25400" tIns="25400" rIns="25400" bIns="25400" rtlCol="0" anchor="t">
            <a:normAutofit/>
          </a:bodyPr>
          <a:lstStyle/>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"timestamp"</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"2026-10-14T14:32:05Z"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"truck_id"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"truck-47"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"speed_mph"</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33.8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"gps"</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 </a:t>
            </a:r>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"lat"</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33.9612</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"lon"</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-84.4000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"heading"</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0.0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"route_segment"</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"I-95N-segment-4"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"corridor"</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"I-95N"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"planned_eta"</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"2026-10-14T15:05:00Z"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"current_eta"</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"2026-10-14T15:12:12Z"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"signals"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"rolling_avg_speed"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36.1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"eta_slip_min"</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7.2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"stop_go_index"</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0.74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"brake_events"</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1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"downshift_events"</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1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"peak_deceleration_g"</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0.31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"abs_engaged"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63A5"/>
                </a:solidFill>
                <a:latin typeface="Roboto Mono" pitchFamily="34" charset="0"/>
                <a:ea typeface="Roboto Mono" pitchFamily="34" charset="-122"/>
                <a:cs typeface="Roboto Mono" pitchFamily="34" charset="-120"/>
              </a:rPr>
              <a:t>false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p:txBody>
      </p:sp>
      <p:sp>
        <p:nvSpPr>
          <p:cNvPr id="5" name="Shape 3"/>
          <p:cNvSpPr/>
          <p:nvPr/>
        </p:nvSpPr>
        <p:spPr>
          <a:xfrm>
            <a:off x="12192000" y="3868043"/>
            <a:ext cx="38100" cy="2971800"/>
          </a:xfrm>
          <a:prstGeom prst="rect">
            <a:avLst/>
          </a:prstGeom>
          <a:solidFill>
            <a:srgbClr val="632CA6"/>
          </a:solidFill>
          <a:ln/>
        </p:spPr>
      </p:sp>
      <p:sp>
        <p:nvSpPr>
          <p:cNvPr id="6" name="Text 4"/>
          <p:cNvSpPr/>
          <p:nvPr/>
        </p:nvSpPr>
        <p:spPr>
          <a:xfrm>
            <a:off x="12687300" y="3868043"/>
            <a:ext cx="4903470" cy="1752600"/>
          </a:xfrm>
          <a:prstGeom prst="rect">
            <a:avLst/>
          </a:prstGeom>
          <a:noFill/>
          <a:ln/>
        </p:spPr>
        <p:txBody>
          <a:bodyPr wrap="square" lIns="25400" tIns="25400" rIns="25400" bIns="25400" rtlCol="0" anchor="t">
            <a:normAutofit/>
          </a:bodyPr>
          <a:lstStyle/>
          <a:p>
            <a:pPr algn="l" indent="0" marL="0">
              <a:lnSpc>
                <a:spcPct val="73469"/>
              </a:lnSpc>
              <a:buNone/>
            </a:pPr>
            <a:r>
              <a:rPr lang="en-US" sz="13500" b="1" spc="-405" kern="0" dirty="0">
                <a:solidFill>
                  <a:srgbClr val="632CA6"/>
                </a:solidFill>
                <a:latin typeface="NotoSans" pitchFamily="34" charset="0"/>
                <a:ea typeface="NotoSans" pitchFamily="34" charset="-122"/>
                <a:cs typeface="NotoSans" pitchFamily="34" charset="-120"/>
              </a:rPr>
              <a:t>&gt; 2k</a:t>
            </a:r>
            <a:endParaRPr lang="en-US" sz="13500" dirty="0"/>
          </a:p>
        </p:txBody>
      </p:sp>
      <p:sp>
        <p:nvSpPr>
          <p:cNvPr id="7" name="Text 5"/>
          <p:cNvSpPr/>
          <p:nvPr/>
        </p:nvSpPr>
        <p:spPr>
          <a:xfrm>
            <a:off x="12687300" y="5696843"/>
            <a:ext cx="4591431" cy="1181100"/>
          </a:xfrm>
          <a:prstGeom prst="rect">
            <a:avLst/>
          </a:prstGeom>
          <a:noFill/>
          <a:ln/>
        </p:spPr>
        <p:txBody>
          <a:bodyPr wrap="square" lIns="25400" tIns="25400" rIns="25400" bIns="25400" rtlCol="0" anchor="t">
            <a:normAutofit/>
          </a:bodyPr>
          <a:lstStyle/>
          <a:p>
            <a:pPr algn="l" indent="0" marL="0">
              <a:buNone/>
            </a:pPr>
            <a:r>
              <a:rPr lang="en-US" sz="3300" b="1" dirty="0">
                <a:solidFill>
                  <a:srgbClr val="1C2B34">
                    <a:alpha val="98000"/>
                  </a:srgbClr>
                </a:solidFill>
                <a:latin typeface="NotoSans" pitchFamily="34" charset="0"/>
                <a:ea typeface="NotoSans" pitchFamily="34" charset="-122"/>
                <a:cs typeface="NotoSans" pitchFamily="34" charset="-120"/>
              </a:rPr>
              <a:t>sensor readings per truck</a:t>
            </a:r>
            <a:endParaRPr lang="en-US" sz="3300" dirty="0"/>
          </a:p>
        </p:txBody>
      </p:sp>
      <p:sp>
        <p:nvSpPr>
          <p:cNvPr id="8" name="Shape 6"/>
          <p:cNvSpPr/>
          <p:nvPr/>
        </p:nvSpPr>
        <p:spPr>
          <a:xfrm>
            <a:off x="1143000" y="9229725"/>
            <a:ext cx="16002000" cy="19050"/>
          </a:xfrm>
          <a:prstGeom prst="rect">
            <a:avLst/>
          </a:prstGeom>
          <a:solidFill>
            <a:srgbClr val="E2E5ED"/>
          </a:solidFill>
          <a:ln/>
        </p:spPr>
      </p:sp>
      <p:sp>
        <p:nvSpPr>
          <p:cNvPr id="9" name="Text 7"/>
          <p:cNvSpPr/>
          <p:nvPr/>
        </p:nvSpPr>
        <p:spPr>
          <a:xfrm>
            <a:off x="1143000" y="94392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10" name="Text 8"/>
          <p:cNvSpPr/>
          <p:nvPr/>
        </p:nvSpPr>
        <p:spPr>
          <a:xfrm>
            <a:off x="16883360" y="94392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03</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533400"/>
            <a:ext cx="11552917" cy="635496"/>
          </a:xfrm>
          <a:prstGeom prst="rect">
            <a:avLst/>
          </a:prstGeom>
          <a:noFill/>
          <a:ln/>
        </p:spPr>
        <p:txBody>
          <a:bodyPr wrap="square" lIns="25400" tIns="25400" rIns="25400" bIns="25400" rtlCol="0" anchor="t">
            <a:normAutofit/>
          </a:bodyPr>
          <a:lstStyle/>
          <a:p>
            <a:pPr algn="l" indent="0" marL="0">
              <a:lnSpc>
                <a:spcPct val="82526"/>
              </a:lnSpc>
              <a:buNone/>
            </a:pPr>
            <a:r>
              <a:rPr lang="en-US" sz="4200" b="1" spc="-42" kern="0" dirty="0">
                <a:solidFill>
                  <a:srgbClr val="1C2B34">
                    <a:alpha val="98000"/>
                  </a:srgbClr>
                </a:solidFill>
                <a:latin typeface="NotoSans" pitchFamily="34" charset="0"/>
                <a:ea typeface="NotoSans" pitchFamily="34" charset="-122"/>
                <a:cs typeface="NotoSans" pitchFamily="34" charset="-120"/>
              </a:rPr>
              <a:t>How a Slowdown Becomes High Severity</a:t>
            </a:r>
            <a:endParaRPr lang="en-US" sz="4200" dirty="0"/>
          </a:p>
        </p:txBody>
      </p:sp>
      <p:sp>
        <p:nvSpPr>
          <p:cNvPr id="3" name="Shape 1"/>
          <p:cNvSpPr/>
          <p:nvPr/>
        </p:nvSpPr>
        <p:spPr>
          <a:xfrm>
            <a:off x="15672346" y="673596"/>
            <a:ext cx="1472654" cy="457200"/>
          </a:xfrm>
          <a:prstGeom prst="roundRect">
            <a:avLst>
              <a:gd name="adj" fmla="val 8333"/>
            </a:avLst>
          </a:prstGeom>
          <a:solidFill>
            <a:srgbClr val="FFFFFF"/>
          </a:solidFill>
          <a:ln w="19050">
            <a:solidFill>
              <a:srgbClr val="B4BCD4"/>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881896" y="797421"/>
            <a:ext cx="209550" cy="209550"/>
          </a:xfrm>
          <a:prstGeom prst="rect">
            <a:avLst/>
          </a:prstGeom>
        </p:spPr>
      </p:pic>
      <p:sp>
        <p:nvSpPr>
          <p:cNvPr id="5" name="Text 2"/>
          <p:cNvSpPr/>
          <p:nvPr/>
        </p:nvSpPr>
        <p:spPr>
          <a:xfrm>
            <a:off x="16186696" y="745034"/>
            <a:ext cx="824954" cy="352425"/>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NotoSans" pitchFamily="34" charset="0"/>
                <a:ea typeface="NotoSans" pitchFamily="34" charset="-122"/>
                <a:cs typeface="NotoSans" pitchFamily="34" charset="-120"/>
              </a:rPr>
              <a:t>Replay</a:t>
            </a:r>
            <a:endParaRPr lang="en-US" sz="1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1318320"/>
            <a:ext cx="323850" cy="323850"/>
          </a:xfrm>
          <a:prstGeom prst="rect">
            <a:avLst/>
          </a:prstGeom>
        </p:spPr>
      </p:pic>
      <p:sp>
        <p:nvSpPr>
          <p:cNvPr id="7" name="Text 3"/>
          <p:cNvSpPr/>
          <p:nvPr/>
        </p:nvSpPr>
        <p:spPr>
          <a:xfrm>
            <a:off x="1619250" y="1302246"/>
            <a:ext cx="7593404" cy="394246"/>
          </a:xfrm>
          <a:prstGeom prst="rect">
            <a:avLst/>
          </a:prstGeom>
          <a:noFill/>
          <a:ln/>
        </p:spPr>
        <p:txBody>
          <a:bodyPr wrap="square" lIns="25400" tIns="25400" rIns="25400" bIns="25400" rtlCol="0" anchor="t">
            <a:normAutofit/>
          </a:bodyPr>
          <a:lstStyle/>
          <a:p>
            <a:pPr algn="l" indent="0" marL="0">
              <a:lnSpc>
                <a:spcPct val="95789"/>
              </a:lnSpc>
              <a:buNone/>
            </a:pPr>
            <a:r>
              <a:rPr lang="en-US" sz="2100" b="1" dirty="0">
                <a:solidFill>
                  <a:srgbClr val="1C2B34">
                    <a:alpha val="98000"/>
                  </a:srgbClr>
                </a:solidFill>
                <a:latin typeface="NotoSans" pitchFamily="34" charset="0"/>
                <a:ea typeface="NotoSans" pitchFamily="34" charset="-122"/>
                <a:cs typeface="NotoSans" pitchFamily="34" charset="-120"/>
              </a:rPr>
              <a:t>One truck, five readings in a row: </a:t>
            </a:r>
            <a:pPr algn="l" indent="0" marL="0">
              <a:lnSpc>
                <a:spcPct val="95789"/>
              </a:lnSpc>
              <a:buNone/>
            </a:pPr>
            <a:r>
              <a:rPr lang="en-US" sz="2100" b="1" dirty="0">
                <a:solidFill>
                  <a:srgbClr val="1C2B34">
                    <a:alpha val="98000"/>
                  </a:srgbClr>
                </a:solidFill>
                <a:latin typeface="Roboto Mono" pitchFamily="34" charset="0"/>
                <a:ea typeface="Roboto Mono" pitchFamily="34" charset="-122"/>
                <a:cs typeface="Roboto Mono" pitchFamily="34" charset="-120"/>
              </a:rPr>
              <a:t>truck-47 </a:t>
            </a:r>
            <a:pPr algn="l" indent="0" marL="0">
              <a:lnSpc>
                <a:spcPct val="95789"/>
              </a:lnSpc>
              <a:buNone/>
            </a:pPr>
            <a:r>
              <a:rPr lang="en-US" sz="2100" dirty="0">
                <a:solidFill>
                  <a:srgbClr val="1C2B34">
                    <a:alpha val="98000"/>
                  </a:srgbClr>
                </a:solidFill>
                <a:latin typeface="NotoSans" pitchFamily="34" charset="0"/>
                <a:ea typeface="NotoSans" pitchFamily="34" charset="-122"/>
                <a:cs typeface="NotoSans" pitchFamily="34" charset="-120"/>
              </a:rPr>
              <a:t>on I-95N</a:t>
            </a:r>
            <a:endParaRPr lang="en-US" sz="2100" dirty="0"/>
          </a:p>
        </p:txBody>
      </p:sp>
      <p:sp>
        <p:nvSpPr>
          <p:cNvPr id="8" name="Shape 4"/>
          <p:cNvSpPr/>
          <p:nvPr/>
        </p:nvSpPr>
        <p:spPr>
          <a:xfrm>
            <a:off x="1143000" y="1829842"/>
            <a:ext cx="16002000" cy="702915"/>
          </a:xfrm>
          <a:prstGeom prst="roundRect">
            <a:avLst>
              <a:gd name="adj" fmla="val 10841"/>
            </a:avLst>
          </a:prstGeom>
          <a:solidFill>
            <a:srgbClr val="F2ECFC"/>
          </a:solidFill>
          <a:ln/>
        </p:spPr>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09700" y="2009775"/>
            <a:ext cx="342900" cy="342900"/>
          </a:xfrm>
          <a:prstGeom prst="rect">
            <a:avLst/>
          </a:prstGeom>
        </p:spPr>
      </p:pic>
      <p:sp>
        <p:nvSpPr>
          <p:cNvPr id="10" name="Text 5"/>
          <p:cNvSpPr/>
          <p:nvPr/>
        </p:nvSpPr>
        <p:spPr>
          <a:xfrm>
            <a:off x="1943100" y="2001292"/>
            <a:ext cx="12406179" cy="398115"/>
          </a:xfrm>
          <a:prstGeom prst="rect">
            <a:avLst/>
          </a:prstGeom>
          <a:noFill/>
          <a:ln/>
        </p:spPr>
        <p:txBody>
          <a:bodyPr wrap="square" lIns="25400" tIns="25400" rIns="25400" bIns="25400" rtlCol="0" anchor="t">
            <a:normAutofit/>
          </a:bodyPr>
          <a:lstStyle/>
          <a:p>
            <a:pPr algn="l" indent="0" marL="0">
              <a:lnSpc>
                <a:spcPct val="99474"/>
              </a:lnSpc>
              <a:buNone/>
            </a:pPr>
            <a:r>
              <a:rPr lang="en-US" sz="2100" b="1" dirty="0">
                <a:solidFill>
                  <a:srgbClr val="1C2B34">
                    <a:alpha val="98000"/>
                  </a:srgbClr>
                </a:solidFill>
                <a:latin typeface="NotoSans" pitchFamily="34" charset="0"/>
                <a:ea typeface="NotoSans" pitchFamily="34" charset="-122"/>
                <a:cs typeface="NotoSans" pitchFamily="34" charset="-120"/>
              </a:rPr>
              <a:t>Severity = ETA impact. </a:t>
            </a:r>
            <a:pPr algn="l" indent="0" marL="0">
              <a:lnSpc>
                <a:spcPct val="99474"/>
              </a:lnSpc>
              <a:buNone/>
            </a:pPr>
            <a:r>
              <a:rPr lang="en-US" sz="2100" dirty="0">
                <a:solidFill>
                  <a:srgbClr val="1C2B34">
                    <a:alpha val="98000"/>
                  </a:srgbClr>
                </a:solidFill>
                <a:latin typeface="NotoSans" pitchFamily="34" charset="0"/>
                <a:ea typeface="NotoSans" pitchFamily="34" charset="-122"/>
                <a:cs typeface="NotoSans" pitchFamily="34" charset="-120"/>
              </a:rPr>
              <a:t>How badly a slowdown threatens the delivery window, not a crash.</a:t>
            </a:r>
            <a:endParaRPr lang="en-US" sz="2100" dirty="0"/>
          </a:p>
        </p:txBody>
      </p:sp>
      <p:sp>
        <p:nvSpPr>
          <p:cNvPr id="11" name="Shape 6"/>
          <p:cNvSpPr/>
          <p:nvPr/>
        </p:nvSpPr>
        <p:spPr>
          <a:xfrm>
            <a:off x="1143000" y="3104257"/>
            <a:ext cx="16002000" cy="19050"/>
          </a:xfrm>
          <a:prstGeom prst="rect">
            <a:avLst/>
          </a:prstGeom>
          <a:solidFill>
            <a:srgbClr val="D1D6E6"/>
          </a:solidFill>
          <a:ln/>
        </p:spPr>
      </p:sp>
      <p:sp>
        <p:nvSpPr>
          <p:cNvPr id="12" name="Text 7"/>
          <p:cNvSpPr/>
          <p:nvPr/>
        </p:nvSpPr>
        <p:spPr>
          <a:xfrm>
            <a:off x="1295400" y="2704207"/>
            <a:ext cx="1424940"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1C2B34">
                    <a:alpha val="68000"/>
                  </a:srgbClr>
                </a:solidFill>
                <a:latin typeface="NotoSans" pitchFamily="34" charset="0"/>
                <a:ea typeface="NotoSans" pitchFamily="34" charset="-122"/>
                <a:cs typeface="NotoSans" pitchFamily="34" charset="-120"/>
              </a:rPr>
              <a:t>truck-47</a:t>
            </a:r>
            <a:endParaRPr lang="en-US" sz="1650" dirty="0"/>
          </a:p>
        </p:txBody>
      </p:sp>
      <p:sp>
        <p:nvSpPr>
          <p:cNvPr id="13" name="Text 8"/>
          <p:cNvSpPr/>
          <p:nvPr/>
        </p:nvSpPr>
        <p:spPr>
          <a:xfrm>
            <a:off x="2705100" y="2713732"/>
            <a:ext cx="2462212"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rolling_avg_speed</a:t>
            </a:r>
            <a:endParaRPr lang="en-US" sz="1650" dirty="0"/>
          </a:p>
        </p:txBody>
      </p:sp>
      <p:sp>
        <p:nvSpPr>
          <p:cNvPr id="14" name="Text 9"/>
          <p:cNvSpPr/>
          <p:nvPr/>
        </p:nvSpPr>
        <p:spPr>
          <a:xfrm>
            <a:off x="5057775" y="2713732"/>
            <a:ext cx="199072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stop_go_index</a:t>
            </a:r>
            <a:endParaRPr lang="en-US" sz="1650" dirty="0"/>
          </a:p>
        </p:txBody>
      </p:sp>
      <p:sp>
        <p:nvSpPr>
          <p:cNvPr id="15" name="Text 10"/>
          <p:cNvSpPr/>
          <p:nvPr/>
        </p:nvSpPr>
        <p:spPr>
          <a:xfrm>
            <a:off x="6981825" y="2713732"/>
            <a:ext cx="1833563"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eta_slip_min</a:t>
            </a:r>
            <a:endParaRPr lang="en-US" sz="1650" dirty="0"/>
          </a:p>
        </p:txBody>
      </p:sp>
      <p:sp>
        <p:nvSpPr>
          <p:cNvPr id="16" name="Text 11"/>
          <p:cNvSpPr/>
          <p:nvPr/>
        </p:nvSpPr>
        <p:spPr>
          <a:xfrm>
            <a:off x="8763000" y="2713732"/>
            <a:ext cx="1833563"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peak_decel_g</a:t>
            </a:r>
            <a:endParaRPr lang="en-US" sz="1650" dirty="0"/>
          </a:p>
        </p:txBody>
      </p:sp>
      <p:sp>
        <p:nvSpPr>
          <p:cNvPr id="17" name="Text 12"/>
          <p:cNvSpPr/>
          <p:nvPr/>
        </p:nvSpPr>
        <p:spPr>
          <a:xfrm>
            <a:off x="10544175" y="2713732"/>
            <a:ext cx="167640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abs_engaged</a:t>
            </a:r>
            <a:endParaRPr lang="en-US" sz="165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182475" y="2723257"/>
            <a:ext cx="247650" cy="247650"/>
          </a:xfrm>
          <a:prstGeom prst="rect">
            <a:avLst/>
          </a:prstGeom>
        </p:spPr>
      </p:pic>
      <p:sp>
        <p:nvSpPr>
          <p:cNvPr id="19" name="Text 13"/>
          <p:cNvSpPr/>
          <p:nvPr/>
        </p:nvSpPr>
        <p:spPr>
          <a:xfrm>
            <a:off x="12525375" y="2704207"/>
            <a:ext cx="2090886" cy="323850"/>
          </a:xfrm>
          <a:prstGeom prst="rect">
            <a:avLst/>
          </a:prstGeom>
          <a:noFill/>
          <a:ln/>
        </p:spPr>
        <p:txBody>
          <a:bodyPr wrap="square" lIns="0" tIns="0" rIns="0" bIns="0" rtlCol="0" anchor="t">
            <a:normAutofit/>
          </a:bodyPr>
          <a:lstStyle/>
          <a:p>
            <a:pPr algn="l" indent="0" marL="0">
              <a:buNone/>
            </a:pPr>
            <a:r>
              <a:rPr lang="en-US" sz="1650" b="1" dirty="0">
                <a:solidFill>
                  <a:srgbClr val="1C2B34">
                    <a:alpha val="98000"/>
                  </a:srgbClr>
                </a:solidFill>
                <a:latin typeface="NotoSans" pitchFamily="34" charset="0"/>
                <a:ea typeface="NotoSans" pitchFamily="34" charset="-122"/>
                <a:cs typeface="NotoSans" pitchFamily="34" charset="-120"/>
              </a:rPr>
              <a:t>Co-processor result</a:t>
            </a:r>
            <a:endParaRPr lang="en-US" sz="1650" dirty="0"/>
          </a:p>
        </p:txBody>
      </p:sp>
      <p:sp>
        <p:nvSpPr>
          <p:cNvPr id="20" name="Shape 14"/>
          <p:cNvSpPr/>
          <p:nvPr/>
        </p:nvSpPr>
        <p:spPr>
          <a:xfrm>
            <a:off x="1099285" y="3123307"/>
            <a:ext cx="16002000" cy="752475"/>
          </a:xfrm>
          <a:prstGeom prst="rect">
            <a:avLst/>
          </a:prstGeom>
          <a:solidFill>
            <a:srgbClr val="F2ECFC">
              <a:alpha val="85000"/>
            </a:srgbClr>
          </a:solidFill>
          <a:ln/>
        </p:spPr>
      </p:sp>
      <p:sp>
        <p:nvSpPr>
          <p:cNvPr id="21" name="Shape 15"/>
          <p:cNvSpPr/>
          <p:nvPr/>
        </p:nvSpPr>
        <p:spPr>
          <a:xfrm>
            <a:off x="1099285" y="3856732"/>
            <a:ext cx="16002000" cy="19050"/>
          </a:xfrm>
          <a:prstGeom prst="rect">
            <a:avLst/>
          </a:prstGeom>
          <a:solidFill>
            <a:srgbClr val="E2E5ED">
              <a:alpha val="89000"/>
            </a:srgbClr>
          </a:solidFill>
          <a:ln/>
        </p:spPr>
      </p:sp>
      <p:sp>
        <p:nvSpPr>
          <p:cNvPr id="22" name="Text 16"/>
          <p:cNvSpPr/>
          <p:nvPr/>
        </p:nvSpPr>
        <p:spPr>
          <a:xfrm>
            <a:off x="1251685" y="3199507"/>
            <a:ext cx="1424940"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1C2B34">
                    <a:alpha val="87000"/>
                  </a:srgbClr>
                </a:solidFill>
                <a:latin typeface="Roboto Mono" pitchFamily="34" charset="0"/>
                <a:ea typeface="Roboto Mono" pitchFamily="34" charset="-122"/>
                <a:cs typeface="Roboto Mono" pitchFamily="34" charset="-120"/>
              </a:rPr>
              <a:t>0s</a:t>
            </a:r>
            <a:endParaRPr lang="en-US" sz="1650" dirty="0"/>
          </a:p>
        </p:txBody>
      </p:sp>
      <p:sp>
        <p:nvSpPr>
          <p:cNvPr id="23" name="Text 17"/>
          <p:cNvSpPr/>
          <p:nvPr/>
        </p:nvSpPr>
        <p:spPr>
          <a:xfrm>
            <a:off x="1251685" y="3494782"/>
            <a:ext cx="1424940" cy="323850"/>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0000"/>
                  </a:srgbClr>
                </a:solidFill>
                <a:latin typeface="NotoSans" pitchFamily="34" charset="0"/>
                <a:ea typeface="NotoSans" pitchFamily="34" charset="-122"/>
                <a:cs typeface="NotoSans" pitchFamily="34" charset="-120"/>
              </a:rPr>
              <a:t>Cruising</a:t>
            </a:r>
            <a:endParaRPr lang="en-US" sz="1650" dirty="0"/>
          </a:p>
        </p:txBody>
      </p:sp>
      <p:sp>
        <p:nvSpPr>
          <p:cNvPr id="24" name="Shape 18"/>
          <p:cNvSpPr/>
          <p:nvPr/>
        </p:nvSpPr>
        <p:spPr>
          <a:xfrm>
            <a:off x="2661385" y="3299520"/>
            <a:ext cx="693539" cy="381000"/>
          </a:xfrm>
          <a:prstGeom prst="roundRect">
            <a:avLst>
              <a:gd name="adj" fmla="val 10000"/>
            </a:avLst>
          </a:prstGeom>
          <a:solidFill>
            <a:srgbClr val="FFF3D6">
              <a:alpha val="78000"/>
            </a:srgbClr>
          </a:solidFill>
          <a:ln/>
          <a:effectLst>
            <a:outerShdw sx="100000" sy="100000" kx="0" ky="0" algn="bl" rotWithShape="0" blurRad="101600" dist="50800" dir="16200000">
              <a:srgbClr val="FFB84D">
                <a:alpha val="78434"/>
              </a:srgbClr>
            </a:outerShdw>
          </a:effectLst>
        </p:spPr>
      </p:sp>
      <p:sp>
        <p:nvSpPr>
          <p:cNvPr id="25" name="Text 19"/>
          <p:cNvSpPr/>
          <p:nvPr/>
        </p:nvSpPr>
        <p:spPr>
          <a:xfrm>
            <a:off x="2756635" y="3351907"/>
            <a:ext cx="579239"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8A4300">
                    <a:alpha val="89000"/>
                  </a:srgbClr>
                </a:solidFill>
                <a:latin typeface="Roboto Mono" pitchFamily="34" charset="0"/>
                <a:ea typeface="Roboto Mono" pitchFamily="34" charset="-122"/>
                <a:cs typeface="Roboto Mono" pitchFamily="34" charset="-120"/>
              </a:rPr>
              <a:t>68.1</a:t>
            </a:r>
            <a:endParaRPr lang="en-US" sz="1650" dirty="0"/>
          </a:p>
        </p:txBody>
      </p:sp>
      <p:sp>
        <p:nvSpPr>
          <p:cNvPr id="26" name="Text 20"/>
          <p:cNvSpPr/>
          <p:nvPr/>
        </p:nvSpPr>
        <p:spPr>
          <a:xfrm>
            <a:off x="5109310" y="3351907"/>
            <a:ext cx="57923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87000"/>
                  </a:srgbClr>
                </a:solidFill>
                <a:latin typeface="Roboto Mono" pitchFamily="34" charset="0"/>
                <a:ea typeface="Roboto Mono" pitchFamily="34" charset="-122"/>
                <a:cs typeface="Roboto Mono" pitchFamily="34" charset="-120"/>
              </a:rPr>
              <a:t>0.06</a:t>
            </a:r>
            <a:endParaRPr lang="en-US" sz="1650" dirty="0"/>
          </a:p>
        </p:txBody>
      </p:sp>
      <p:sp>
        <p:nvSpPr>
          <p:cNvPr id="27" name="Text 21"/>
          <p:cNvSpPr/>
          <p:nvPr/>
        </p:nvSpPr>
        <p:spPr>
          <a:xfrm>
            <a:off x="7033360" y="3351907"/>
            <a:ext cx="45347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87000"/>
                  </a:srgbClr>
                </a:solidFill>
                <a:latin typeface="Roboto Mono" pitchFamily="34" charset="0"/>
                <a:ea typeface="Roboto Mono" pitchFamily="34" charset="-122"/>
                <a:cs typeface="Roboto Mono" pitchFamily="34" charset="-120"/>
              </a:rPr>
              <a:t>0.0</a:t>
            </a:r>
            <a:endParaRPr lang="en-US" sz="1650" dirty="0"/>
          </a:p>
        </p:txBody>
      </p:sp>
      <p:sp>
        <p:nvSpPr>
          <p:cNvPr id="28" name="Text 22"/>
          <p:cNvSpPr/>
          <p:nvPr/>
        </p:nvSpPr>
        <p:spPr>
          <a:xfrm>
            <a:off x="8814535" y="3351907"/>
            <a:ext cx="57923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87000"/>
                  </a:srgbClr>
                </a:solidFill>
                <a:latin typeface="Roboto Mono" pitchFamily="34" charset="0"/>
                <a:ea typeface="Roboto Mono" pitchFamily="34" charset="-122"/>
                <a:cs typeface="Roboto Mono" pitchFamily="34" charset="-120"/>
              </a:rPr>
              <a:t>0.02</a:t>
            </a:r>
            <a:endParaRPr lang="en-US" sz="1650" dirty="0"/>
          </a:p>
        </p:txBody>
      </p:sp>
      <p:sp>
        <p:nvSpPr>
          <p:cNvPr id="29" name="Text 23"/>
          <p:cNvSpPr/>
          <p:nvPr/>
        </p:nvSpPr>
        <p:spPr>
          <a:xfrm>
            <a:off x="10595709" y="3351907"/>
            <a:ext cx="70500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87000"/>
                  </a:srgbClr>
                </a:solidFill>
                <a:latin typeface="Roboto Mono" pitchFamily="34" charset="0"/>
                <a:ea typeface="Roboto Mono" pitchFamily="34" charset="-122"/>
                <a:cs typeface="Roboto Mono" pitchFamily="34" charset="-120"/>
              </a:rPr>
              <a:t>false</a:t>
            </a:r>
            <a:endParaRPr lang="en-US" sz="1650" dirty="0"/>
          </a:p>
        </p:txBody>
      </p:sp>
      <p:sp>
        <p:nvSpPr>
          <p:cNvPr id="30" name="Shape 24"/>
          <p:cNvSpPr/>
          <p:nvPr/>
        </p:nvSpPr>
        <p:spPr>
          <a:xfrm>
            <a:off x="12138760" y="3309045"/>
            <a:ext cx="1103709" cy="361950"/>
          </a:xfrm>
          <a:prstGeom prst="roundRect">
            <a:avLst>
              <a:gd name="adj" fmla="val 10526"/>
            </a:avLst>
          </a:prstGeom>
          <a:solidFill>
            <a:srgbClr val="E2E5ED">
              <a:alpha val="89000"/>
            </a:srgbClr>
          </a:solidFill>
          <a:ln/>
        </p:spPr>
      </p:sp>
      <p:sp>
        <p:nvSpPr>
          <p:cNvPr id="31" name="Text 25"/>
          <p:cNvSpPr/>
          <p:nvPr/>
        </p:nvSpPr>
        <p:spPr>
          <a:xfrm>
            <a:off x="12253060" y="3347145"/>
            <a:ext cx="951309"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1C2B34">
                    <a:alpha val="60000"/>
                  </a:srgbClr>
                </a:solidFill>
                <a:latin typeface="NotoSans" pitchFamily="34" charset="0"/>
                <a:ea typeface="NotoSans" pitchFamily="34" charset="-122"/>
                <a:cs typeface="NotoSans" pitchFamily="34" charset="-120"/>
              </a:rPr>
              <a:t>dropped</a:t>
            </a:r>
            <a:endParaRPr lang="en-US" sz="1650" dirty="0"/>
          </a:p>
        </p:txBody>
      </p:sp>
      <p:sp>
        <p:nvSpPr>
          <p:cNvPr id="32" name="Text 26"/>
          <p:cNvSpPr/>
          <p:nvPr/>
        </p:nvSpPr>
        <p:spPr>
          <a:xfrm>
            <a:off x="13375820" y="3353842"/>
            <a:ext cx="2661776" cy="310455"/>
          </a:xfrm>
          <a:prstGeom prst="rect">
            <a:avLst/>
          </a:prstGeom>
          <a:noFill/>
          <a:ln/>
        </p:spPr>
        <p:txBody>
          <a:bodyPr wrap="square" lIns="25400" tIns="25400" rIns="25400" bIns="25400" rtlCol="0" anchor="t">
            <a:normAutofit/>
          </a:bodyPr>
          <a:lstStyle/>
          <a:p>
            <a:pPr algn="l" indent="0" marL="0">
              <a:lnSpc>
                <a:spcPct val="95333"/>
              </a:lnSpc>
              <a:buNone/>
            </a:pPr>
            <a:r>
              <a:rPr lang="en-US" sz="1650" dirty="0">
                <a:solidFill>
                  <a:srgbClr val="1C2B34">
                    <a:alpha val="60000"/>
                  </a:srgbClr>
                </a:solidFill>
                <a:latin typeface="NotoSans" pitchFamily="34" charset="0"/>
                <a:ea typeface="NotoSans" pitchFamily="34" charset="-122"/>
                <a:cs typeface="NotoSans" pitchFamily="34" charset="-120"/>
              </a:rPr>
              <a:t>0/3 signals; nothing sent</a:t>
            </a:r>
            <a:endParaRPr lang="en-US" sz="1650" dirty="0"/>
          </a:p>
        </p:txBody>
      </p:sp>
      <p:sp>
        <p:nvSpPr>
          <p:cNvPr id="33" name="Shape 27"/>
          <p:cNvSpPr/>
          <p:nvPr/>
        </p:nvSpPr>
        <p:spPr>
          <a:xfrm>
            <a:off x="1143000" y="9382125"/>
            <a:ext cx="16002000" cy="19050"/>
          </a:xfrm>
          <a:prstGeom prst="rect">
            <a:avLst/>
          </a:prstGeom>
          <a:solidFill>
            <a:srgbClr val="E2E5ED"/>
          </a:solidFill>
          <a:ln/>
        </p:spPr>
      </p:sp>
      <p:sp>
        <p:nvSpPr>
          <p:cNvPr id="34" name="Text 28"/>
          <p:cNvSpPr/>
          <p:nvPr/>
        </p:nvSpPr>
        <p:spPr>
          <a:xfrm>
            <a:off x="1143000" y="95535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35" name="Text 29"/>
          <p:cNvSpPr/>
          <p:nvPr/>
        </p:nvSpPr>
        <p:spPr>
          <a:xfrm>
            <a:off x="16883360" y="95535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18</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061"/>
          </a:xfrm>
          <a:prstGeom prst="rect">
            <a:avLst/>
          </a:prstGeom>
          <a:noFill/>
          <a:ln/>
        </p:spPr>
        <p:txBody>
          <a:bodyPr wrap="square" lIns="25400" tIns="25400" rIns="25400" bIns="25400" rtlCol="0" anchor="t">
            <a:normAutofit/>
          </a:bodyPr>
          <a:lstStyle/>
          <a:p>
            <a:pPr algn="l" indent="0" marL="0">
              <a:lnSpc>
                <a:spcPct val="81951"/>
              </a:lnSpc>
              <a:buNone/>
            </a:pPr>
            <a:r>
              <a:rPr lang="en-US" sz="4500" b="1" spc="-45" kern="0" dirty="0">
                <a:solidFill>
                  <a:srgbClr val="1C2B34">
                    <a:alpha val="98000"/>
                  </a:srgbClr>
                </a:solidFill>
                <a:latin typeface="NotoSans" pitchFamily="34" charset="0"/>
                <a:ea typeface="NotoSans" pitchFamily="34" charset="-122"/>
                <a:cs typeface="NotoSans" pitchFamily="34" charset="-120"/>
              </a:rPr>
              <a:t>What the Co-Processor Sends: One Triage Payload</a:t>
            </a:r>
            <a:endParaRPr lang="en-US" sz="4500" dirty="0"/>
          </a:p>
        </p:txBody>
      </p:sp>
      <p:sp>
        <p:nvSpPr>
          <p:cNvPr id="3" name="Shape 1"/>
          <p:cNvSpPr/>
          <p:nvPr/>
        </p:nvSpPr>
        <p:spPr>
          <a:xfrm>
            <a:off x="1143000" y="1753493"/>
            <a:ext cx="11087100" cy="7200900"/>
          </a:xfrm>
          <a:prstGeom prst="roundRect">
            <a:avLst>
              <a:gd name="adj" fmla="val 1058"/>
            </a:avLst>
          </a:prstGeom>
          <a:solidFill>
            <a:srgbClr val="242931"/>
          </a:solidFill>
          <a:ln/>
        </p:spPr>
      </p:sp>
      <p:sp>
        <p:nvSpPr>
          <p:cNvPr id="4" name="Text 2"/>
          <p:cNvSpPr/>
          <p:nvPr/>
        </p:nvSpPr>
        <p:spPr>
          <a:xfrm>
            <a:off x="1447800" y="2096393"/>
            <a:ext cx="10810113" cy="6553200"/>
          </a:xfrm>
          <a:prstGeom prst="rect">
            <a:avLst/>
          </a:prstGeom>
          <a:noFill/>
          <a:ln/>
        </p:spPr>
        <p:txBody>
          <a:bodyPr wrap="none" lIns="25400" tIns="25400" rIns="25400" bIns="25400" rtlCol="0" anchor="t">
            <a:normAutofit/>
          </a:bodyPr>
          <a:lstStyle/>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"truck_id"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"truck-47"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"corridor"</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"I-95N"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"signals"</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"sustained_low_speed"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"stop_go_index"</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"eta_slip"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"metrics"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"rolling_avg_speed"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36.1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"eta_slip_min"</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7.2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"traffic_pattern"</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"elevated velocity variance (frequent speed cycling)"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"peak_deceleration_g"</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0.31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"abs_engaged"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63A5"/>
                </a:solidFill>
                <a:latin typeface="Roboto Mono" pitchFamily="34" charset="0"/>
                <a:ea typeface="Roboto Mono" pitchFamily="34" charset="-122"/>
                <a:cs typeface="Roboto Mono" pitchFamily="34" charset="-120"/>
              </a:rPr>
              <a:t>false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"baseline_severity"</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"medium"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"contextual_triggers"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"local_time"</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"2026-10-14T14:32:05+00:00"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"weather_condition"</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"Heavy rain, wet asphalt"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"cargo_type"</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"Liquids / Chemical Tanker"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"dispatch_status"</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"Running 20 minutes behind schedule"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p:txBody>
      </p:sp>
      <p:sp>
        <p:nvSpPr>
          <p:cNvPr id="5" name="Shape 3"/>
          <p:cNvSpPr/>
          <p:nvPr/>
        </p:nvSpPr>
        <p:spPr>
          <a:xfrm>
            <a:off x="12763500" y="3860602"/>
            <a:ext cx="38100" cy="2986683"/>
          </a:xfrm>
          <a:prstGeom prst="rect">
            <a:avLst/>
          </a:prstGeom>
          <a:solidFill>
            <a:srgbClr val="632CA6"/>
          </a:solidFill>
          <a:ln/>
        </p:spPr>
      </p:sp>
      <p:sp>
        <p:nvSpPr>
          <p:cNvPr id="6" name="Text 4"/>
          <p:cNvSpPr/>
          <p:nvPr/>
        </p:nvSpPr>
        <p:spPr>
          <a:xfrm>
            <a:off x="13258800" y="3860602"/>
            <a:ext cx="4274820" cy="1028700"/>
          </a:xfrm>
          <a:prstGeom prst="rect">
            <a:avLst/>
          </a:prstGeom>
          <a:noFill/>
          <a:ln/>
        </p:spPr>
        <p:txBody>
          <a:bodyPr wrap="square" lIns="25400" tIns="25400" rIns="25400" bIns="25400" rtlCol="0" anchor="t">
            <a:normAutofit/>
          </a:bodyPr>
          <a:lstStyle/>
          <a:p>
            <a:pPr algn="l" indent="0" marL="0">
              <a:lnSpc>
                <a:spcPct val="73759"/>
              </a:lnSpc>
              <a:buNone/>
            </a:pPr>
            <a:r>
              <a:rPr lang="en-US" sz="7800" b="1" spc="-234" kern="0" dirty="0">
                <a:solidFill>
                  <a:srgbClr val="632CA6"/>
                </a:solidFill>
                <a:latin typeface="NotoSans" pitchFamily="34" charset="0"/>
                <a:ea typeface="NotoSans" pitchFamily="34" charset="-122"/>
                <a:cs typeface="NotoSans" pitchFamily="34" charset="-120"/>
              </a:rPr>
              <a:t>medium</a:t>
            </a:r>
            <a:endParaRPr lang="en-US" sz="7800" dirty="0"/>
          </a:p>
        </p:txBody>
      </p:sp>
      <p:sp>
        <p:nvSpPr>
          <p:cNvPr id="7" name="Text 5"/>
          <p:cNvSpPr/>
          <p:nvPr/>
        </p:nvSpPr>
        <p:spPr>
          <a:xfrm>
            <a:off x="13258800" y="4965502"/>
            <a:ext cx="4274820" cy="609600"/>
          </a:xfrm>
          <a:prstGeom prst="rect">
            <a:avLst/>
          </a:prstGeom>
          <a:noFill/>
          <a:ln/>
        </p:spPr>
        <p:txBody>
          <a:bodyPr wrap="square" lIns="25400" tIns="25400" rIns="25400" bIns="25400" rtlCol="0" anchor="t">
            <a:normAutofit/>
          </a:bodyPr>
          <a:lstStyle/>
          <a:p>
            <a:pPr algn="l" indent="0" marL="0">
              <a:buNone/>
            </a:pPr>
            <a:r>
              <a:rPr lang="en-US" sz="3300" b="1" dirty="0">
                <a:solidFill>
                  <a:srgbClr val="1C2B34">
                    <a:alpha val="98000"/>
                  </a:srgbClr>
                </a:solidFill>
                <a:latin typeface="NotoSans" pitchFamily="34" charset="0"/>
                <a:ea typeface="NotoSans" pitchFamily="34" charset="-122"/>
                <a:cs typeface="NotoSans" pitchFamily="34" charset="-120"/>
              </a:rPr>
              <a:t>baseline severity</a:t>
            </a:r>
            <a:endParaRPr lang="en-US" sz="3300" dirty="0"/>
          </a:p>
        </p:txBody>
      </p:sp>
      <p:sp>
        <p:nvSpPr>
          <p:cNvPr id="8" name="Text 6"/>
          <p:cNvSpPr/>
          <p:nvPr/>
        </p:nvSpPr>
        <p:spPr>
          <a:xfrm>
            <a:off x="13258800" y="5727502"/>
            <a:ext cx="4002786" cy="1157883"/>
          </a:xfrm>
          <a:prstGeom prst="rect">
            <a:avLst/>
          </a:prstGeom>
          <a:noFill/>
          <a:ln/>
        </p:spPr>
        <p:txBody>
          <a:bodyPr wrap="square" lIns="25400" tIns="25400" rIns="25400" bIns="25400" rtlCol="0" anchor="t">
            <a:normAutofit/>
          </a:bodyPr>
          <a:lstStyle/>
          <a:p>
            <a:pPr algn="l" indent="0" marL="0">
              <a:lnSpc>
                <a:spcPct val="103158"/>
              </a:lnSpc>
              <a:buNone/>
            </a:pPr>
            <a:r>
              <a:rPr lang="en-US" sz="2100" dirty="0">
                <a:solidFill>
                  <a:srgbClr val="1C2B34">
                    <a:alpha val="68000"/>
                  </a:srgbClr>
                </a:solidFill>
                <a:latin typeface="NotoSans" pitchFamily="34" charset="0"/>
                <a:ea typeface="NotoSans" pitchFamily="34" charset="-122"/>
                <a:cs typeface="NotoSans" pitchFamily="34" charset="-120"/>
              </a:rPr>
              <a:t>set before the LLM runs; the LLM only raises, holds, or lowers it</a:t>
            </a:r>
            <a:endParaRPr lang="en-US" sz="2100" dirty="0"/>
          </a:p>
        </p:txBody>
      </p:sp>
      <p:sp>
        <p:nvSpPr>
          <p:cNvPr id="9" name="Shape 7"/>
          <p:cNvSpPr/>
          <p:nvPr/>
        </p:nvSpPr>
        <p:spPr>
          <a:xfrm>
            <a:off x="1143000" y="9229725"/>
            <a:ext cx="16002000" cy="19050"/>
          </a:xfrm>
          <a:prstGeom prst="rect">
            <a:avLst/>
          </a:prstGeom>
          <a:solidFill>
            <a:srgbClr val="E2E5ED"/>
          </a:solidFill>
          <a:ln/>
        </p:spPr>
      </p:sp>
      <p:sp>
        <p:nvSpPr>
          <p:cNvPr id="10" name="Text 8"/>
          <p:cNvSpPr/>
          <p:nvPr/>
        </p:nvSpPr>
        <p:spPr>
          <a:xfrm>
            <a:off x="1143000" y="94392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11" name="Text 9"/>
          <p:cNvSpPr/>
          <p:nvPr/>
        </p:nvSpPr>
        <p:spPr>
          <a:xfrm>
            <a:off x="16883360" y="94392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19</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061"/>
          </a:xfrm>
          <a:prstGeom prst="rect">
            <a:avLst/>
          </a:prstGeom>
          <a:noFill/>
          <a:ln/>
        </p:spPr>
        <p:txBody>
          <a:bodyPr wrap="square" lIns="25400" tIns="25400" rIns="25400" bIns="25400" rtlCol="0" anchor="t">
            <a:normAutofit/>
          </a:bodyPr>
          <a:lstStyle/>
          <a:p>
            <a:pPr algn="l" indent="0" marL="0">
              <a:lnSpc>
                <a:spcPct val="81951"/>
              </a:lnSpc>
              <a:buNone/>
            </a:pPr>
            <a:r>
              <a:rPr lang="en-US" sz="4500" b="1" spc="-45" kern="0" dirty="0">
                <a:solidFill>
                  <a:srgbClr val="1C2B34">
                    <a:alpha val="98000"/>
                  </a:srgbClr>
                </a:solidFill>
                <a:latin typeface="NotoSans" pitchFamily="34" charset="0"/>
                <a:ea typeface="NotoSans" pitchFamily="34" charset="-122"/>
                <a:cs typeface="NotoSans" pitchFamily="34" charset="-120"/>
              </a:rPr>
              <a:t>What the LLM Decides: One Enrichment Card</a:t>
            </a:r>
            <a:endParaRPr lang="en-US" sz="4500" dirty="0"/>
          </a:p>
        </p:txBody>
      </p:sp>
      <p:sp>
        <p:nvSpPr>
          <p:cNvPr id="3" name="Shape 1"/>
          <p:cNvSpPr/>
          <p:nvPr/>
        </p:nvSpPr>
        <p:spPr>
          <a:xfrm>
            <a:off x="1143000" y="2782193"/>
            <a:ext cx="11087100" cy="5143500"/>
          </a:xfrm>
          <a:prstGeom prst="roundRect">
            <a:avLst>
              <a:gd name="adj" fmla="val 1481"/>
            </a:avLst>
          </a:prstGeom>
          <a:solidFill>
            <a:srgbClr val="242931"/>
          </a:solidFill>
          <a:ln/>
        </p:spPr>
      </p:sp>
      <p:sp>
        <p:nvSpPr>
          <p:cNvPr id="4" name="Text 2"/>
          <p:cNvSpPr/>
          <p:nvPr/>
        </p:nvSpPr>
        <p:spPr>
          <a:xfrm>
            <a:off x="1447800" y="3125093"/>
            <a:ext cx="10810113" cy="4495800"/>
          </a:xfrm>
          <a:prstGeom prst="rect">
            <a:avLst/>
          </a:prstGeom>
          <a:noFill/>
          <a:ln/>
        </p:spPr>
        <p:txBody>
          <a:bodyPr wrap="square" lIns="25400" tIns="25400" rIns="25400" bIns="25400" rtlCol="0" anchor="t">
            <a:normAutofit/>
          </a:bodyPr>
          <a:lstStyle/>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"risk_synthesis"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"Heavy rain degrades traction, the cargo is a</a:t>
            </a:r>
            <a:endParaRPr lang="en-US" sz="1800" dirty="0"/>
          </a:p>
          <a:p>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     liquid chemical tanker, and the driver is 20</a:t>
            </a:r>
            <a:endParaRPr lang="en-US" sz="1800" dirty="0"/>
          </a:p>
          <a:p>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     minutes behind under schedule pressure. All</a:t>
            </a:r>
            <a:endParaRPr lang="en-US" sz="1800" dirty="0"/>
          </a:p>
          <a:p>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     three are risk multipliers." </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"escalation"</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"raise"</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8F969A"/>
                </a:solidFill>
                <a:latin typeface="Roboto Mono" pitchFamily="34" charset="0"/>
                <a:ea typeface="Roboto Mono" pitchFamily="34" charset="-122"/>
                <a:cs typeface="Roboto Mono" pitchFamily="34" charset="-120"/>
              </a:rPr>
              <a:t>// LLM decision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"truck_id"</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"truck-47"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"baseline_severity"</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"medium"</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8F969A"/>
                </a:solidFill>
                <a:latin typeface="Roboto Mono" pitchFamily="34" charset="0"/>
                <a:ea typeface="Roboto Mono" pitchFamily="34" charset="-122"/>
                <a:cs typeface="Roboto Mono" pitchFamily="34" charset="-120"/>
              </a:rPr>
              <a:t>// from co-processor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"severity"</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"high"</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8F969A"/>
                </a:solidFill>
                <a:latin typeface="Roboto Mono" pitchFamily="34" charset="0"/>
                <a:ea typeface="Roboto Mono" pitchFamily="34" charset="-122"/>
                <a:cs typeface="Roboto Mono" pitchFamily="34" charset="-120"/>
              </a:rPr>
              <a:t>// medium + raise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"recommended_action"</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41EBA4"/>
                </a:solidFill>
                <a:latin typeface="Roboto Mono" pitchFamily="34" charset="0"/>
                <a:ea typeface="Roboto Mono" pitchFamily="34" charset="-122"/>
                <a:cs typeface="Roboto Mono" pitchFamily="34" charset="-120"/>
              </a:rPr>
              <a:t>"Escalate for driver/dispatcher review."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a:p>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endParaRPr lang="en-US" sz="1800" dirty="0"/>
          </a:p>
          <a:p>
            <a:pPr algn="l" indent="0" marL="0">
              <a:lnSpc>
                <a:spcPct val="112500"/>
              </a:lnSpc>
              <a:buNone/>
            </a:pPr>
            <a:r>
              <a:rPr lang="en-US" sz="1800" spc="-18" kern="0" dirty="0">
                <a:solidFill>
                  <a:srgbClr val="5BCEFF"/>
                </a:solidFill>
                <a:latin typeface="Roboto Mono" pitchFamily="34" charset="0"/>
                <a:ea typeface="Roboto Mono" pitchFamily="34" charset="-122"/>
                <a:cs typeface="Roboto Mono" pitchFamily="34" charset="-120"/>
              </a:rPr>
              <a:t>"eta_impact"</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FFB84D"/>
                </a:solidFill>
                <a:latin typeface="Roboto Mono" pitchFamily="34" charset="0"/>
                <a:ea typeface="Roboto Mono" pitchFamily="34" charset="-122"/>
                <a:cs typeface="Roboto Mono" pitchFamily="34" charset="-120"/>
              </a:rPr>
              <a:t>7.2</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              </a:t>
            </a:r>
            <a:pPr algn="l" indent="0" marL="0">
              <a:lnSpc>
                <a:spcPct val="112500"/>
              </a:lnSpc>
              <a:buNone/>
            </a:pPr>
            <a:r>
              <a:rPr lang="en-US" sz="1800" spc="-18" kern="0" dirty="0">
                <a:solidFill>
                  <a:srgbClr val="8F969A"/>
                </a:solidFill>
                <a:latin typeface="Roboto Mono" pitchFamily="34" charset="0"/>
                <a:ea typeface="Roboto Mono" pitchFamily="34" charset="-122"/>
                <a:cs typeface="Roboto Mono" pitchFamily="34" charset="-120"/>
              </a:rPr>
              <a:t>// minutes </a:t>
            </a:r>
            <a:pPr algn="l" indent="0" marL="0">
              <a:lnSpc>
                <a:spcPct val="112500"/>
              </a:lnSpc>
              <a:buNone/>
            </a:pPr>
            <a:r>
              <a:rPr lang="en-US" sz="1800" spc="-18" kern="0" dirty="0">
                <a:solidFill>
                  <a:srgbClr val="FFFFFF"/>
                </a:solidFill>
                <a:highlight>
                  <a:srgbClr val="242931"/>
                </a:highlight>
                <a:latin typeface="Roboto Mono" pitchFamily="34" charset="0"/>
                <a:ea typeface="Roboto Mono" pitchFamily="34" charset="-122"/>
                <a:cs typeface="Roboto Mono" pitchFamily="34" charset="-120"/>
              </a:rPr>
              <a:t>}</a:t>
            </a:r>
            <a:endParaRPr lang="en-US" sz="1800" dirty="0"/>
          </a:p>
        </p:txBody>
      </p:sp>
      <p:sp>
        <p:nvSpPr>
          <p:cNvPr id="5" name="Shape 3"/>
          <p:cNvSpPr/>
          <p:nvPr/>
        </p:nvSpPr>
        <p:spPr>
          <a:xfrm>
            <a:off x="12763500" y="3560564"/>
            <a:ext cx="38100" cy="3586758"/>
          </a:xfrm>
          <a:prstGeom prst="rect">
            <a:avLst/>
          </a:prstGeom>
          <a:solidFill>
            <a:srgbClr val="632CA6"/>
          </a:solidFill>
          <a:ln/>
        </p:spPr>
      </p:sp>
      <p:sp>
        <p:nvSpPr>
          <p:cNvPr id="6" name="Text 4"/>
          <p:cNvSpPr/>
          <p:nvPr/>
        </p:nvSpPr>
        <p:spPr>
          <a:xfrm>
            <a:off x="13258800" y="3560564"/>
            <a:ext cx="3134082" cy="571500"/>
          </a:xfrm>
          <a:prstGeom prst="rect">
            <a:avLst/>
          </a:prstGeom>
          <a:noFill/>
          <a:ln/>
        </p:spPr>
        <p:txBody>
          <a:bodyPr wrap="square" lIns="25400" tIns="25400" rIns="25400" bIns="25400" rtlCol="0" anchor="t">
            <a:normAutofit/>
          </a:bodyPr>
          <a:lstStyle/>
          <a:p>
            <a:pPr algn="l" indent="0" marL="0">
              <a:lnSpc>
                <a:spcPct val="73684"/>
              </a:lnSpc>
              <a:buNone/>
            </a:pPr>
            <a:r>
              <a:rPr lang="en-US" sz="4200" b="1" spc="-36" kern="0" dirty="0">
                <a:solidFill>
                  <a:srgbClr val="1C2B34">
                    <a:alpha val="50000"/>
                  </a:srgbClr>
                </a:solidFill>
                <a:latin typeface="NotoSans" pitchFamily="34" charset="0"/>
                <a:ea typeface="NotoSans" pitchFamily="34" charset="-122"/>
                <a:cs typeface="NotoSans" pitchFamily="34" charset="-120"/>
              </a:rPr>
              <a:t>medium →</a:t>
            </a:r>
            <a:endParaRPr lang="en-US" sz="4200" dirty="0"/>
          </a:p>
        </p:txBody>
      </p:sp>
      <p:sp>
        <p:nvSpPr>
          <p:cNvPr id="7" name="Text 5"/>
          <p:cNvSpPr/>
          <p:nvPr/>
        </p:nvSpPr>
        <p:spPr>
          <a:xfrm>
            <a:off x="13258800" y="4208264"/>
            <a:ext cx="4274820" cy="1028700"/>
          </a:xfrm>
          <a:prstGeom prst="rect">
            <a:avLst/>
          </a:prstGeom>
          <a:noFill/>
          <a:ln/>
        </p:spPr>
        <p:txBody>
          <a:bodyPr wrap="square" lIns="25400" tIns="25400" rIns="25400" bIns="25400" rtlCol="0" anchor="t">
            <a:normAutofit/>
          </a:bodyPr>
          <a:lstStyle/>
          <a:p>
            <a:pPr algn="l" indent="0" marL="0">
              <a:lnSpc>
                <a:spcPct val="73759"/>
              </a:lnSpc>
              <a:buNone/>
            </a:pPr>
            <a:r>
              <a:rPr lang="en-US" sz="7800" b="1" spc="-234" kern="0" dirty="0">
                <a:solidFill>
                  <a:srgbClr val="632CA6"/>
                </a:solidFill>
                <a:latin typeface="NotoSans" pitchFamily="34" charset="0"/>
                <a:ea typeface="NotoSans" pitchFamily="34" charset="-122"/>
                <a:cs typeface="NotoSans" pitchFamily="34" charset="-120"/>
              </a:rPr>
              <a:t>high</a:t>
            </a:r>
            <a:endParaRPr lang="en-US" sz="7800" dirty="0"/>
          </a:p>
        </p:txBody>
      </p:sp>
      <p:sp>
        <p:nvSpPr>
          <p:cNvPr id="8" name="Text 6"/>
          <p:cNvSpPr/>
          <p:nvPr/>
        </p:nvSpPr>
        <p:spPr>
          <a:xfrm>
            <a:off x="13258800" y="5313164"/>
            <a:ext cx="4274820" cy="561975"/>
          </a:xfrm>
          <a:prstGeom prst="rect">
            <a:avLst/>
          </a:prstGeom>
          <a:noFill/>
          <a:ln/>
        </p:spPr>
        <p:txBody>
          <a:bodyPr wrap="square" lIns="25400" tIns="25400" rIns="25400" bIns="25400" rtlCol="0" anchor="t">
            <a:normAutofit/>
          </a:bodyPr>
          <a:lstStyle/>
          <a:p>
            <a:pPr algn="l" indent="0" marL="0">
              <a:buNone/>
            </a:pPr>
            <a:r>
              <a:rPr lang="en-US" sz="3000" b="1" dirty="0">
                <a:solidFill>
                  <a:srgbClr val="1C2B34">
                    <a:alpha val="98000"/>
                  </a:srgbClr>
                </a:solidFill>
                <a:latin typeface="NotoSans" pitchFamily="34" charset="0"/>
                <a:ea typeface="NotoSans" pitchFamily="34" charset="-122"/>
                <a:cs typeface="NotoSans" pitchFamily="34" charset="-120"/>
              </a:rPr>
              <a:t>the LLM raised it</a:t>
            </a:r>
            <a:endParaRPr lang="en-US" sz="3000" dirty="0"/>
          </a:p>
        </p:txBody>
      </p:sp>
      <p:sp>
        <p:nvSpPr>
          <p:cNvPr id="9" name="Text 7"/>
          <p:cNvSpPr/>
          <p:nvPr/>
        </p:nvSpPr>
        <p:spPr>
          <a:xfrm>
            <a:off x="13258800" y="6027539"/>
            <a:ext cx="4002786" cy="1157883"/>
          </a:xfrm>
          <a:prstGeom prst="rect">
            <a:avLst/>
          </a:prstGeom>
          <a:noFill/>
          <a:ln/>
        </p:spPr>
        <p:txBody>
          <a:bodyPr wrap="square" lIns="25400" tIns="25400" rIns="25400" bIns="25400" rtlCol="0" anchor="t">
            <a:normAutofit/>
          </a:bodyPr>
          <a:lstStyle/>
          <a:p>
            <a:pPr algn="l" indent="0" marL="0">
              <a:lnSpc>
                <a:spcPct val="103158"/>
              </a:lnSpc>
              <a:buNone/>
            </a:pPr>
            <a:r>
              <a:rPr lang="en-US" sz="2100" dirty="0">
                <a:solidFill>
                  <a:srgbClr val="1C2B34">
                    <a:alpha val="68000"/>
                  </a:srgbClr>
                </a:solidFill>
                <a:latin typeface="NotoSans" pitchFamily="34" charset="0"/>
                <a:ea typeface="NotoSans" pitchFamily="34" charset="-122"/>
                <a:cs typeface="NotoSans" pitchFamily="34" charset="-120"/>
              </a:rPr>
              <a:t>final severity high, so this card goes over cellular to the control center</a:t>
            </a:r>
            <a:endParaRPr lang="en-US" sz="2100" dirty="0"/>
          </a:p>
        </p:txBody>
      </p:sp>
      <p:sp>
        <p:nvSpPr>
          <p:cNvPr id="10" name="Shape 8"/>
          <p:cNvSpPr/>
          <p:nvPr/>
        </p:nvSpPr>
        <p:spPr>
          <a:xfrm>
            <a:off x="1143000" y="9229725"/>
            <a:ext cx="16002000" cy="19050"/>
          </a:xfrm>
          <a:prstGeom prst="rect">
            <a:avLst/>
          </a:prstGeom>
          <a:solidFill>
            <a:srgbClr val="E2E5ED"/>
          </a:solidFill>
          <a:ln/>
        </p:spPr>
      </p:sp>
      <p:sp>
        <p:nvSpPr>
          <p:cNvPr id="11" name="Text 9"/>
          <p:cNvSpPr/>
          <p:nvPr/>
        </p:nvSpPr>
        <p:spPr>
          <a:xfrm>
            <a:off x="1143000" y="94392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12" name="Text 10"/>
          <p:cNvSpPr/>
          <p:nvPr/>
        </p:nvSpPr>
        <p:spPr>
          <a:xfrm>
            <a:off x="16883360" y="94392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20</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533400"/>
            <a:ext cx="13643015" cy="635496"/>
          </a:xfrm>
          <a:prstGeom prst="rect">
            <a:avLst/>
          </a:prstGeom>
          <a:noFill/>
          <a:ln/>
        </p:spPr>
        <p:txBody>
          <a:bodyPr wrap="square" lIns="25400" tIns="25400" rIns="25400" bIns="25400" rtlCol="0" anchor="t">
            <a:normAutofit/>
          </a:bodyPr>
          <a:lstStyle/>
          <a:p>
            <a:pPr algn="l" indent="0" marL="0">
              <a:lnSpc>
                <a:spcPct val="82526"/>
              </a:lnSpc>
              <a:buNone/>
            </a:pPr>
            <a:r>
              <a:rPr lang="en-US" sz="4200" b="1" spc="-42" kern="0" dirty="0">
                <a:solidFill>
                  <a:srgbClr val="1C2B34">
                    <a:alpha val="98000"/>
                  </a:srgbClr>
                </a:solidFill>
                <a:latin typeface="NotoSans" pitchFamily="34" charset="0"/>
                <a:ea typeface="NotoSans" pitchFamily="34" charset="-122"/>
                <a:cs typeface="NotoSans" pitchFamily="34" charset="-120"/>
              </a:rPr>
              <a:t>The LLM Decides What Crosses the Cellular Link</a:t>
            </a:r>
            <a:endParaRPr lang="en-US" sz="4200" dirty="0"/>
          </a:p>
        </p:txBody>
      </p:sp>
      <p:sp>
        <p:nvSpPr>
          <p:cNvPr id="3" name="Shape 1"/>
          <p:cNvSpPr/>
          <p:nvPr/>
        </p:nvSpPr>
        <p:spPr>
          <a:xfrm>
            <a:off x="15672346" y="673596"/>
            <a:ext cx="1472654" cy="457200"/>
          </a:xfrm>
          <a:prstGeom prst="roundRect">
            <a:avLst>
              <a:gd name="adj" fmla="val 8333"/>
            </a:avLst>
          </a:prstGeom>
          <a:solidFill>
            <a:srgbClr val="FFFFFF"/>
          </a:solidFill>
          <a:ln w="19050">
            <a:solidFill>
              <a:srgbClr val="B4BCD4"/>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881896" y="797421"/>
            <a:ext cx="209550" cy="209550"/>
          </a:xfrm>
          <a:prstGeom prst="rect">
            <a:avLst/>
          </a:prstGeom>
        </p:spPr>
      </p:pic>
      <p:sp>
        <p:nvSpPr>
          <p:cNvPr id="5" name="Text 2"/>
          <p:cNvSpPr/>
          <p:nvPr/>
        </p:nvSpPr>
        <p:spPr>
          <a:xfrm>
            <a:off x="16186696" y="745034"/>
            <a:ext cx="824954" cy="352425"/>
          </a:xfrm>
          <a:prstGeom prst="rect">
            <a:avLst/>
          </a:prstGeom>
          <a:noFill/>
          <a:ln/>
        </p:spPr>
        <p:txBody>
          <a:bodyPr wrap="square" lIns="0" tIns="0" rIns="0" bIns="0" rtlCol="0" anchor="t">
            <a:normAutofit/>
          </a:bodyPr>
          <a:lstStyle/>
          <a:p>
            <a:pPr algn="ctr" indent="0" marL="0">
              <a:buNone/>
            </a:pPr>
            <a:r>
              <a:rPr lang="en-US" sz="1800" b="1" dirty="0">
                <a:solidFill>
                  <a:srgbClr val="1C2B34">
                    <a:alpha val="68000"/>
                  </a:srgbClr>
                </a:solidFill>
                <a:latin typeface="NotoSans" pitchFamily="34" charset="0"/>
                <a:ea typeface="NotoSans" pitchFamily="34" charset="-122"/>
                <a:cs typeface="NotoSans" pitchFamily="34" charset="-120"/>
              </a:rPr>
              <a:t>Replay</a:t>
            </a:r>
            <a:endParaRPr lang="en-US" sz="1800" dirty="0"/>
          </a:p>
        </p:txBody>
      </p:sp>
      <p:sp>
        <p:nvSpPr>
          <p:cNvPr id="6" name="Shape 3"/>
          <p:cNvSpPr/>
          <p:nvPr/>
        </p:nvSpPr>
        <p:spPr>
          <a:xfrm>
            <a:off x="1143000" y="1302246"/>
            <a:ext cx="16002000" cy="1062930"/>
          </a:xfrm>
          <a:prstGeom prst="roundRect">
            <a:avLst>
              <a:gd name="adj" fmla="val 7169"/>
            </a:avLst>
          </a:prstGeom>
          <a:solidFill>
            <a:srgbClr val="F2ECFC"/>
          </a:solidFill>
          <a:ln/>
        </p:spPr>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9700" y="1662261"/>
            <a:ext cx="342900" cy="342900"/>
          </a:xfrm>
          <a:prstGeom prst="rect">
            <a:avLst/>
          </a:prstGeom>
        </p:spPr>
      </p:pic>
      <p:sp>
        <p:nvSpPr>
          <p:cNvPr id="8" name="Text 4"/>
          <p:cNvSpPr/>
          <p:nvPr/>
        </p:nvSpPr>
        <p:spPr>
          <a:xfrm>
            <a:off x="1943100" y="1473696"/>
            <a:ext cx="15383256" cy="758130"/>
          </a:xfrm>
          <a:prstGeom prst="rect">
            <a:avLst/>
          </a:prstGeom>
          <a:noFill/>
          <a:ln/>
        </p:spPr>
        <p:txBody>
          <a:bodyPr wrap="square" lIns="25400" tIns="25400" rIns="25400" bIns="25400" rtlCol="0" anchor="t">
            <a:normAutofit/>
          </a:bodyPr>
          <a:lstStyle/>
          <a:p>
            <a:pPr algn="l" indent="0" marL="0">
              <a:lnSpc>
                <a:spcPct val="99474"/>
              </a:lnSpc>
              <a:buNone/>
            </a:pPr>
            <a:r>
              <a:rPr lang="en-US" sz="2100" b="1" dirty="0">
                <a:solidFill>
                  <a:srgbClr val="1C2B34">
                    <a:alpha val="98000"/>
                  </a:srgbClr>
                </a:solidFill>
                <a:latin typeface="NotoSans" pitchFamily="34" charset="0"/>
                <a:ea typeface="NotoSans" pitchFamily="34" charset="-122"/>
                <a:cs typeface="NotoSans" pitchFamily="34" charset="-120"/>
              </a:rPr>
              <a:t>Uplink rule: </a:t>
            </a:r>
            <a:pPr algn="l" indent="0" marL="0">
              <a:lnSpc>
                <a:spcPct val="99474"/>
              </a:lnSpc>
              <a:buNone/>
            </a:pPr>
            <a:r>
              <a:rPr lang="en-US" sz="2100" dirty="0">
                <a:solidFill>
                  <a:srgbClr val="1C2B34">
                    <a:alpha val="98000"/>
                  </a:srgbClr>
                </a:solidFill>
                <a:latin typeface="NotoSans" pitchFamily="34" charset="0"/>
                <a:ea typeface="NotoSans" pitchFamily="34" charset="-122"/>
                <a:cs typeface="NotoSans" pitchFamily="34" charset="-120"/>
              </a:rPr>
              <a:t>only cards with a final severity of </a:t>
            </a:r>
            <a:pPr algn="l" indent="0" marL="0">
              <a:lnSpc>
                <a:spcPct val="99474"/>
              </a:lnSpc>
              <a:buNone/>
            </a:pPr>
            <a:r>
              <a:rPr lang="en-US" sz="2100" b="1" dirty="0">
                <a:solidFill>
                  <a:srgbClr val="1C2B34">
                    <a:alpha val="98000"/>
                  </a:srgbClr>
                </a:solidFill>
                <a:latin typeface="NotoSans" pitchFamily="34" charset="0"/>
                <a:ea typeface="NotoSans" pitchFamily="34" charset="-122"/>
                <a:cs typeface="NotoSans" pitchFamily="34" charset="-120"/>
              </a:rPr>
              <a:t>high </a:t>
            </a:r>
            <a:pPr algn="l" indent="0" marL="0">
              <a:lnSpc>
                <a:spcPct val="99474"/>
              </a:lnSpc>
              <a:buNone/>
            </a:pPr>
            <a:r>
              <a:rPr lang="en-US" sz="2100" dirty="0">
                <a:solidFill>
                  <a:srgbClr val="1C2B34">
                    <a:alpha val="98000"/>
                  </a:srgbClr>
                </a:solidFill>
                <a:latin typeface="NotoSans" pitchFamily="34" charset="0"/>
                <a:ea typeface="NotoSans" pitchFamily="34" charset="-122"/>
                <a:cs typeface="NotoSans" pitchFamily="34" charset="-120"/>
              </a:rPr>
              <a:t>go over cellular to the control center. Everything else is logged on the truck.</a:t>
            </a:r>
            <a:endParaRPr lang="en-US" sz="2100" dirty="0"/>
          </a:p>
        </p:txBody>
      </p:sp>
      <p:sp>
        <p:nvSpPr>
          <p:cNvPr id="9" name="Shape 5"/>
          <p:cNvSpPr/>
          <p:nvPr/>
        </p:nvSpPr>
        <p:spPr>
          <a:xfrm>
            <a:off x="1143000" y="2936677"/>
            <a:ext cx="16002000" cy="19050"/>
          </a:xfrm>
          <a:prstGeom prst="rect">
            <a:avLst/>
          </a:prstGeom>
          <a:solidFill>
            <a:srgbClr val="D1D6E6"/>
          </a:solidFill>
          <a:ln/>
        </p:spPr>
      </p:sp>
      <p:sp>
        <p:nvSpPr>
          <p:cNvPr id="10" name="Text 6"/>
          <p:cNvSpPr/>
          <p:nvPr/>
        </p:nvSpPr>
        <p:spPr>
          <a:xfrm>
            <a:off x="1295400" y="2536627"/>
            <a:ext cx="1571625"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1C2B34">
                    <a:alpha val="68000"/>
                  </a:srgbClr>
                </a:solidFill>
                <a:latin typeface="NotoSans" pitchFamily="34" charset="0"/>
                <a:ea typeface="NotoSans" pitchFamily="34" charset="-122"/>
                <a:cs typeface="NotoSans" pitchFamily="34" charset="-120"/>
              </a:rPr>
              <a:t>truck · time</a:t>
            </a:r>
            <a:endParaRPr lang="en-US" sz="1650" dirty="0"/>
          </a:p>
        </p:txBody>
      </p:sp>
      <p:sp>
        <p:nvSpPr>
          <p:cNvPr id="11" name="Text 7"/>
          <p:cNvSpPr/>
          <p:nvPr/>
        </p:nvSpPr>
        <p:spPr>
          <a:xfrm>
            <a:off x="2838450" y="2546152"/>
            <a:ext cx="136207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baseline</a:t>
            </a:r>
            <a:endParaRPr lang="en-US" sz="1650" dirty="0"/>
          </a:p>
        </p:txBody>
      </p:sp>
      <p:sp>
        <p:nvSpPr>
          <p:cNvPr id="12" name="Text 8"/>
          <p:cNvSpPr/>
          <p:nvPr/>
        </p:nvSpPr>
        <p:spPr>
          <a:xfrm>
            <a:off x="4191000" y="2546152"/>
            <a:ext cx="2581558"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weather_condition</a:t>
            </a:r>
            <a:endParaRPr lang="en-US" sz="1650" dirty="0"/>
          </a:p>
        </p:txBody>
      </p:sp>
      <p:sp>
        <p:nvSpPr>
          <p:cNvPr id="13" name="Text 9"/>
          <p:cNvSpPr/>
          <p:nvPr/>
        </p:nvSpPr>
        <p:spPr>
          <a:xfrm>
            <a:off x="6652171" y="2546152"/>
            <a:ext cx="2699102"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cargo_type</a:t>
            </a:r>
            <a:endParaRPr lang="en-US" sz="1650" dirty="0"/>
          </a:p>
        </p:txBody>
      </p:sp>
      <p:sp>
        <p:nvSpPr>
          <p:cNvPr id="14" name="Text 10"/>
          <p:cNvSpPr/>
          <p:nvPr/>
        </p:nvSpPr>
        <p:spPr>
          <a:xfrm>
            <a:off x="9220200" y="2546152"/>
            <a:ext cx="293370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dispatch_status</a:t>
            </a:r>
            <a:endParaRPr lang="en-US" sz="16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01500" y="2574727"/>
            <a:ext cx="209550" cy="209550"/>
          </a:xfrm>
          <a:prstGeom prst="rect">
            <a:avLst/>
          </a:prstGeom>
        </p:spPr>
      </p:pic>
      <p:sp>
        <p:nvSpPr>
          <p:cNvPr id="16" name="Text 11"/>
          <p:cNvSpPr/>
          <p:nvPr/>
        </p:nvSpPr>
        <p:spPr>
          <a:xfrm>
            <a:off x="12287250" y="2536627"/>
            <a:ext cx="501402" cy="323850"/>
          </a:xfrm>
          <a:prstGeom prst="rect">
            <a:avLst/>
          </a:prstGeom>
          <a:noFill/>
          <a:ln/>
        </p:spPr>
        <p:txBody>
          <a:bodyPr wrap="square" lIns="0" tIns="0" rIns="0" bIns="0" rtlCol="0" anchor="t">
            <a:normAutofit/>
          </a:bodyPr>
          <a:lstStyle/>
          <a:p>
            <a:pPr algn="l" indent="0" marL="0">
              <a:buNone/>
            </a:pPr>
            <a:r>
              <a:rPr lang="en-US" sz="1650" b="1" dirty="0">
                <a:solidFill>
                  <a:srgbClr val="1C2B34">
                    <a:alpha val="98000"/>
                  </a:srgbClr>
                </a:solidFill>
                <a:latin typeface="NotoSans" pitchFamily="34" charset="0"/>
                <a:ea typeface="NotoSans" pitchFamily="34" charset="-122"/>
                <a:cs typeface="NotoSans" pitchFamily="34" charset="-120"/>
              </a:rPr>
              <a:t>LLM</a:t>
            </a:r>
            <a:endParaRPr lang="en-US" sz="1650" dirty="0"/>
          </a:p>
        </p:txBody>
      </p:sp>
      <p:sp>
        <p:nvSpPr>
          <p:cNvPr id="17" name="Text 12"/>
          <p:cNvSpPr/>
          <p:nvPr/>
        </p:nvSpPr>
        <p:spPr>
          <a:xfrm>
            <a:off x="13354050" y="2546152"/>
            <a:ext cx="121920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68000"/>
                  </a:srgbClr>
                </a:solidFill>
                <a:latin typeface="Roboto Mono" pitchFamily="34" charset="0"/>
                <a:ea typeface="Roboto Mono" pitchFamily="34" charset="-122"/>
                <a:cs typeface="Roboto Mono" pitchFamily="34" charset="-120"/>
              </a:rPr>
              <a:t>severity</a:t>
            </a:r>
            <a:endParaRPr lang="en-US" sz="1650" dirty="0"/>
          </a:p>
        </p:txBody>
      </p:sp>
      <p:sp>
        <p:nvSpPr>
          <p:cNvPr id="18" name="Text 13"/>
          <p:cNvSpPr/>
          <p:nvPr/>
        </p:nvSpPr>
        <p:spPr>
          <a:xfrm>
            <a:off x="14611350" y="2536627"/>
            <a:ext cx="2619375"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1C2B34">
                    <a:alpha val="98000"/>
                  </a:srgbClr>
                </a:solidFill>
                <a:latin typeface="NotoSans" pitchFamily="34" charset="0"/>
                <a:ea typeface="NotoSans" pitchFamily="34" charset="-122"/>
                <a:cs typeface="NotoSans" pitchFamily="34" charset="-120"/>
              </a:rPr>
              <a:t>Uplink</a:t>
            </a:r>
            <a:endParaRPr lang="en-US" sz="1650" dirty="0"/>
          </a:p>
        </p:txBody>
      </p:sp>
      <p:sp>
        <p:nvSpPr>
          <p:cNvPr id="19" name="Shape 14"/>
          <p:cNvSpPr/>
          <p:nvPr/>
        </p:nvSpPr>
        <p:spPr>
          <a:xfrm>
            <a:off x="992311" y="2955727"/>
            <a:ext cx="16002000" cy="830461"/>
          </a:xfrm>
          <a:prstGeom prst="rect">
            <a:avLst/>
          </a:prstGeom>
          <a:solidFill>
            <a:srgbClr val="F2ECFC">
              <a:alpha val="44000"/>
            </a:srgbClr>
          </a:solidFill>
          <a:ln/>
        </p:spPr>
      </p:sp>
      <p:sp>
        <p:nvSpPr>
          <p:cNvPr id="20" name="Shape 15"/>
          <p:cNvSpPr/>
          <p:nvPr/>
        </p:nvSpPr>
        <p:spPr>
          <a:xfrm>
            <a:off x="992311" y="3767138"/>
            <a:ext cx="16002000" cy="19050"/>
          </a:xfrm>
          <a:prstGeom prst="rect">
            <a:avLst/>
          </a:prstGeom>
          <a:solidFill>
            <a:srgbClr val="E2E5ED">
              <a:alpha val="60000"/>
            </a:srgbClr>
          </a:solidFill>
          <a:ln/>
        </p:spPr>
      </p:sp>
      <p:sp>
        <p:nvSpPr>
          <p:cNvPr id="21" name="Text 16"/>
          <p:cNvSpPr/>
          <p:nvPr/>
        </p:nvSpPr>
        <p:spPr>
          <a:xfrm>
            <a:off x="1144711" y="3070920"/>
            <a:ext cx="1571625"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1C2B34">
                    <a:alpha val="59000"/>
                  </a:srgbClr>
                </a:solidFill>
                <a:latin typeface="Roboto Mono" pitchFamily="34" charset="0"/>
                <a:ea typeface="Roboto Mono" pitchFamily="34" charset="-122"/>
                <a:cs typeface="Roboto Mono" pitchFamily="34" charset="-120"/>
              </a:rPr>
              <a:t>truck-47</a:t>
            </a:r>
            <a:endParaRPr lang="en-US" sz="1650" dirty="0"/>
          </a:p>
        </p:txBody>
      </p:sp>
      <p:sp>
        <p:nvSpPr>
          <p:cNvPr id="22" name="Text 17"/>
          <p:cNvSpPr/>
          <p:nvPr/>
        </p:nvSpPr>
        <p:spPr>
          <a:xfrm>
            <a:off x="1144711" y="3366195"/>
            <a:ext cx="1571625" cy="323850"/>
          </a:xfrm>
          <a:prstGeom prst="rect">
            <a:avLst/>
          </a:prstGeom>
          <a:noFill/>
          <a:ln/>
        </p:spPr>
        <p:txBody>
          <a:bodyPr wrap="square" lIns="25400" tIns="25400" rIns="25400" bIns="25400" rtlCol="0" anchor="t">
            <a:normAutofit/>
          </a:bodyPr>
          <a:lstStyle/>
          <a:p>
            <a:pPr algn="l" indent="0" marL="0">
              <a:buNone/>
            </a:pPr>
            <a:r>
              <a:rPr lang="en-US" sz="1650" dirty="0">
                <a:solidFill>
                  <a:srgbClr val="1C2B34">
                    <a:alpha val="41000"/>
                  </a:srgbClr>
                </a:solidFill>
                <a:latin typeface="NotoSans" pitchFamily="34" charset="0"/>
                <a:ea typeface="NotoSans" pitchFamily="34" charset="-122"/>
                <a:cs typeface="NotoSans" pitchFamily="34" charset="-120"/>
              </a:rPr>
              <a:t>30s</a:t>
            </a:r>
            <a:endParaRPr lang="en-US" sz="1650" dirty="0"/>
          </a:p>
        </p:txBody>
      </p:sp>
      <p:sp>
        <p:nvSpPr>
          <p:cNvPr id="23" name="Shape 18"/>
          <p:cNvSpPr/>
          <p:nvPr/>
        </p:nvSpPr>
        <p:spPr>
          <a:xfrm>
            <a:off x="2687761" y="3180457"/>
            <a:ext cx="983159" cy="361950"/>
          </a:xfrm>
          <a:prstGeom prst="roundRect">
            <a:avLst>
              <a:gd name="adj" fmla="val 10526"/>
            </a:avLst>
          </a:prstGeom>
          <a:solidFill>
            <a:srgbClr val="FFE2B3">
              <a:alpha val="60000"/>
            </a:srgbClr>
          </a:solidFill>
          <a:ln/>
        </p:spPr>
      </p:sp>
      <p:sp>
        <p:nvSpPr>
          <p:cNvPr id="24" name="Text 19"/>
          <p:cNvSpPr/>
          <p:nvPr/>
        </p:nvSpPr>
        <p:spPr>
          <a:xfrm>
            <a:off x="2802061" y="3223320"/>
            <a:ext cx="830759"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8A4300">
                    <a:alpha val="60000"/>
                  </a:srgbClr>
                </a:solidFill>
                <a:latin typeface="Roboto Mono" pitchFamily="34" charset="0"/>
                <a:ea typeface="Roboto Mono" pitchFamily="34" charset="-122"/>
                <a:cs typeface="Roboto Mono" pitchFamily="34" charset="-120"/>
              </a:rPr>
              <a:t>medium</a:t>
            </a:r>
            <a:endParaRPr lang="en-US" sz="1650" dirty="0"/>
          </a:p>
        </p:txBody>
      </p:sp>
      <p:sp>
        <p:nvSpPr>
          <p:cNvPr id="25" name="Text 20"/>
          <p:cNvSpPr/>
          <p:nvPr/>
        </p:nvSpPr>
        <p:spPr>
          <a:xfrm>
            <a:off x="4135561" y="3089077"/>
            <a:ext cx="2232571" cy="582811"/>
          </a:xfrm>
          <a:prstGeom prst="rect">
            <a:avLst/>
          </a:prstGeom>
          <a:noFill/>
          <a:ln/>
        </p:spPr>
        <p:txBody>
          <a:bodyPr wrap="square" lIns="25400" tIns="25400" rIns="25400" bIns="25400" rtlCol="0" anchor="t">
            <a:normAutofit/>
          </a:bodyPr>
          <a:lstStyle/>
          <a:p>
            <a:pPr algn="l" indent="0" marL="0">
              <a:lnSpc>
                <a:spcPct val="95333"/>
              </a:lnSpc>
              <a:buNone/>
            </a:pPr>
            <a:r>
              <a:rPr lang="en-US" sz="1650" dirty="0">
                <a:solidFill>
                  <a:srgbClr val="1C2B34">
                    <a:alpha val="59000"/>
                  </a:srgbClr>
                </a:solidFill>
                <a:latin typeface="NotoSans" pitchFamily="34" charset="0"/>
                <a:ea typeface="NotoSans" pitchFamily="34" charset="-122"/>
                <a:cs typeface="NotoSans" pitchFamily="34" charset="-120"/>
              </a:rPr>
              <a:t>Heavy rain, wet asphalt</a:t>
            </a:r>
            <a:endParaRPr lang="en-US" sz="1650" dirty="0"/>
          </a:p>
        </p:txBody>
      </p:sp>
      <p:sp>
        <p:nvSpPr>
          <p:cNvPr id="26" name="Shape 21"/>
          <p:cNvSpPr/>
          <p:nvPr/>
        </p:nvSpPr>
        <p:spPr>
          <a:xfrm>
            <a:off x="6501482" y="3031927"/>
            <a:ext cx="2453729" cy="659011"/>
          </a:xfrm>
          <a:prstGeom prst="roundRect">
            <a:avLst>
              <a:gd name="adj" fmla="val 5781"/>
            </a:avLst>
          </a:prstGeom>
          <a:solidFill>
            <a:srgbClr val="FFF3D6">
              <a:alpha val="37000"/>
            </a:srgbClr>
          </a:solidFill>
          <a:ln/>
          <a:effectLst>
            <a:outerShdw sx="100000" sy="100000" kx="0" ky="0" algn="bl" rotWithShape="0" blurRad="101600" dist="50800" dir="16200000">
              <a:srgbClr val="FFB84D">
                <a:alpha val="36511"/>
              </a:srgbClr>
            </a:outerShdw>
          </a:effectLst>
        </p:spPr>
      </p:sp>
      <p:sp>
        <p:nvSpPr>
          <p:cNvPr id="27" name="Text 22"/>
          <p:cNvSpPr/>
          <p:nvPr/>
        </p:nvSpPr>
        <p:spPr>
          <a:xfrm>
            <a:off x="6596732" y="3089077"/>
            <a:ext cx="2339429" cy="582811"/>
          </a:xfrm>
          <a:prstGeom prst="rect">
            <a:avLst/>
          </a:prstGeom>
          <a:noFill/>
          <a:ln/>
        </p:spPr>
        <p:txBody>
          <a:bodyPr wrap="square" lIns="25400" tIns="25400" rIns="25400" bIns="25400" rtlCol="0" anchor="t">
            <a:normAutofit/>
          </a:bodyPr>
          <a:lstStyle/>
          <a:p>
            <a:pPr algn="l" indent="0" marL="0">
              <a:lnSpc>
                <a:spcPct val="95333"/>
              </a:lnSpc>
              <a:buNone/>
            </a:pPr>
            <a:r>
              <a:rPr lang="en-US" sz="1650" b="1" dirty="0">
                <a:solidFill>
                  <a:srgbClr val="8A4300">
                    <a:alpha val="60000"/>
                  </a:srgbClr>
                </a:solidFill>
                <a:latin typeface="NotoSans" pitchFamily="34" charset="0"/>
                <a:ea typeface="NotoSans" pitchFamily="34" charset="-122"/>
                <a:cs typeface="NotoSans" pitchFamily="34" charset="-120"/>
              </a:rPr>
              <a:t>Liquids / Chemical Tanker</a:t>
            </a:r>
            <a:endParaRPr lang="en-US" sz="1650" dirty="0"/>
          </a:p>
        </p:txBody>
      </p:sp>
      <p:sp>
        <p:nvSpPr>
          <p:cNvPr id="28" name="Text 23"/>
          <p:cNvSpPr/>
          <p:nvPr/>
        </p:nvSpPr>
        <p:spPr>
          <a:xfrm>
            <a:off x="9164761" y="3225254"/>
            <a:ext cx="2427283" cy="310455"/>
          </a:xfrm>
          <a:prstGeom prst="rect">
            <a:avLst/>
          </a:prstGeom>
          <a:noFill/>
          <a:ln/>
        </p:spPr>
        <p:txBody>
          <a:bodyPr wrap="square" lIns="25400" tIns="25400" rIns="25400" bIns="25400" rtlCol="0" anchor="t">
            <a:normAutofit/>
          </a:bodyPr>
          <a:lstStyle/>
          <a:p>
            <a:pPr algn="l" indent="0" marL="0">
              <a:lnSpc>
                <a:spcPct val="95333"/>
              </a:lnSpc>
              <a:buNone/>
            </a:pPr>
            <a:r>
              <a:rPr lang="en-US" sz="1650" dirty="0">
                <a:solidFill>
                  <a:srgbClr val="1C2B34">
                    <a:alpha val="59000"/>
                  </a:srgbClr>
                </a:solidFill>
                <a:latin typeface="NotoSans" pitchFamily="34" charset="0"/>
                <a:ea typeface="NotoSans" pitchFamily="34" charset="-122"/>
                <a:cs typeface="NotoSans" pitchFamily="34" charset="-120"/>
              </a:rPr>
              <a:t>20 min behind schedule</a:t>
            </a:r>
            <a:endParaRPr lang="en-US" sz="1650" dirty="0"/>
          </a:p>
        </p:txBody>
      </p:sp>
      <p:sp>
        <p:nvSpPr>
          <p:cNvPr id="29" name="Shape 24"/>
          <p:cNvSpPr/>
          <p:nvPr/>
        </p:nvSpPr>
        <p:spPr>
          <a:xfrm>
            <a:off x="11850810" y="3180457"/>
            <a:ext cx="857399" cy="361950"/>
          </a:xfrm>
          <a:prstGeom prst="roundRect">
            <a:avLst>
              <a:gd name="adj" fmla="val 10526"/>
            </a:avLst>
          </a:prstGeom>
          <a:solidFill>
            <a:srgbClr val="FDEBED">
              <a:alpha val="60000"/>
            </a:srgbClr>
          </a:solidFill>
          <a:ln/>
        </p:spPr>
      </p:sp>
      <p:sp>
        <p:nvSpPr>
          <p:cNvPr id="30" name="Text 25"/>
          <p:cNvSpPr/>
          <p:nvPr/>
        </p:nvSpPr>
        <p:spPr>
          <a:xfrm>
            <a:off x="11965110" y="3223320"/>
            <a:ext cx="704999"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BC2B3C">
                    <a:alpha val="60000"/>
                  </a:srgbClr>
                </a:solidFill>
                <a:latin typeface="Roboto Mono" pitchFamily="34" charset="0"/>
                <a:ea typeface="Roboto Mono" pitchFamily="34" charset="-122"/>
                <a:cs typeface="Roboto Mono" pitchFamily="34" charset="-120"/>
              </a:rPr>
              <a:t>raise</a:t>
            </a:r>
            <a:endParaRPr lang="en-US" sz="1650" dirty="0"/>
          </a:p>
        </p:txBody>
      </p:sp>
      <p:sp>
        <p:nvSpPr>
          <p:cNvPr id="31" name="Shape 26"/>
          <p:cNvSpPr/>
          <p:nvPr/>
        </p:nvSpPr>
        <p:spPr>
          <a:xfrm>
            <a:off x="13203360" y="3180457"/>
            <a:ext cx="731639" cy="361950"/>
          </a:xfrm>
          <a:prstGeom prst="roundRect">
            <a:avLst>
              <a:gd name="adj" fmla="val 10526"/>
            </a:avLst>
          </a:prstGeom>
          <a:solidFill>
            <a:srgbClr val="EB364B">
              <a:alpha val="60000"/>
            </a:srgbClr>
          </a:solidFill>
          <a:ln/>
        </p:spPr>
      </p:sp>
      <p:sp>
        <p:nvSpPr>
          <p:cNvPr id="32" name="Text 27"/>
          <p:cNvSpPr/>
          <p:nvPr/>
        </p:nvSpPr>
        <p:spPr>
          <a:xfrm>
            <a:off x="13317660" y="3223320"/>
            <a:ext cx="579239"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alpha val="60000"/>
                  </a:srgbClr>
                </a:solidFill>
                <a:latin typeface="Roboto Mono" pitchFamily="34" charset="0"/>
                <a:ea typeface="Roboto Mono" pitchFamily="34" charset="-122"/>
                <a:cs typeface="Roboto Mono" pitchFamily="34" charset="-120"/>
              </a:rPr>
              <a:t>high</a:t>
            </a:r>
            <a:endParaRPr lang="en-US" sz="1650" dirty="0"/>
          </a:p>
        </p:txBody>
      </p:sp>
      <p:sp>
        <p:nvSpPr>
          <p:cNvPr id="33" name="Shape 28"/>
          <p:cNvSpPr/>
          <p:nvPr/>
        </p:nvSpPr>
        <p:spPr>
          <a:xfrm>
            <a:off x="14460660" y="3151882"/>
            <a:ext cx="2355800" cy="419100"/>
          </a:xfrm>
          <a:prstGeom prst="roundRect">
            <a:avLst>
              <a:gd name="adj" fmla="val 9091"/>
            </a:avLst>
          </a:prstGeom>
          <a:solidFill>
            <a:srgbClr val="242931">
              <a:alpha val="60000"/>
            </a:srgbClr>
          </a:solidFill>
          <a:ln w="19050">
            <a:solidFill>
              <a:srgbClr val="242931">
                <a:alpha val="60000"/>
              </a:srgbClr>
            </a:solidFill>
            <a:prstDash val="solid"/>
          </a:ln>
        </p:spPr>
      </p:sp>
      <p:sp>
        <p:nvSpPr>
          <p:cNvPr id="34" name="Text 29"/>
          <p:cNvSpPr/>
          <p:nvPr/>
        </p:nvSpPr>
        <p:spPr>
          <a:xfrm>
            <a:off x="14613060" y="3218557"/>
            <a:ext cx="227707" cy="323850"/>
          </a:xfrm>
          <a:prstGeom prst="rect">
            <a:avLst/>
          </a:prstGeom>
          <a:noFill/>
          <a:ln/>
        </p:spPr>
        <p:txBody>
          <a:bodyPr wrap="none" lIns="25400" tIns="25400" rIns="25400" bIns="25400" rtlCol="0" anchor="t">
            <a:normAutofit/>
          </a:bodyPr>
          <a:lstStyle/>
          <a:p>
            <a:pPr algn="l" indent="0" marL="0">
              <a:buNone/>
            </a:pPr>
            <a:r>
              <a:rPr lang="en-US" sz="1650" b="1" dirty="0">
                <a:solidFill>
                  <a:srgbClr val="FFFFFF">
                    <a:alpha val="60000"/>
                  </a:srgbClr>
                </a:solidFill>
                <a:latin typeface="NotoSans" pitchFamily="34" charset="0"/>
                <a:ea typeface="NotoSans" pitchFamily="34" charset="-122"/>
                <a:cs typeface="NotoSans" pitchFamily="34" charset="-120"/>
              </a:rPr>
              <a:t>↑</a:t>
            </a:r>
            <a:endParaRPr lang="en-US" sz="1650" dirty="0"/>
          </a:p>
        </p:txBody>
      </p:sp>
      <p:sp>
        <p:nvSpPr>
          <p:cNvPr id="35" name="Text 30"/>
          <p:cNvSpPr/>
          <p:nvPr/>
        </p:nvSpPr>
        <p:spPr>
          <a:xfrm>
            <a:off x="14840767" y="3218557"/>
            <a:ext cx="2005623" cy="323850"/>
          </a:xfrm>
          <a:prstGeom prst="rect">
            <a:avLst/>
          </a:prstGeom>
          <a:noFill/>
          <a:ln/>
        </p:spPr>
        <p:txBody>
          <a:bodyPr wrap="none" lIns="25400" tIns="25400" rIns="25400" bIns="25400" rtlCol="0" anchor="t">
            <a:normAutofit/>
          </a:bodyPr>
          <a:lstStyle/>
          <a:p>
            <a:pPr algn="l" indent="0" marL="0">
              <a:buNone/>
            </a:pPr>
            <a:r>
              <a:rPr lang="en-US" sz="1650" b="1" dirty="0">
                <a:solidFill>
                  <a:srgbClr val="FFFFFF">
                    <a:alpha val="60000"/>
                  </a:srgbClr>
                </a:solidFill>
                <a:latin typeface="NotoSans" pitchFamily="34" charset="0"/>
                <a:ea typeface="NotoSans" pitchFamily="34" charset="-122"/>
                <a:cs typeface="NotoSans" pitchFamily="34" charset="-120"/>
              </a:rPr>
              <a:t>Sent over cellular</a:t>
            </a:r>
            <a:endParaRPr lang="en-US" sz="1650" dirty="0"/>
          </a:p>
        </p:txBody>
      </p:sp>
      <p:sp>
        <p:nvSpPr>
          <p:cNvPr id="36" name="Shape 31"/>
          <p:cNvSpPr/>
          <p:nvPr/>
        </p:nvSpPr>
        <p:spPr>
          <a:xfrm>
            <a:off x="1143000" y="9382125"/>
            <a:ext cx="16002000" cy="19050"/>
          </a:xfrm>
          <a:prstGeom prst="rect">
            <a:avLst/>
          </a:prstGeom>
          <a:solidFill>
            <a:srgbClr val="E2E5ED"/>
          </a:solidFill>
          <a:ln/>
        </p:spPr>
      </p:sp>
      <p:sp>
        <p:nvSpPr>
          <p:cNvPr id="37" name="Text 32"/>
          <p:cNvSpPr/>
          <p:nvPr/>
        </p:nvSpPr>
        <p:spPr>
          <a:xfrm>
            <a:off x="1143000" y="95535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38" name="Text 33"/>
          <p:cNvSpPr/>
          <p:nvPr/>
        </p:nvSpPr>
        <p:spPr>
          <a:xfrm>
            <a:off x="16883360" y="95535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21</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061"/>
          </a:xfrm>
          <a:prstGeom prst="rect">
            <a:avLst/>
          </a:prstGeom>
          <a:noFill/>
          <a:ln/>
        </p:spPr>
        <p:txBody>
          <a:bodyPr wrap="square" lIns="25400" tIns="25400" rIns="25400" bIns="25400" rtlCol="0" anchor="t">
            <a:normAutofit/>
          </a:bodyPr>
          <a:lstStyle/>
          <a:p>
            <a:pPr algn="l" indent="0" marL="0">
              <a:lnSpc>
                <a:spcPct val="81951"/>
              </a:lnSpc>
              <a:buNone/>
            </a:pPr>
            <a:r>
              <a:rPr lang="en-US" sz="4500" b="1" spc="-45" kern="0" dirty="0">
                <a:solidFill>
                  <a:srgbClr val="1C2B34">
                    <a:alpha val="98000"/>
                  </a:srgbClr>
                </a:solidFill>
                <a:latin typeface="NotoSans" pitchFamily="34" charset="0"/>
                <a:ea typeface="NotoSans" pitchFamily="34" charset="-122"/>
                <a:cs typeface="NotoSans" pitchFamily="34" charset="-120"/>
              </a:rPr>
              <a:t>See It Running, End-to-End</a:t>
            </a:r>
            <a:endParaRPr lang="en-US" sz="4500" dirty="0"/>
          </a:p>
        </p:txBody>
      </p:sp>
      <p:sp>
        <p:nvSpPr>
          <p:cNvPr id="3" name="Shape 1"/>
          <p:cNvSpPr/>
          <p:nvPr/>
        </p:nvSpPr>
        <p:spPr>
          <a:xfrm>
            <a:off x="1143000" y="1859161"/>
            <a:ext cx="8929985" cy="6989564"/>
          </a:xfrm>
          <a:prstGeom prst="roundRect">
            <a:avLst>
              <a:gd name="adj" fmla="val 1090"/>
            </a:avLst>
          </a:prstGeom>
          <a:solidFill>
            <a:srgbClr val="F9FAFB"/>
          </a:solidFill>
          <a:ln w="19050">
            <a:solidFill>
              <a:srgbClr val="B4BCD4"/>
            </a:solidFill>
            <a:prstDash val="dash"/>
          </a:ln>
        </p:spPr>
      </p:sp>
      <p:sp>
        <p:nvSpPr>
          <p:cNvPr id="4" name="Text 2"/>
          <p:cNvSpPr/>
          <p:nvPr/>
        </p:nvSpPr>
        <p:spPr>
          <a:xfrm>
            <a:off x="4288646" y="4534495"/>
            <a:ext cx="2638693" cy="447675"/>
          </a:xfrm>
          <a:prstGeom prst="rect">
            <a:avLst/>
          </a:prstGeom>
          <a:noFill/>
          <a:ln/>
        </p:spPr>
        <p:txBody>
          <a:bodyPr wrap="square" lIns="25400" tIns="25400" rIns="25400" bIns="25400" rtlCol="0" anchor="t">
            <a:normAutofit/>
          </a:bodyPr>
          <a:lstStyle/>
          <a:p>
            <a:pPr algn="ctr" indent="0" marL="0">
              <a:buNone/>
            </a:pPr>
            <a:r>
              <a:rPr lang="en-US" sz="2400" b="1" dirty="0">
                <a:solidFill>
                  <a:srgbClr val="1C2B34">
                    <a:alpha val="68000"/>
                  </a:srgbClr>
                </a:solidFill>
                <a:latin typeface="NotoSans" pitchFamily="34" charset="0"/>
                <a:ea typeface="NotoSans" pitchFamily="34" charset="-122"/>
                <a:cs typeface="NotoSans" pitchFamily="34" charset="-120"/>
              </a:rPr>
              <a:t>Demo recording</a:t>
            </a:r>
            <a:endParaRPr lang="en-US" sz="2400" dirty="0"/>
          </a:p>
        </p:txBody>
      </p:sp>
      <p:sp>
        <p:nvSpPr>
          <p:cNvPr id="5" name="Text 3"/>
          <p:cNvSpPr/>
          <p:nvPr/>
        </p:nvSpPr>
        <p:spPr>
          <a:xfrm>
            <a:off x="2468553" y="5096470"/>
            <a:ext cx="6278880" cy="1115020"/>
          </a:xfrm>
          <a:prstGeom prst="rect">
            <a:avLst/>
          </a:prstGeom>
          <a:noFill/>
          <a:ln/>
        </p:spPr>
        <p:txBody>
          <a:bodyPr wrap="square" lIns="25400" tIns="25400" rIns="25400" bIns="25400" rtlCol="0" anchor="t">
            <a:normAutofit/>
          </a:bodyPr>
          <a:lstStyle/>
          <a:p>
            <a:pPr algn="ctr" indent="0" marL="0">
              <a:lnSpc>
                <a:spcPct val="104722"/>
              </a:lnSpc>
              <a:buNone/>
            </a:pPr>
            <a:r>
              <a:rPr lang="en-US" sz="1950" dirty="0">
                <a:solidFill>
                  <a:srgbClr val="1C2B34">
                    <a:alpha val="50000"/>
                  </a:srgbClr>
                </a:solidFill>
                <a:latin typeface="NotoSans" pitchFamily="34" charset="0"/>
                <a:ea typeface="NotoSans" pitchFamily="34" charset="-122"/>
                <a:cs typeface="NotoSans" pitchFamily="34" charset="-120"/>
              </a:rPr>
              <a:t>Pi console running the function · </a:t>
            </a:r>
            <a:pPr algn="ctr" indent="0" marL="0">
              <a:lnSpc>
                <a:spcPct val="104722"/>
              </a:lnSpc>
              <a:buNone/>
            </a:pPr>
            <a:r>
              <a:rPr lang="en-US" sz="1950" dirty="0">
                <a:solidFill>
                  <a:srgbClr val="1C2B34">
                    <a:alpha val="50000"/>
                  </a:srgbClr>
                </a:solidFill>
                <a:latin typeface="Roboto Mono" pitchFamily="34" charset="0"/>
                <a:ea typeface="Roboto Mono" pitchFamily="34" charset="-122"/>
                <a:cs typeface="Roboto Mono" pitchFamily="34" charset="-120"/>
              </a:rPr>
              <a:t>fleet-simulator </a:t>
            </a:r>
            <a:pPr algn="ctr" indent="0" marL="0">
              <a:lnSpc>
                <a:spcPct val="104722"/>
              </a:lnSpc>
              <a:buNone/>
            </a:pPr>
            <a:r>
              <a:rPr lang="en-US" sz="1950" dirty="0">
                <a:solidFill>
                  <a:srgbClr val="1C2B34">
                    <a:alpha val="50000"/>
                  </a:srgbClr>
                </a:solidFill>
                <a:latin typeface="NotoSans" pitchFamily="34" charset="0"/>
                <a:ea typeface="NotoSans" pitchFamily="34" charset="-122"/>
                <a:cs typeface="NotoSans" pitchFamily="34" charset="-120"/>
              </a:rPr>
              <a:t>publishing from the laptop · </a:t>
            </a:r>
            <a:pPr algn="ctr" indent="0" marL="0">
              <a:lnSpc>
                <a:spcPct val="104722"/>
              </a:lnSpc>
              <a:buNone/>
            </a:pPr>
            <a:r>
              <a:rPr lang="en-US" sz="1950" dirty="0">
                <a:solidFill>
                  <a:srgbClr val="1C2B34">
                    <a:alpha val="50000"/>
                  </a:srgbClr>
                </a:solidFill>
                <a:latin typeface="Roboto Mono" pitchFamily="34" charset="0"/>
                <a:ea typeface="Roboto Mono" pitchFamily="34" charset="-122"/>
                <a:cs typeface="Roboto Mono" pitchFamily="34" charset="-120"/>
              </a:rPr>
              <a:t>enrichment-cards </a:t>
            </a:r>
            <a:pPr algn="ctr" indent="0" marL="0">
              <a:lnSpc>
                <a:spcPct val="104722"/>
              </a:lnSpc>
              <a:buNone/>
            </a:pPr>
            <a:r>
              <a:rPr lang="en-US" sz="1950" dirty="0">
                <a:solidFill>
                  <a:srgbClr val="1C2B34">
                    <a:alpha val="50000"/>
                  </a:srgbClr>
                </a:solidFill>
                <a:latin typeface="NotoSans" pitchFamily="34" charset="0"/>
                <a:ea typeface="NotoSans" pitchFamily="34" charset="-122"/>
                <a:cs typeface="NotoSans" pitchFamily="34" charset="-120"/>
              </a:rPr>
              <a:t>on the Pi console</a:t>
            </a:r>
            <a:endParaRPr lang="en-US" sz="1950" dirty="0"/>
          </a:p>
        </p:txBody>
      </p:sp>
      <p:sp>
        <p:nvSpPr>
          <p:cNvPr id="6" name="Text 4"/>
          <p:cNvSpPr/>
          <p:nvPr/>
        </p:nvSpPr>
        <p:spPr>
          <a:xfrm>
            <a:off x="10530185" y="3696742"/>
            <a:ext cx="7276296" cy="38100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1C2B34">
                    <a:alpha val="68000"/>
                  </a:srgbClr>
                </a:solidFill>
                <a:latin typeface="NotoSans" pitchFamily="34" charset="0"/>
                <a:ea typeface="NotoSans" pitchFamily="34" charset="-122"/>
                <a:cs typeface="NotoSans" pitchFamily="34" charset="-120"/>
              </a:rPr>
              <a:t>ENTRY POINT · BROKER ON THE PI</a:t>
            </a:r>
            <a:endParaRPr lang="en-US" sz="1950" dirty="0"/>
          </a:p>
        </p:txBody>
      </p:sp>
      <p:sp>
        <p:nvSpPr>
          <p:cNvPr id="7" name="Shape 5"/>
          <p:cNvSpPr/>
          <p:nvPr/>
        </p:nvSpPr>
        <p:spPr>
          <a:xfrm>
            <a:off x="10530185" y="4268242"/>
            <a:ext cx="6614815" cy="1401961"/>
          </a:xfrm>
          <a:prstGeom prst="roundRect">
            <a:avLst>
              <a:gd name="adj" fmla="val 5435"/>
            </a:avLst>
          </a:prstGeom>
          <a:solidFill>
            <a:srgbClr val="242931"/>
          </a:solidFill>
          <a:ln/>
        </p:spPr>
      </p:sp>
      <p:sp>
        <p:nvSpPr>
          <p:cNvPr id="8" name="Text 6"/>
          <p:cNvSpPr/>
          <p:nvPr/>
        </p:nvSpPr>
        <p:spPr>
          <a:xfrm>
            <a:off x="10873085" y="4573042"/>
            <a:ext cx="6127459" cy="830461"/>
          </a:xfrm>
          <a:prstGeom prst="rect">
            <a:avLst/>
          </a:prstGeom>
          <a:noFill/>
          <a:ln/>
        </p:spPr>
        <p:txBody>
          <a:bodyPr wrap="square" lIns="25400" tIns="25400" rIns="25400" bIns="25400" rtlCol="0" anchor="t">
            <a:normAutofit/>
          </a:bodyPr>
          <a:lstStyle/>
          <a:p>
            <a:pPr algn="l" indent="0" marL="0">
              <a:lnSpc>
                <a:spcPct val="122353"/>
              </a:lnSpc>
              <a:buNone/>
            </a:pPr>
            <a:r>
              <a:rPr lang="en-US" sz="1950" spc="-19" kern="0" dirty="0">
                <a:solidFill>
                  <a:srgbClr val="FFFFFF"/>
                </a:solidFill>
                <a:latin typeface="Roboto Mono" pitchFamily="34" charset="0"/>
                <a:ea typeface="Roboto Mono" pitchFamily="34" charset="-122"/>
                <a:cs typeface="Roboto Mono" pitchFamily="34" charset="-120"/>
              </a:rPr>
              <a:t>./deploy/run_tier1_localrun.sh pulsar://&lt;broker-host&gt;:6650 ...</a:t>
            </a:r>
            <a:endParaRPr lang="en-US" sz="1950" dirty="0"/>
          </a:p>
        </p:txBody>
      </p:sp>
      <p:sp>
        <p:nvSpPr>
          <p:cNvPr id="9" name="Shape 7"/>
          <p:cNvSpPr/>
          <p:nvPr/>
        </p:nvSpPr>
        <p:spPr>
          <a:xfrm>
            <a:off x="10530185" y="5898803"/>
            <a:ext cx="6614815" cy="1112341"/>
          </a:xfrm>
          <a:prstGeom prst="roundRect">
            <a:avLst>
              <a:gd name="adj" fmla="val 6850"/>
            </a:avLst>
          </a:prstGeom>
          <a:solidFill>
            <a:srgbClr val="FFF6E3"/>
          </a:solidFill>
          <a:ln w="19050">
            <a:solidFill>
              <a:srgbClr val="FCC028"/>
            </a:solidFill>
            <a:prstDash val="solid"/>
          </a:ln>
        </p:spPr>
      </p:sp>
      <p:sp>
        <p:nvSpPr>
          <p:cNvPr id="10" name="Text 8"/>
          <p:cNvSpPr/>
          <p:nvPr/>
        </p:nvSpPr>
        <p:spPr>
          <a:xfrm>
            <a:off x="10777835" y="6108353"/>
            <a:ext cx="6317959" cy="731341"/>
          </a:xfrm>
          <a:prstGeom prst="rect">
            <a:avLst/>
          </a:prstGeom>
          <a:noFill/>
          <a:ln/>
        </p:spPr>
        <p:txBody>
          <a:bodyPr wrap="square" lIns="25400" tIns="25400" rIns="25400" bIns="25400" rtlCol="0" anchor="t">
            <a:normAutofit/>
          </a:bodyPr>
          <a:lstStyle/>
          <a:p>
            <a:pPr algn="l" indent="0" marL="0">
              <a:lnSpc>
                <a:spcPct val="101111"/>
              </a:lnSpc>
              <a:buNone/>
            </a:pPr>
            <a:r>
              <a:rPr lang="en-US" sz="1950" b="1" dirty="0">
                <a:solidFill>
                  <a:srgbClr val="C15800"/>
                </a:solidFill>
                <a:latin typeface="NotoSans" pitchFamily="34" charset="0"/>
                <a:ea typeface="NotoSans" pitchFamily="34" charset="-122"/>
                <a:cs typeface="NotoSans" pitchFamily="34" charset="-120"/>
              </a:rPr>
              <a:t>NEEDS: </a:t>
            </a:r>
            <a:pPr algn="l" indent="0" marL="0">
              <a:lnSpc>
                <a:spcPct val="101111"/>
              </a:lnSpc>
              <a:buNone/>
            </a:pPr>
            <a:r>
              <a:rPr lang="en-US" sz="1950" dirty="0">
                <a:solidFill>
                  <a:srgbClr val="1C2B34">
                    <a:alpha val="98000"/>
                  </a:srgbClr>
                </a:solidFill>
                <a:highlight>
                  <a:srgbClr val="FFF6E3"/>
                </a:highlight>
                <a:latin typeface="NotoSans" pitchFamily="34" charset="0"/>
                <a:ea typeface="NotoSans" pitchFamily="34" charset="-122"/>
                <a:cs typeface="NotoSans" pitchFamily="34" charset="-120"/>
              </a:rPr>
              <a:t>the demo recording. No source provides it yet.</a:t>
            </a:r>
            <a:endParaRPr lang="en-US" sz="1950" dirty="0"/>
          </a:p>
        </p:txBody>
      </p:sp>
      <p:sp>
        <p:nvSpPr>
          <p:cNvPr id="11" name="Shape 9"/>
          <p:cNvSpPr/>
          <p:nvPr/>
        </p:nvSpPr>
        <p:spPr>
          <a:xfrm>
            <a:off x="1143000" y="9229725"/>
            <a:ext cx="16002000" cy="19050"/>
          </a:xfrm>
          <a:prstGeom prst="rect">
            <a:avLst/>
          </a:prstGeom>
          <a:solidFill>
            <a:srgbClr val="E2E5ED"/>
          </a:solidFill>
          <a:ln/>
        </p:spPr>
      </p:sp>
      <p:sp>
        <p:nvSpPr>
          <p:cNvPr id="12" name="Text 10"/>
          <p:cNvSpPr/>
          <p:nvPr/>
        </p:nvSpPr>
        <p:spPr>
          <a:xfrm>
            <a:off x="1143000" y="94392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13" name="Text 11"/>
          <p:cNvSpPr/>
          <p:nvPr/>
        </p:nvSpPr>
        <p:spPr>
          <a:xfrm>
            <a:off x="16883360" y="94392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24</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4466332"/>
            <a:ext cx="17602200" cy="1078111"/>
          </a:xfrm>
          <a:prstGeom prst="rect">
            <a:avLst/>
          </a:prstGeom>
          <a:noFill/>
          <a:ln/>
        </p:spPr>
        <p:txBody>
          <a:bodyPr wrap="square" lIns="25400" tIns="25400" rIns="25400" bIns="25400" rtlCol="0" anchor="t">
            <a:normAutofit/>
          </a:bodyPr>
          <a:lstStyle/>
          <a:p>
            <a:pPr algn="l" indent="0" marL="0">
              <a:lnSpc>
                <a:spcPct val="77447"/>
              </a:lnSpc>
              <a:buNone/>
            </a:pPr>
            <a:r>
              <a:rPr lang="en-US" sz="7800" b="1" spc="-156" kern="0" dirty="0">
                <a:solidFill>
                  <a:srgbClr val="FFFFFF"/>
                </a:solidFill>
                <a:latin typeface="NotoSans" pitchFamily="34" charset="0"/>
                <a:ea typeface="NotoSans" pitchFamily="34" charset="-122"/>
                <a:cs typeface="NotoSans" pitchFamily="34" charset="-120"/>
              </a:rPr>
              <a:t>Conclusions &amp; Next Steps</a:t>
            </a:r>
            <a:endParaRPr lang="en-US" sz="7800" dirty="0"/>
          </a:p>
        </p:txBody>
      </p:sp>
      <p:sp>
        <p:nvSpPr>
          <p:cNvPr id="8" name="Text 6"/>
          <p:cNvSpPr/>
          <p:nvPr/>
        </p:nvSpPr>
        <p:spPr>
          <a:xfrm>
            <a:off x="1143000" y="88296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Edge Intelligence for Connected Fleets</a:t>
            </a:r>
            <a:endParaRPr lang="en-US" sz="1800" dirty="0"/>
          </a:p>
        </p:txBody>
      </p:sp>
      <p:sp>
        <p:nvSpPr>
          <p:cNvPr id="9" name="Text 7"/>
          <p:cNvSpPr/>
          <p:nvPr/>
        </p:nvSpPr>
        <p:spPr>
          <a:xfrm>
            <a:off x="16883360" y="88296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E6D6F9"/>
                </a:solidFill>
                <a:latin typeface="NotoSans" pitchFamily="34" charset="0"/>
                <a:ea typeface="NotoSans" pitchFamily="34" charset="-122"/>
                <a:cs typeface="NotoSans" pitchFamily="34" charset="-120"/>
              </a:rPr>
              <a:t>23</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061"/>
          </a:xfrm>
          <a:prstGeom prst="rect">
            <a:avLst/>
          </a:prstGeom>
          <a:noFill/>
          <a:ln/>
        </p:spPr>
        <p:txBody>
          <a:bodyPr wrap="square" lIns="25400" tIns="25400" rIns="25400" bIns="25400" rtlCol="0" anchor="t">
            <a:normAutofit/>
          </a:bodyPr>
          <a:lstStyle/>
          <a:p>
            <a:pPr algn="l" indent="0" marL="0">
              <a:lnSpc>
                <a:spcPct val="81951"/>
              </a:lnSpc>
              <a:buNone/>
            </a:pPr>
            <a:r>
              <a:rPr lang="en-US" sz="4500" b="1" spc="-45" kern="0" dirty="0">
                <a:solidFill>
                  <a:srgbClr val="1C2B34">
                    <a:alpha val="98000"/>
                  </a:srgbClr>
                </a:solidFill>
                <a:latin typeface="NotoSans" pitchFamily="34" charset="0"/>
                <a:ea typeface="NotoSans" pitchFamily="34" charset="-122"/>
                <a:cs typeface="NotoSans" pitchFamily="34" charset="-120"/>
              </a:rPr>
              <a:t>Conclusion – Feasibility Validated</a:t>
            </a:r>
            <a:endParaRPr lang="en-US" sz="4500" dirty="0"/>
          </a:p>
        </p:txBody>
      </p:sp>
      <p:sp>
        <p:nvSpPr>
          <p:cNvPr id="3" name="Shape 1"/>
          <p:cNvSpPr/>
          <p:nvPr/>
        </p:nvSpPr>
        <p:spPr>
          <a:xfrm>
            <a:off x="1143000" y="1934617"/>
            <a:ext cx="5130701" cy="5673030"/>
          </a:xfrm>
          <a:prstGeom prst="roundRect">
            <a:avLst>
              <a:gd name="adj" fmla="val 1485"/>
            </a:avLst>
          </a:prstGeom>
          <a:ln w="19050">
            <a:solidFill>
              <a:srgbClr val="D1D6E6"/>
            </a:solidFill>
            <a:prstDash val="solid"/>
          </a:ln>
        </p:spPr>
      </p:sp>
      <p:sp>
        <p:nvSpPr>
          <p:cNvPr id="4" name="Shape 2"/>
          <p:cNvSpPr/>
          <p:nvPr/>
        </p:nvSpPr>
        <p:spPr>
          <a:xfrm>
            <a:off x="1543050" y="2372767"/>
            <a:ext cx="800100" cy="800100"/>
          </a:xfrm>
          <a:prstGeom prst="roundRect">
            <a:avLst>
              <a:gd name="adj" fmla="val 9524"/>
            </a:avLst>
          </a:prstGeom>
          <a:solidFill>
            <a:srgbClr val="ECF9E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4500" y="2544217"/>
            <a:ext cx="457200" cy="457200"/>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95550" y="2582317"/>
            <a:ext cx="381000" cy="381000"/>
          </a:xfrm>
          <a:prstGeom prst="rect">
            <a:avLst/>
          </a:prstGeom>
        </p:spPr>
      </p:pic>
      <p:sp>
        <p:nvSpPr>
          <p:cNvPr id="7" name="Text 3"/>
          <p:cNvSpPr/>
          <p:nvPr/>
        </p:nvSpPr>
        <p:spPr>
          <a:xfrm>
            <a:off x="1543050" y="3420517"/>
            <a:ext cx="4763661" cy="520005"/>
          </a:xfrm>
          <a:prstGeom prst="rect">
            <a:avLst/>
          </a:prstGeom>
          <a:noFill/>
          <a:ln/>
        </p:spPr>
        <p:txBody>
          <a:bodyPr wrap="square" lIns="25400" tIns="25400" rIns="25400" bIns="25400" rtlCol="0" anchor="t">
            <a:normAutofit/>
          </a:bodyPr>
          <a:lstStyle/>
          <a:p>
            <a:pPr algn="l" indent="0" marL="0">
              <a:lnSpc>
                <a:spcPct val="84333"/>
              </a:lnSpc>
              <a:buNone/>
            </a:pPr>
            <a:r>
              <a:rPr lang="en-US" sz="3300" b="1" dirty="0">
                <a:solidFill>
                  <a:srgbClr val="1C2B34">
                    <a:alpha val="98000"/>
                  </a:srgbClr>
                </a:solidFill>
                <a:latin typeface="NotoSans" pitchFamily="34" charset="0"/>
                <a:ea typeface="NotoSans" pitchFamily="34" charset="-122"/>
                <a:cs typeface="NotoSans" pitchFamily="34" charset="-120"/>
              </a:rPr>
              <a:t>Architecture Proven</a:t>
            </a:r>
            <a:endParaRPr lang="en-US" sz="3300" dirty="0"/>
          </a:p>
        </p:txBody>
      </p:sp>
      <p:sp>
        <p:nvSpPr>
          <p:cNvPr id="8" name="Text 4"/>
          <p:cNvSpPr/>
          <p:nvPr/>
        </p:nvSpPr>
        <p:spPr>
          <a:xfrm>
            <a:off x="1543050" y="4150072"/>
            <a:ext cx="4460519" cy="1323975"/>
          </a:xfrm>
          <a:prstGeom prst="rect">
            <a:avLst/>
          </a:prstGeom>
          <a:noFill/>
          <a:ln/>
        </p:spPr>
        <p:txBody>
          <a:bodyPr wrap="square" lIns="25400" tIns="25400" rIns="25400" bIns="25400" rtlCol="0" anchor="t">
            <a:normAutofit/>
          </a:bodyPr>
          <a:lstStyle/>
          <a:p>
            <a:pPr algn="l" indent="0" marL="0">
              <a:lnSpc>
                <a:spcPct val="109756"/>
              </a:lnSpc>
              <a:buNone/>
            </a:pPr>
            <a:r>
              <a:rPr lang="en-US" sz="2250" dirty="0">
                <a:solidFill>
                  <a:srgbClr val="1C2B34">
                    <a:alpha val="68000"/>
                  </a:srgbClr>
                </a:solidFill>
                <a:latin typeface="NotoSans" pitchFamily="34" charset="0"/>
                <a:ea typeface="NotoSans" pitchFamily="34" charset="-122"/>
                <a:cs typeface="NotoSans" pitchFamily="34" charset="-120"/>
              </a:rPr>
              <a:t>Confirming small LLMs can run logic loops natively on general-purpose CPUs.</a:t>
            </a:r>
            <a:endParaRPr lang="en-US" sz="2250" dirty="0"/>
          </a:p>
        </p:txBody>
      </p:sp>
      <p:sp>
        <p:nvSpPr>
          <p:cNvPr id="9" name="Shape 5"/>
          <p:cNvSpPr/>
          <p:nvPr/>
        </p:nvSpPr>
        <p:spPr>
          <a:xfrm>
            <a:off x="6578501" y="1934617"/>
            <a:ext cx="5130850" cy="5673030"/>
          </a:xfrm>
          <a:prstGeom prst="roundRect">
            <a:avLst>
              <a:gd name="adj" fmla="val 1485"/>
            </a:avLst>
          </a:prstGeom>
          <a:ln w="19050">
            <a:solidFill>
              <a:srgbClr val="D1D6E6"/>
            </a:solidFill>
            <a:prstDash val="solid"/>
          </a:ln>
        </p:spPr>
      </p:sp>
      <p:sp>
        <p:nvSpPr>
          <p:cNvPr id="10" name="Shape 6"/>
          <p:cNvSpPr/>
          <p:nvPr/>
        </p:nvSpPr>
        <p:spPr>
          <a:xfrm>
            <a:off x="6978551" y="2372767"/>
            <a:ext cx="800100" cy="800100"/>
          </a:xfrm>
          <a:prstGeom prst="roundRect">
            <a:avLst>
              <a:gd name="adj" fmla="val 9524"/>
            </a:avLst>
          </a:prstGeom>
          <a:solidFill>
            <a:srgbClr val="ECF9EF"/>
          </a:solidFill>
          <a:ln/>
        </p:spPr>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50001" y="2544217"/>
            <a:ext cx="457200" cy="457200"/>
          </a:xfrm>
          <a:prstGeom prst="rect">
            <a:avLst/>
          </a:prstGeom>
        </p:spPr>
      </p:pic>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1051" y="2582317"/>
            <a:ext cx="381000" cy="381000"/>
          </a:xfrm>
          <a:prstGeom prst="rect">
            <a:avLst/>
          </a:prstGeom>
        </p:spPr>
      </p:pic>
      <p:sp>
        <p:nvSpPr>
          <p:cNvPr id="13" name="Text 7"/>
          <p:cNvSpPr/>
          <p:nvPr/>
        </p:nvSpPr>
        <p:spPr>
          <a:xfrm>
            <a:off x="6978551" y="3420517"/>
            <a:ext cx="4763825" cy="520005"/>
          </a:xfrm>
          <a:prstGeom prst="rect">
            <a:avLst/>
          </a:prstGeom>
          <a:noFill/>
          <a:ln/>
        </p:spPr>
        <p:txBody>
          <a:bodyPr wrap="square" lIns="25400" tIns="25400" rIns="25400" bIns="25400" rtlCol="0" anchor="t">
            <a:normAutofit/>
          </a:bodyPr>
          <a:lstStyle/>
          <a:p>
            <a:pPr algn="l" indent="0" marL="0">
              <a:lnSpc>
                <a:spcPct val="84333"/>
              </a:lnSpc>
              <a:buNone/>
            </a:pPr>
            <a:r>
              <a:rPr lang="en-US" sz="3300" b="1" dirty="0">
                <a:solidFill>
                  <a:srgbClr val="1C2B34">
                    <a:alpha val="98000"/>
                  </a:srgbClr>
                </a:solidFill>
                <a:latin typeface="NotoSans" pitchFamily="34" charset="0"/>
                <a:ea typeface="NotoSans" pitchFamily="34" charset="-122"/>
                <a:cs typeface="NotoSans" pitchFamily="34" charset="-120"/>
              </a:rPr>
              <a:t>Bandwidth Slashed</a:t>
            </a:r>
            <a:endParaRPr lang="en-US" sz="3300" dirty="0"/>
          </a:p>
        </p:txBody>
      </p:sp>
      <p:sp>
        <p:nvSpPr>
          <p:cNvPr id="14" name="Text 8"/>
          <p:cNvSpPr/>
          <p:nvPr/>
        </p:nvSpPr>
        <p:spPr>
          <a:xfrm>
            <a:off x="6978551" y="4150072"/>
            <a:ext cx="4460672" cy="2181225"/>
          </a:xfrm>
          <a:prstGeom prst="rect">
            <a:avLst/>
          </a:prstGeom>
          <a:noFill/>
          <a:ln/>
        </p:spPr>
        <p:txBody>
          <a:bodyPr wrap="square" lIns="25400" tIns="25400" rIns="25400" bIns="25400" rtlCol="0" anchor="t">
            <a:normAutofit/>
          </a:bodyPr>
          <a:lstStyle/>
          <a:p>
            <a:pPr algn="l" indent="0" marL="0">
              <a:lnSpc>
                <a:spcPct val="109756"/>
              </a:lnSpc>
              <a:buNone/>
            </a:pPr>
            <a:r>
              <a:rPr lang="en-US" sz="2250" dirty="0">
                <a:solidFill>
                  <a:srgbClr val="1C2B34">
                    <a:alpha val="68000"/>
                  </a:srgbClr>
                </a:solidFill>
                <a:latin typeface="NotoSans" pitchFamily="34" charset="0"/>
                <a:ea typeface="NotoSans" pitchFamily="34" charset="-122"/>
                <a:cs typeface="NotoSans" pitchFamily="34" charset="-120"/>
              </a:rPr>
              <a:t>Two gates, the co-processor then the LLM, drop most ambient sensor readings at the vehicle boundary before anything uses the cellular link.</a:t>
            </a:r>
            <a:endParaRPr lang="en-US" sz="2250" dirty="0"/>
          </a:p>
        </p:txBody>
      </p:sp>
      <p:sp>
        <p:nvSpPr>
          <p:cNvPr id="15" name="Text 9"/>
          <p:cNvSpPr/>
          <p:nvPr/>
        </p:nvSpPr>
        <p:spPr>
          <a:xfrm>
            <a:off x="6978551" y="6540847"/>
            <a:ext cx="4460672" cy="666750"/>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Inferred from the gate design; not yet measured.</a:t>
            </a:r>
            <a:endParaRPr lang="en-US" sz="1800" dirty="0"/>
          </a:p>
        </p:txBody>
      </p:sp>
      <p:sp>
        <p:nvSpPr>
          <p:cNvPr id="16" name="Shape 10"/>
          <p:cNvSpPr/>
          <p:nvPr/>
        </p:nvSpPr>
        <p:spPr>
          <a:xfrm>
            <a:off x="12014150" y="1934617"/>
            <a:ext cx="5130850" cy="5673030"/>
          </a:xfrm>
          <a:prstGeom prst="roundRect">
            <a:avLst>
              <a:gd name="adj" fmla="val 1485"/>
            </a:avLst>
          </a:prstGeom>
          <a:ln w="19050">
            <a:solidFill>
              <a:srgbClr val="D1D6E6"/>
            </a:solidFill>
            <a:prstDash val="solid"/>
          </a:ln>
        </p:spPr>
      </p:sp>
      <p:sp>
        <p:nvSpPr>
          <p:cNvPr id="17" name="Shape 11"/>
          <p:cNvSpPr/>
          <p:nvPr/>
        </p:nvSpPr>
        <p:spPr>
          <a:xfrm>
            <a:off x="12414200" y="2372767"/>
            <a:ext cx="800100" cy="800100"/>
          </a:xfrm>
          <a:prstGeom prst="roundRect">
            <a:avLst>
              <a:gd name="adj" fmla="val 9524"/>
            </a:avLst>
          </a:prstGeom>
          <a:solidFill>
            <a:srgbClr val="ECF9EF"/>
          </a:solidFill>
          <a:ln/>
        </p:spPr>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585650" y="2544217"/>
            <a:ext cx="457200" cy="457200"/>
          </a:xfrm>
          <a:prstGeom prst="rect">
            <a:avLst/>
          </a:prstGeom>
        </p:spPr>
      </p:pic>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366700" y="2582317"/>
            <a:ext cx="381000" cy="381000"/>
          </a:xfrm>
          <a:prstGeom prst="rect">
            <a:avLst/>
          </a:prstGeom>
        </p:spPr>
      </p:pic>
      <p:sp>
        <p:nvSpPr>
          <p:cNvPr id="20" name="Text 12"/>
          <p:cNvSpPr/>
          <p:nvPr/>
        </p:nvSpPr>
        <p:spPr>
          <a:xfrm>
            <a:off x="12414200" y="3420517"/>
            <a:ext cx="4460672" cy="1001911"/>
          </a:xfrm>
          <a:prstGeom prst="rect">
            <a:avLst/>
          </a:prstGeom>
          <a:noFill/>
          <a:ln/>
        </p:spPr>
        <p:txBody>
          <a:bodyPr wrap="square" lIns="25400" tIns="25400" rIns="25400" bIns="25400" rtlCol="0" anchor="t">
            <a:normAutofit/>
          </a:bodyPr>
          <a:lstStyle/>
          <a:p>
            <a:pPr algn="l" indent="0" marL="0">
              <a:lnSpc>
                <a:spcPct val="84333"/>
              </a:lnSpc>
              <a:buNone/>
            </a:pPr>
            <a:r>
              <a:rPr lang="en-US" sz="3300" b="1" dirty="0">
                <a:solidFill>
                  <a:srgbClr val="1C2B34">
                    <a:alpha val="98000"/>
                  </a:srgbClr>
                </a:solidFill>
                <a:latin typeface="NotoSans" pitchFamily="34" charset="0"/>
                <a:ea typeface="NotoSans" pitchFamily="34" charset="-122"/>
                <a:cs typeface="NotoSans" pitchFamily="34" charset="-120"/>
              </a:rPr>
              <a:t>Democratic Blueprint</a:t>
            </a:r>
            <a:endParaRPr lang="en-US" sz="3300" dirty="0"/>
          </a:p>
        </p:txBody>
      </p:sp>
      <p:sp>
        <p:nvSpPr>
          <p:cNvPr id="21" name="Text 13"/>
          <p:cNvSpPr/>
          <p:nvPr/>
        </p:nvSpPr>
        <p:spPr>
          <a:xfrm>
            <a:off x="12414200" y="4631978"/>
            <a:ext cx="4460672" cy="1752600"/>
          </a:xfrm>
          <a:prstGeom prst="rect">
            <a:avLst/>
          </a:prstGeom>
          <a:noFill/>
          <a:ln/>
        </p:spPr>
        <p:txBody>
          <a:bodyPr wrap="square" lIns="25400" tIns="25400" rIns="25400" bIns="25400" rtlCol="0" anchor="t">
            <a:normAutofit/>
          </a:bodyPr>
          <a:lstStyle/>
          <a:p>
            <a:pPr algn="l" indent="0" marL="0">
              <a:lnSpc>
                <a:spcPct val="109756"/>
              </a:lnSpc>
              <a:buNone/>
            </a:pPr>
            <a:r>
              <a:rPr lang="en-US" sz="2250" dirty="0">
                <a:solidFill>
                  <a:srgbClr val="1C2B34">
                    <a:alpha val="68000"/>
                  </a:srgbClr>
                </a:solidFill>
                <a:latin typeface="NotoSans" pitchFamily="34" charset="0"/>
                <a:ea typeface="NotoSans" pitchFamily="34" charset="-122"/>
                <a:cs typeface="NotoSans" pitchFamily="34" charset="-120"/>
              </a:rPr>
              <a:t>Unlocking real-time vehicle diagnostics on consumer smartphones and handheld plug-and-play modules.</a:t>
            </a:r>
            <a:endParaRPr lang="en-US" sz="2250" dirty="0"/>
          </a:p>
        </p:txBody>
      </p:sp>
      <p:sp>
        <p:nvSpPr>
          <p:cNvPr id="22" name="Shape 14"/>
          <p:cNvSpPr/>
          <p:nvPr/>
        </p:nvSpPr>
        <p:spPr>
          <a:xfrm>
            <a:off x="1143000" y="8064103"/>
            <a:ext cx="16002000" cy="1127522"/>
          </a:xfrm>
          <a:prstGeom prst="roundRect">
            <a:avLst>
              <a:gd name="adj" fmla="val 6758"/>
            </a:avLst>
          </a:prstGeom>
          <a:solidFill>
            <a:srgbClr val="FFF6E3"/>
          </a:solidFill>
          <a:ln/>
        </p:spPr>
      </p:sp>
      <p:pic>
        <p:nvPicPr>
          <p:cNvPr id="2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09700" y="8456414"/>
            <a:ext cx="342900" cy="342900"/>
          </a:xfrm>
          <a:prstGeom prst="rect">
            <a:avLst/>
          </a:prstGeom>
        </p:spPr>
      </p:pic>
      <p:sp>
        <p:nvSpPr>
          <p:cNvPr id="24" name="Text 15"/>
          <p:cNvSpPr/>
          <p:nvPr/>
        </p:nvSpPr>
        <p:spPr>
          <a:xfrm>
            <a:off x="1943100" y="8254603"/>
            <a:ext cx="15383256" cy="784622"/>
          </a:xfrm>
          <a:prstGeom prst="rect">
            <a:avLst/>
          </a:prstGeom>
          <a:noFill/>
          <a:ln/>
        </p:spPr>
        <p:txBody>
          <a:bodyPr wrap="square" lIns="25400" tIns="25400" rIns="25400" bIns="25400" rtlCol="0" anchor="t">
            <a:normAutofit/>
          </a:bodyPr>
          <a:lstStyle/>
          <a:p>
            <a:pPr algn="l" indent="0" marL="0">
              <a:lnSpc>
                <a:spcPct val="103158"/>
              </a:lnSpc>
              <a:buNone/>
            </a:pPr>
            <a:r>
              <a:rPr lang="en-US" sz="2100" b="1" dirty="0">
                <a:solidFill>
                  <a:srgbClr val="1C2B34">
                    <a:alpha val="98000"/>
                  </a:srgbClr>
                </a:solidFill>
                <a:latin typeface="NotoSans" pitchFamily="34" charset="0"/>
                <a:ea typeface="NotoSans" pitchFamily="34" charset="-122"/>
                <a:cs typeface="NotoSans" pitchFamily="34" charset="-120"/>
              </a:rPr>
              <a:t>Caveat: 1-bit LLMs specifically didn't work. </a:t>
            </a:r>
            <a:pPr algn="l" indent="0" marL="0">
              <a:lnSpc>
                <a:spcPct val="103158"/>
              </a:lnSpc>
              <a:buNone/>
            </a:pPr>
            <a:r>
              <a:rPr lang="en-US" sz="2100" dirty="0">
                <a:solidFill>
                  <a:srgbClr val="1C2B34">
                    <a:alpha val="98000"/>
                  </a:srgbClr>
                </a:solidFill>
                <a:latin typeface="NotoSans" pitchFamily="34" charset="0"/>
                <a:ea typeface="NotoSans" pitchFamily="34" charset="-122"/>
                <a:cs typeface="NotoSans" pitchFamily="34" charset="-120"/>
              </a:rPr>
              <a:t>Software compatibility issues blocked them on the Pi, so we substituted small quantized models that run on mainline llama.cpp.</a:t>
            </a:r>
            <a:endParaRPr lang="en-US" sz="2100" dirty="0"/>
          </a:p>
        </p:txBody>
      </p:sp>
      <p:sp>
        <p:nvSpPr>
          <p:cNvPr id="25" name="Shape 16"/>
          <p:cNvSpPr/>
          <p:nvPr/>
        </p:nvSpPr>
        <p:spPr>
          <a:xfrm>
            <a:off x="1143000" y="9344025"/>
            <a:ext cx="16002000" cy="19050"/>
          </a:xfrm>
          <a:prstGeom prst="rect">
            <a:avLst/>
          </a:prstGeom>
          <a:solidFill>
            <a:srgbClr val="E2E5ED"/>
          </a:solidFill>
          <a:ln/>
        </p:spPr>
      </p:sp>
      <p:sp>
        <p:nvSpPr>
          <p:cNvPr id="26" name="Text 17"/>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27" name="Text 18"/>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24</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38200"/>
            <a:ext cx="17602200" cy="678061"/>
          </a:xfrm>
          <a:prstGeom prst="rect">
            <a:avLst/>
          </a:prstGeom>
          <a:noFill/>
          <a:ln/>
        </p:spPr>
        <p:txBody>
          <a:bodyPr wrap="square" lIns="25400" tIns="25400" rIns="25400" bIns="25400" rtlCol="0" anchor="t">
            <a:normAutofit/>
          </a:bodyPr>
          <a:lstStyle/>
          <a:p>
            <a:pPr algn="l" indent="0" marL="0">
              <a:lnSpc>
                <a:spcPct val="81951"/>
              </a:lnSpc>
              <a:buNone/>
            </a:pPr>
            <a:r>
              <a:rPr lang="en-US" sz="4500" b="1" spc="-45" kern="0" dirty="0">
                <a:solidFill>
                  <a:srgbClr val="1C2B34">
                    <a:alpha val="98000"/>
                  </a:srgbClr>
                </a:solidFill>
                <a:latin typeface="NotoSans" pitchFamily="34" charset="0"/>
                <a:ea typeface="NotoSans" pitchFamily="34" charset="-122"/>
                <a:cs typeface="NotoSans" pitchFamily="34" charset="-120"/>
              </a:rPr>
              <a:t>But... How Well Did It Actually Perform?</a:t>
            </a:r>
            <a:endParaRPr lang="en-US" sz="4500" dirty="0"/>
          </a:p>
        </p:txBody>
      </p:sp>
      <p:sp>
        <p:nvSpPr>
          <p:cNvPr id="3" name="Shape 1"/>
          <p:cNvSpPr/>
          <p:nvPr/>
        </p:nvSpPr>
        <p:spPr>
          <a:xfrm>
            <a:off x="1143000" y="2371725"/>
            <a:ext cx="7867650" cy="2177355"/>
          </a:xfrm>
          <a:prstGeom prst="roundRect">
            <a:avLst>
              <a:gd name="adj" fmla="val 3500"/>
            </a:avLst>
          </a:prstGeom>
          <a:solidFill>
            <a:srgbClr val="FFFFFF"/>
          </a:solidFill>
          <a:ln w="19050">
            <a:solidFill>
              <a:srgbClr val="D1D6E6"/>
            </a:solidFill>
            <a:prstDash val="solid"/>
          </a:ln>
        </p:spPr>
      </p:sp>
      <p:sp>
        <p:nvSpPr>
          <p:cNvPr id="4" name="Shape 2"/>
          <p:cNvSpPr/>
          <p:nvPr/>
        </p:nvSpPr>
        <p:spPr>
          <a:xfrm>
            <a:off x="1543050" y="2733675"/>
            <a:ext cx="800100" cy="800100"/>
          </a:xfrm>
          <a:prstGeom prst="roundRect">
            <a:avLst>
              <a:gd name="adj" fmla="val 9524"/>
            </a:avLst>
          </a:prstGeom>
          <a:solidFill>
            <a:srgbClr val="FFF6E3"/>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4500" y="2905125"/>
            <a:ext cx="457200" cy="457200"/>
          </a:xfrm>
          <a:prstGeom prst="rect">
            <a:avLst/>
          </a:prstGeom>
        </p:spPr>
      </p:pic>
      <p:sp>
        <p:nvSpPr>
          <p:cNvPr id="6" name="Text 3"/>
          <p:cNvSpPr/>
          <p:nvPr/>
        </p:nvSpPr>
        <p:spPr>
          <a:xfrm>
            <a:off x="2609850" y="2733675"/>
            <a:ext cx="6600825" cy="520005"/>
          </a:xfrm>
          <a:prstGeom prst="rect">
            <a:avLst/>
          </a:prstGeom>
          <a:noFill/>
          <a:ln/>
        </p:spPr>
        <p:txBody>
          <a:bodyPr wrap="square" lIns="25400" tIns="25400" rIns="25400" bIns="25400" rtlCol="0" anchor="t">
            <a:normAutofit/>
          </a:bodyPr>
          <a:lstStyle/>
          <a:p>
            <a:pPr algn="l" indent="0" marL="0">
              <a:lnSpc>
                <a:spcPct val="84333"/>
              </a:lnSpc>
              <a:buNone/>
            </a:pPr>
            <a:r>
              <a:rPr lang="en-US" sz="3300" b="1" dirty="0">
                <a:solidFill>
                  <a:srgbClr val="1C2B34">
                    <a:alpha val="98000"/>
                  </a:srgbClr>
                </a:solidFill>
                <a:latin typeface="NotoSans" pitchFamily="34" charset="0"/>
                <a:ea typeface="NotoSans" pitchFamily="34" charset="-122"/>
                <a:cs typeface="NotoSans" pitchFamily="34" charset="-120"/>
              </a:rPr>
              <a:t>Token Latency?</a:t>
            </a:r>
            <a:endParaRPr lang="en-US" sz="3300" dirty="0"/>
          </a:p>
        </p:txBody>
      </p:sp>
      <p:sp>
        <p:nvSpPr>
          <p:cNvPr id="7" name="Text 4"/>
          <p:cNvSpPr/>
          <p:nvPr/>
        </p:nvSpPr>
        <p:spPr>
          <a:xfrm>
            <a:off x="2609850" y="3329880"/>
            <a:ext cx="6180773" cy="895350"/>
          </a:xfrm>
          <a:prstGeom prst="rect">
            <a:avLst/>
          </a:prstGeom>
          <a:noFill/>
          <a:ln/>
        </p:spPr>
        <p:txBody>
          <a:bodyPr wrap="square" lIns="25400" tIns="25400" rIns="25400" bIns="25400" rtlCol="0" anchor="t">
            <a:normAutofit/>
          </a:bodyPr>
          <a:lstStyle/>
          <a:p>
            <a:pPr algn="l" indent="0" marL="0">
              <a:lnSpc>
                <a:spcPct val="109756"/>
              </a:lnSpc>
              <a:buNone/>
            </a:pPr>
            <a:r>
              <a:rPr lang="en-US" sz="2250" dirty="0">
                <a:solidFill>
                  <a:srgbClr val="1C2B34">
                    <a:alpha val="68000"/>
                  </a:srgbClr>
                </a:solidFill>
                <a:latin typeface="NotoSans" pitchFamily="34" charset="0"/>
                <a:ea typeface="NotoSans" pitchFamily="34" charset="-122"/>
                <a:cs typeface="NotoSans" pitchFamily="34" charset="-120"/>
              </a:rPr>
              <a:t>What happens when a commodity CPU handles massive sensor spikes?</a:t>
            </a:r>
            <a:endParaRPr lang="en-US" sz="2250" dirty="0"/>
          </a:p>
        </p:txBody>
      </p:sp>
      <p:sp>
        <p:nvSpPr>
          <p:cNvPr id="8" name="Shape 5"/>
          <p:cNvSpPr/>
          <p:nvPr/>
        </p:nvSpPr>
        <p:spPr>
          <a:xfrm>
            <a:off x="9277350" y="2371725"/>
            <a:ext cx="7867650" cy="2177355"/>
          </a:xfrm>
          <a:prstGeom prst="roundRect">
            <a:avLst>
              <a:gd name="adj" fmla="val 3500"/>
            </a:avLst>
          </a:prstGeom>
          <a:solidFill>
            <a:srgbClr val="FFFFFF"/>
          </a:solidFill>
          <a:ln w="19050">
            <a:solidFill>
              <a:srgbClr val="D1D6E6"/>
            </a:solidFill>
            <a:prstDash val="solid"/>
          </a:ln>
        </p:spPr>
      </p:sp>
      <p:sp>
        <p:nvSpPr>
          <p:cNvPr id="9" name="Shape 6"/>
          <p:cNvSpPr/>
          <p:nvPr/>
        </p:nvSpPr>
        <p:spPr>
          <a:xfrm>
            <a:off x="9677400" y="2733675"/>
            <a:ext cx="800100" cy="800100"/>
          </a:xfrm>
          <a:prstGeom prst="roundRect">
            <a:avLst>
              <a:gd name="adj" fmla="val 9524"/>
            </a:avLst>
          </a:prstGeom>
          <a:solidFill>
            <a:srgbClr val="FFF6E3"/>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48850" y="2905125"/>
            <a:ext cx="457200" cy="457200"/>
          </a:xfrm>
          <a:prstGeom prst="rect">
            <a:avLst/>
          </a:prstGeom>
        </p:spPr>
      </p:pic>
      <p:sp>
        <p:nvSpPr>
          <p:cNvPr id="11" name="Text 7"/>
          <p:cNvSpPr/>
          <p:nvPr/>
        </p:nvSpPr>
        <p:spPr>
          <a:xfrm>
            <a:off x="10744200" y="2733675"/>
            <a:ext cx="6600825" cy="520005"/>
          </a:xfrm>
          <a:prstGeom prst="rect">
            <a:avLst/>
          </a:prstGeom>
          <a:noFill/>
          <a:ln/>
        </p:spPr>
        <p:txBody>
          <a:bodyPr wrap="square" lIns="25400" tIns="25400" rIns="25400" bIns="25400" rtlCol="0" anchor="t">
            <a:normAutofit/>
          </a:bodyPr>
          <a:lstStyle/>
          <a:p>
            <a:pPr algn="l" indent="0" marL="0">
              <a:lnSpc>
                <a:spcPct val="84333"/>
              </a:lnSpc>
              <a:buNone/>
            </a:pPr>
            <a:r>
              <a:rPr lang="en-US" sz="3300" b="1" dirty="0">
                <a:solidFill>
                  <a:srgbClr val="1C2B34">
                    <a:alpha val="98000"/>
                  </a:srgbClr>
                </a:solidFill>
                <a:latin typeface="NotoSans" pitchFamily="34" charset="0"/>
                <a:ea typeface="NotoSans" pitchFamily="34" charset="-122"/>
                <a:cs typeface="NotoSans" pitchFamily="34" charset="-120"/>
              </a:rPr>
              <a:t>Quantization Loss?</a:t>
            </a:r>
            <a:endParaRPr lang="en-US" sz="3300" dirty="0"/>
          </a:p>
        </p:txBody>
      </p:sp>
      <p:sp>
        <p:nvSpPr>
          <p:cNvPr id="12" name="Text 8"/>
          <p:cNvSpPr/>
          <p:nvPr/>
        </p:nvSpPr>
        <p:spPr>
          <a:xfrm>
            <a:off x="10744200" y="3329880"/>
            <a:ext cx="6180773" cy="895350"/>
          </a:xfrm>
          <a:prstGeom prst="rect">
            <a:avLst/>
          </a:prstGeom>
          <a:noFill/>
          <a:ln/>
        </p:spPr>
        <p:txBody>
          <a:bodyPr wrap="square" lIns="25400" tIns="25400" rIns="25400" bIns="25400" rtlCol="0" anchor="t">
            <a:normAutofit/>
          </a:bodyPr>
          <a:lstStyle/>
          <a:p>
            <a:pPr algn="l" indent="0" marL="0">
              <a:lnSpc>
                <a:spcPct val="109756"/>
              </a:lnSpc>
              <a:buNone/>
            </a:pPr>
            <a:r>
              <a:rPr lang="en-US" sz="2250" dirty="0">
                <a:solidFill>
                  <a:srgbClr val="1C2B34">
                    <a:alpha val="68000"/>
                  </a:srgbClr>
                </a:solidFill>
                <a:latin typeface="NotoSans" pitchFamily="34" charset="0"/>
                <a:ea typeface="NotoSans" pitchFamily="34" charset="-122"/>
                <a:cs typeface="NotoSans" pitchFamily="34" charset="-120"/>
              </a:rPr>
              <a:t>Did extreme quantization degrade our diagnostic accuracy?</a:t>
            </a:r>
            <a:endParaRPr lang="en-US" sz="2250" dirty="0"/>
          </a:p>
        </p:txBody>
      </p:sp>
      <p:sp>
        <p:nvSpPr>
          <p:cNvPr id="13" name="Shape 9"/>
          <p:cNvSpPr/>
          <p:nvPr/>
        </p:nvSpPr>
        <p:spPr>
          <a:xfrm>
            <a:off x="1143000" y="4815780"/>
            <a:ext cx="7867650" cy="2605980"/>
          </a:xfrm>
          <a:prstGeom prst="roundRect">
            <a:avLst>
              <a:gd name="adj" fmla="val 2924"/>
            </a:avLst>
          </a:prstGeom>
          <a:solidFill>
            <a:srgbClr val="FFFFFF"/>
          </a:solidFill>
          <a:ln w="19050">
            <a:solidFill>
              <a:srgbClr val="D1D6E6"/>
            </a:solidFill>
            <a:prstDash val="solid"/>
          </a:ln>
        </p:spPr>
      </p:sp>
      <p:sp>
        <p:nvSpPr>
          <p:cNvPr id="14" name="Shape 10"/>
          <p:cNvSpPr/>
          <p:nvPr/>
        </p:nvSpPr>
        <p:spPr>
          <a:xfrm>
            <a:off x="1543050" y="5177730"/>
            <a:ext cx="800100" cy="800100"/>
          </a:xfrm>
          <a:prstGeom prst="roundRect">
            <a:avLst>
              <a:gd name="adj" fmla="val 9524"/>
            </a:avLst>
          </a:prstGeom>
          <a:solidFill>
            <a:srgbClr val="FFF6E3"/>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14500" y="5349180"/>
            <a:ext cx="457200" cy="457200"/>
          </a:xfrm>
          <a:prstGeom prst="rect">
            <a:avLst/>
          </a:prstGeom>
        </p:spPr>
      </p:pic>
      <p:sp>
        <p:nvSpPr>
          <p:cNvPr id="16" name="Text 11"/>
          <p:cNvSpPr/>
          <p:nvPr/>
        </p:nvSpPr>
        <p:spPr>
          <a:xfrm>
            <a:off x="2609850" y="5177730"/>
            <a:ext cx="6600825" cy="520005"/>
          </a:xfrm>
          <a:prstGeom prst="rect">
            <a:avLst/>
          </a:prstGeom>
          <a:noFill/>
          <a:ln/>
        </p:spPr>
        <p:txBody>
          <a:bodyPr wrap="square" lIns="25400" tIns="25400" rIns="25400" bIns="25400" rtlCol="0" anchor="t">
            <a:normAutofit/>
          </a:bodyPr>
          <a:lstStyle/>
          <a:p>
            <a:pPr algn="l" indent="0" marL="0">
              <a:lnSpc>
                <a:spcPct val="84333"/>
              </a:lnSpc>
              <a:buNone/>
            </a:pPr>
            <a:r>
              <a:rPr lang="en-US" sz="3300" b="1" dirty="0">
                <a:solidFill>
                  <a:srgbClr val="1C2B34">
                    <a:alpha val="98000"/>
                  </a:srgbClr>
                </a:solidFill>
                <a:latin typeface="NotoSans" pitchFamily="34" charset="0"/>
                <a:ea typeface="NotoSans" pitchFamily="34" charset="-122"/>
                <a:cs typeface="NotoSans" pitchFamily="34" charset="-120"/>
              </a:rPr>
              <a:t>ARM Compile Hurdles?</a:t>
            </a:r>
            <a:endParaRPr lang="en-US" sz="3300" dirty="0"/>
          </a:p>
        </p:txBody>
      </p:sp>
      <p:sp>
        <p:nvSpPr>
          <p:cNvPr id="17" name="Text 12"/>
          <p:cNvSpPr/>
          <p:nvPr/>
        </p:nvSpPr>
        <p:spPr>
          <a:xfrm>
            <a:off x="2609850" y="5988248"/>
            <a:ext cx="6180773" cy="895350"/>
          </a:xfrm>
          <a:prstGeom prst="rect">
            <a:avLst/>
          </a:prstGeom>
          <a:noFill/>
          <a:ln/>
        </p:spPr>
        <p:txBody>
          <a:bodyPr wrap="square" lIns="25400" tIns="25400" rIns="25400" bIns="25400" rtlCol="0" anchor="t">
            <a:normAutofit/>
          </a:bodyPr>
          <a:lstStyle/>
          <a:p>
            <a:pPr algn="l" indent="0" marL="0">
              <a:lnSpc>
                <a:spcPct val="109756"/>
              </a:lnSpc>
              <a:buNone/>
            </a:pPr>
            <a:r>
              <a:rPr lang="en-US" sz="2250" dirty="0">
                <a:solidFill>
                  <a:srgbClr val="1C2B34">
                    <a:alpha val="68000"/>
                  </a:srgbClr>
                </a:solidFill>
                <a:latin typeface="NotoSans" pitchFamily="34" charset="0"/>
                <a:ea typeface="NotoSans" pitchFamily="34" charset="-122"/>
                <a:cs typeface="NotoSans" pitchFamily="34" charset="-120"/>
              </a:rPr>
              <a:t>What engineering steps were required to run the stack on an ARM Cortex-A72?</a:t>
            </a:r>
            <a:endParaRPr lang="en-US" sz="2250" dirty="0"/>
          </a:p>
        </p:txBody>
      </p:sp>
      <p:sp>
        <p:nvSpPr>
          <p:cNvPr id="18" name="Shape 13"/>
          <p:cNvSpPr/>
          <p:nvPr/>
        </p:nvSpPr>
        <p:spPr>
          <a:xfrm>
            <a:off x="9277350" y="4815780"/>
            <a:ext cx="7867650" cy="2605980"/>
          </a:xfrm>
          <a:prstGeom prst="roundRect">
            <a:avLst>
              <a:gd name="adj" fmla="val 2924"/>
            </a:avLst>
          </a:prstGeom>
          <a:solidFill>
            <a:srgbClr val="FFFFFF"/>
          </a:solidFill>
          <a:ln w="19050">
            <a:solidFill>
              <a:srgbClr val="D1D6E6"/>
            </a:solidFill>
            <a:prstDash val="solid"/>
          </a:ln>
        </p:spPr>
      </p:sp>
      <p:sp>
        <p:nvSpPr>
          <p:cNvPr id="19" name="Shape 14"/>
          <p:cNvSpPr/>
          <p:nvPr/>
        </p:nvSpPr>
        <p:spPr>
          <a:xfrm>
            <a:off x="9677400" y="5177730"/>
            <a:ext cx="800100" cy="800100"/>
          </a:xfrm>
          <a:prstGeom prst="roundRect">
            <a:avLst>
              <a:gd name="adj" fmla="val 9524"/>
            </a:avLst>
          </a:prstGeom>
          <a:solidFill>
            <a:srgbClr val="FFF6E3"/>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48850" y="5349180"/>
            <a:ext cx="457200" cy="457200"/>
          </a:xfrm>
          <a:prstGeom prst="rect">
            <a:avLst/>
          </a:prstGeom>
        </p:spPr>
      </p:pic>
      <p:sp>
        <p:nvSpPr>
          <p:cNvPr id="21" name="Text 15"/>
          <p:cNvSpPr/>
          <p:nvPr/>
        </p:nvSpPr>
        <p:spPr>
          <a:xfrm>
            <a:off x="10744200" y="5177730"/>
            <a:ext cx="6600825" cy="520005"/>
          </a:xfrm>
          <a:prstGeom prst="rect">
            <a:avLst/>
          </a:prstGeom>
          <a:noFill/>
          <a:ln/>
        </p:spPr>
        <p:txBody>
          <a:bodyPr wrap="square" lIns="25400" tIns="25400" rIns="25400" bIns="25400" rtlCol="0" anchor="t">
            <a:normAutofit/>
          </a:bodyPr>
          <a:lstStyle/>
          <a:p>
            <a:pPr algn="l" indent="0" marL="0">
              <a:lnSpc>
                <a:spcPct val="84333"/>
              </a:lnSpc>
              <a:buNone/>
            </a:pPr>
            <a:r>
              <a:rPr lang="en-US" sz="3300" b="1" dirty="0">
                <a:solidFill>
                  <a:srgbClr val="1C2B34">
                    <a:alpha val="98000"/>
                  </a:srgbClr>
                </a:solidFill>
                <a:latin typeface="NotoSans" pitchFamily="34" charset="0"/>
                <a:ea typeface="NotoSans" pitchFamily="34" charset="-122"/>
                <a:cs typeface="NotoSans" pitchFamily="34" charset="-120"/>
              </a:rPr>
              <a:t>Energy Efficiency?</a:t>
            </a:r>
            <a:endParaRPr lang="en-US" sz="3300" dirty="0"/>
          </a:p>
        </p:txBody>
      </p:sp>
      <p:sp>
        <p:nvSpPr>
          <p:cNvPr id="22" name="Text 16"/>
          <p:cNvSpPr/>
          <p:nvPr/>
        </p:nvSpPr>
        <p:spPr>
          <a:xfrm>
            <a:off x="10744200" y="5773936"/>
            <a:ext cx="6180773" cy="1323975"/>
          </a:xfrm>
          <a:prstGeom prst="rect">
            <a:avLst/>
          </a:prstGeom>
          <a:noFill/>
          <a:ln/>
        </p:spPr>
        <p:txBody>
          <a:bodyPr wrap="square" lIns="25400" tIns="25400" rIns="25400" bIns="25400" rtlCol="0" anchor="t">
            <a:normAutofit/>
          </a:bodyPr>
          <a:lstStyle/>
          <a:p>
            <a:pPr algn="l" indent="0" marL="0">
              <a:lnSpc>
                <a:spcPct val="109756"/>
              </a:lnSpc>
              <a:buNone/>
            </a:pPr>
            <a:r>
              <a:rPr lang="en-US" sz="2250" dirty="0">
                <a:solidFill>
                  <a:srgbClr val="1C2B34">
                    <a:alpha val="68000"/>
                  </a:srgbClr>
                </a:solidFill>
                <a:latin typeface="NotoSans" pitchFamily="34" charset="0"/>
                <a:ea typeface="NotoSans" pitchFamily="34" charset="-122"/>
                <a:cs typeface="NotoSans" pitchFamily="34" charset="-120"/>
              </a:rPr>
              <a:t>How much power does each edge decision cost on a CPU-only node, compared to a GPU?</a:t>
            </a:r>
            <a:endParaRPr lang="en-US" sz="2250" dirty="0"/>
          </a:p>
        </p:txBody>
      </p:sp>
      <p:sp>
        <p:nvSpPr>
          <p:cNvPr id="23" name="Shape 17"/>
          <p:cNvSpPr/>
          <p:nvPr/>
        </p:nvSpPr>
        <p:spPr>
          <a:xfrm>
            <a:off x="1143000" y="8315325"/>
            <a:ext cx="16002000" cy="876300"/>
          </a:xfrm>
          <a:prstGeom prst="roundRect">
            <a:avLst>
              <a:gd name="adj" fmla="val 8696"/>
            </a:avLst>
          </a:prstGeom>
          <a:solidFill>
            <a:srgbClr val="F2ECFC"/>
          </a:solidFill>
          <a:ln/>
        </p:spPr>
      </p:sp>
      <p:sp>
        <p:nvSpPr>
          <p:cNvPr id="24" name="Shape 18"/>
          <p:cNvSpPr/>
          <p:nvPr/>
        </p:nvSpPr>
        <p:spPr>
          <a:xfrm>
            <a:off x="1409700" y="8524875"/>
            <a:ext cx="1074093" cy="457200"/>
          </a:xfrm>
          <a:prstGeom prst="roundRect">
            <a:avLst>
              <a:gd name="adj" fmla="val 8333"/>
            </a:avLst>
          </a:prstGeom>
          <a:solidFill>
            <a:srgbClr val="632CA6"/>
          </a:solidFill>
          <a:ln/>
        </p:spPr>
      </p:sp>
      <p:sp>
        <p:nvSpPr>
          <p:cNvPr id="25" name="Text 19"/>
          <p:cNvSpPr/>
          <p:nvPr/>
        </p:nvSpPr>
        <p:spPr>
          <a:xfrm>
            <a:off x="1581150" y="8524875"/>
            <a:ext cx="807393" cy="495300"/>
          </a:xfrm>
          <a:prstGeom prst="rect">
            <a:avLst/>
          </a:prstGeom>
          <a:noFill/>
          <a:ln/>
        </p:spPr>
        <p:txBody>
          <a:bodyPr wrap="square" lIns="25400" tIns="25400" rIns="25400" bIns="25400" rtlCol="0" anchor="ctr">
            <a:normAutofit/>
          </a:bodyPr>
          <a:lstStyle/>
          <a:p>
            <a:pPr algn="l" indent="0" marL="0">
              <a:buNone/>
            </a:pPr>
            <a:r>
              <a:rPr lang="en-US" sz="1950" b="1" dirty="0">
                <a:solidFill>
                  <a:srgbClr val="1C2B34">
                    <a:alpha val="98000"/>
                  </a:srgbClr>
                </a:solidFill>
                <a:latin typeface="NotoSans" pitchFamily="34" charset="0"/>
                <a:ea typeface="NotoSans" pitchFamily="34" charset="-122"/>
                <a:cs typeface="NotoSans" pitchFamily="34" charset="-120"/>
              </a:rPr>
              <a:t>Part 2</a:t>
            </a:r>
            <a:endParaRPr lang="en-US" sz="1950" dirty="0"/>
          </a:p>
        </p:txBody>
      </p:sp>
      <p:sp>
        <p:nvSpPr>
          <p:cNvPr id="26" name="Text 20"/>
          <p:cNvSpPr/>
          <p:nvPr/>
        </p:nvSpPr>
        <p:spPr>
          <a:xfrm>
            <a:off x="2674293" y="8555385"/>
            <a:ext cx="11780803" cy="434280"/>
          </a:xfrm>
          <a:prstGeom prst="rect">
            <a:avLst/>
          </a:prstGeom>
          <a:noFill/>
          <a:ln/>
        </p:spPr>
        <p:txBody>
          <a:bodyPr wrap="square" lIns="25400" tIns="25400" rIns="25400" bIns="25400" rtlCol="0" anchor="t">
            <a:normAutofit/>
          </a:bodyPr>
          <a:lstStyle/>
          <a:p>
            <a:pPr algn="l" indent="0" marL="0">
              <a:lnSpc>
                <a:spcPct val="96744"/>
              </a:lnSpc>
              <a:buNone/>
            </a:pPr>
            <a:r>
              <a:rPr lang="en-US" sz="2400" b="1" dirty="0">
                <a:solidFill>
                  <a:srgbClr val="1C2B34">
                    <a:alpha val="98000"/>
                  </a:srgbClr>
                </a:solidFill>
                <a:latin typeface="NotoSans" pitchFamily="34" charset="0"/>
                <a:ea typeface="NotoSans" pitchFamily="34" charset="-122"/>
                <a:cs typeface="NotoSans" pitchFamily="34" charset="-120"/>
              </a:rPr>
              <a:t>Find out in Part 2: The Greenest Token Is the One That Never Hits a GPU.</a:t>
            </a:r>
            <a:endParaRPr lang="en-US" sz="2400" dirty="0"/>
          </a:p>
        </p:txBody>
      </p:sp>
      <p:sp>
        <p:nvSpPr>
          <p:cNvPr id="27" name="Shape 21"/>
          <p:cNvSpPr/>
          <p:nvPr/>
        </p:nvSpPr>
        <p:spPr>
          <a:xfrm>
            <a:off x="1143000" y="9344025"/>
            <a:ext cx="16002000" cy="19050"/>
          </a:xfrm>
          <a:prstGeom prst="rect">
            <a:avLst/>
          </a:prstGeom>
          <a:solidFill>
            <a:srgbClr val="E2E5ED"/>
          </a:solidFill>
          <a:ln/>
        </p:spPr>
      </p:sp>
      <p:sp>
        <p:nvSpPr>
          <p:cNvPr id="28" name="Text 22"/>
          <p:cNvSpPr/>
          <p:nvPr/>
        </p:nvSpPr>
        <p:spPr>
          <a:xfrm>
            <a:off x="1143000" y="9515475"/>
            <a:ext cx="4539213"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Edge Intelligence for Connected Fleets</a:t>
            </a:r>
            <a:endParaRPr lang="en-US" sz="1800" dirty="0"/>
          </a:p>
        </p:txBody>
      </p:sp>
      <p:sp>
        <p:nvSpPr>
          <p:cNvPr id="29" name="Text 23"/>
          <p:cNvSpPr/>
          <p:nvPr/>
        </p:nvSpPr>
        <p:spPr>
          <a:xfrm>
            <a:off x="16883360" y="9515475"/>
            <a:ext cx="337840" cy="352425"/>
          </a:xfrm>
          <a:prstGeom prst="rect">
            <a:avLst/>
          </a:prstGeom>
          <a:noFill/>
          <a:ln/>
        </p:spPr>
        <p:txBody>
          <a:bodyPr wrap="square" lIns="25400" tIns="25400" rIns="25400" bIns="25400" rtlCol="0" anchor="t">
            <a:normAutofit/>
          </a:bodyPr>
          <a:lstStyle/>
          <a:p>
            <a:pPr algn="l" indent="0" marL="0">
              <a:buNone/>
            </a:pPr>
            <a:r>
              <a:rPr lang="en-US" sz="1800" dirty="0">
                <a:solidFill>
                  <a:srgbClr val="1C2B34">
                    <a:alpha val="50000"/>
                  </a:srgbClr>
                </a:solidFill>
                <a:latin typeface="NotoSans" pitchFamily="34" charset="0"/>
                <a:ea typeface="NotoSans" pitchFamily="34" charset="-122"/>
                <a:cs typeface="NotoSans" pitchFamily="34" charset="-120"/>
              </a:rPr>
              <a:t>25</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1481">
                  <a:alpha val="100000"/>
                </a:srgbClr>
              </a:gs>
              <a:gs pos="60000">
                <a:srgbClr val="2E23CC">
                  <a:alpha val="100000"/>
                </a:srgbClr>
              </a:gs>
              <a:gs pos="100000">
                <a:srgbClr val="0A54DD">
                  <a:alpha val="100000"/>
                </a:srgbClr>
              </a:gs>
            </a:gsLst>
            <a:lin ang="2700000" scaled="0"/>
          </a:gradFill>
          <a:ln/>
        </p:spPr>
      </p:sp>
      <p:sp>
        <p:nvSpPr>
          <p:cNvPr id="3" name="Shape 1"/>
          <p:cNvSpPr/>
          <p:nvPr/>
        </p:nvSpPr>
        <p:spPr>
          <a:xfrm>
            <a:off x="0" y="0"/>
            <a:ext cx="18288000" cy="10287000"/>
          </a:xfrm>
          <a:prstGeom prst="rect">
            <a:avLst/>
          </a:prstGeom>
          <a:solidFill>
            <a:srgbClr val="FFFFFF">
              <a:alpha val="5000"/>
            </a:srgbClr>
          </a:solidFill>
          <a:ln/>
        </p:spPr>
      </p:sp>
      <p:sp>
        <p:nvSpPr>
          <p:cNvPr id="4" name="Shape 2"/>
          <p:cNvSpPr/>
          <p:nvPr/>
        </p:nvSpPr>
        <p:spPr>
          <a:xfrm>
            <a:off x="0" y="0"/>
            <a:ext cx="18288000" cy="10287000"/>
          </a:xfrm>
          <a:prstGeom prst="rect">
            <a:avLst/>
          </a:prstGeom>
          <a:solidFill>
            <a:srgbClr val="FFFFFF">
              <a:alpha val="7000"/>
            </a:srgbClr>
          </a:solidFill>
          <a:ln/>
        </p:spPr>
      </p:sp>
      <p:sp>
        <p:nvSpPr>
          <p:cNvPr id="5" name="Shape 3"/>
          <p:cNvSpPr/>
          <p:nvPr/>
        </p:nvSpPr>
        <p:spPr>
          <a:xfrm>
            <a:off x="0" y="0"/>
            <a:ext cx="18288000" cy="10287000"/>
          </a:xfrm>
          <a:prstGeom prst="rect">
            <a:avLst/>
          </a:prstGeom>
          <a:solidFill>
            <a:srgbClr val="000028">
              <a:alpha val="12000"/>
            </a:srgbClr>
          </a:solidFill>
          <a:ln/>
        </p:spPr>
      </p:sp>
      <p:sp>
        <p:nvSpPr>
          <p:cNvPr id="6" name="Shape 4"/>
          <p:cNvSpPr/>
          <p:nvPr/>
        </p:nvSpPr>
        <p:spPr>
          <a:xfrm>
            <a:off x="0" y="0"/>
            <a:ext cx="18288000" cy="10287000"/>
          </a:xfrm>
          <a:prstGeom prst="rect">
            <a:avLst/>
          </a:prstGeom>
          <a:solidFill>
            <a:srgbClr val="FFFFFF">
              <a:alpha val="4000"/>
            </a:srgbClr>
          </a:solidFill>
          <a:ln/>
        </p:spPr>
      </p:sp>
      <p:sp>
        <p:nvSpPr>
          <p:cNvPr id="7" name="Text 5"/>
          <p:cNvSpPr/>
          <p:nvPr/>
        </p:nvSpPr>
        <p:spPr>
          <a:xfrm>
            <a:off x="1143000" y="3767138"/>
            <a:ext cx="17602200" cy="1562100"/>
          </a:xfrm>
          <a:prstGeom prst="rect">
            <a:avLst/>
          </a:prstGeom>
          <a:noFill/>
          <a:ln/>
        </p:spPr>
        <p:txBody>
          <a:bodyPr wrap="square" lIns="25400" tIns="25400" rIns="25400" bIns="25400" rtlCol="0" anchor="t">
            <a:normAutofit/>
          </a:bodyPr>
          <a:lstStyle/>
          <a:p>
            <a:pPr algn="l" indent="0" marL="0">
              <a:lnSpc>
                <a:spcPct val="73394"/>
              </a:lnSpc>
              <a:buNone/>
            </a:pPr>
            <a:r>
              <a:rPr lang="en-US" sz="12000" b="1" spc="-240" kern="0" dirty="0">
                <a:solidFill>
                  <a:srgbClr val="FFFFFF"/>
                </a:solidFill>
                <a:latin typeface="NotoSans" pitchFamily="34" charset="0"/>
                <a:ea typeface="NotoSans" pitchFamily="34" charset="-122"/>
                <a:cs typeface="NotoSans" pitchFamily="34" charset="-120"/>
              </a:rPr>
              <a:t>Thank you</a:t>
            </a:r>
            <a:endParaRPr lang="en-US" sz="12000" dirty="0"/>
          </a:p>
        </p:txBody>
      </p:sp>
      <p:sp>
        <p:nvSpPr>
          <p:cNvPr id="8" name="Shape 6"/>
          <p:cNvSpPr/>
          <p:nvPr/>
        </p:nvSpPr>
        <p:spPr>
          <a:xfrm>
            <a:off x="1143000" y="7915275"/>
            <a:ext cx="16002000" cy="19050"/>
          </a:xfrm>
          <a:prstGeom prst="rect">
            <a:avLst/>
          </a:prstGeom>
          <a:solidFill>
            <a:srgbClr val="9364CD"/>
          </a:solidFill>
          <a:ln/>
        </p:spPr>
      </p:sp>
      <p:sp>
        <p:nvSpPr>
          <p:cNvPr id="9" name="Text 7"/>
          <p:cNvSpPr/>
          <p:nvPr/>
        </p:nvSpPr>
        <p:spPr>
          <a:xfrm>
            <a:off x="1143000" y="8239125"/>
            <a:ext cx="17602200" cy="504825"/>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NotoSans" pitchFamily="34" charset="0"/>
                <a:ea typeface="NotoSans" pitchFamily="34" charset="-122"/>
                <a:cs typeface="NotoSans" pitchFamily="34" charset="-120"/>
              </a:rPr>
              <a:t>David Kjerrumgaard</a:t>
            </a:r>
            <a:endParaRPr lang="en-US" sz="2700" dirty="0"/>
          </a:p>
        </p:txBody>
      </p:sp>
      <p:sp>
        <p:nvSpPr>
          <p:cNvPr id="10" name="Text 8"/>
          <p:cNvSpPr/>
          <p:nvPr/>
        </p:nvSpPr>
        <p:spPr>
          <a:xfrm>
            <a:off x="1143000" y="8782050"/>
            <a:ext cx="17602200" cy="400050"/>
          </a:xfrm>
          <a:prstGeom prst="rect">
            <a:avLst/>
          </a:prstGeom>
          <a:noFill/>
          <a:ln/>
        </p:spPr>
        <p:txBody>
          <a:bodyPr wrap="square" lIns="25400" tIns="25400" rIns="25400" bIns="25400" rtlCol="0" anchor="t">
            <a:normAutofit/>
          </a:bodyPr>
          <a:lstStyle/>
          <a:p>
            <a:pPr algn="l" indent="0" marL="0">
              <a:buNone/>
            </a:pPr>
            <a:r>
              <a:rPr lang="en-US" sz="2100" dirty="0">
                <a:solidFill>
                  <a:srgbClr val="E6D6F9"/>
                </a:solidFill>
                <a:latin typeface="NotoSans" pitchFamily="34" charset="0"/>
                <a:ea typeface="NotoSans" pitchFamily="34" charset="-122"/>
                <a:cs typeface="NotoSans" pitchFamily="34" charset="-120"/>
              </a:rPr>
              <a:t>Apache Pulsar Committer</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2026-09-30T20:43:16Z</dcterms:created>
  <dcterms:modified xsi:type="dcterms:W3CDTF">2026-09-30T20:43:16Z</dcterms:modified>
</cp:coreProperties>
</file>